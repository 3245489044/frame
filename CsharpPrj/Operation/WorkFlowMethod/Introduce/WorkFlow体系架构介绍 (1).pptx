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463040"/>
            <a:ext cx="8229600" cy="914400"/>
          </a:xfrm>
          <a:prstGeom prst="rect">
            <a:avLst/>
          </a:prstGeom>
          <a:noFill/>
          <a:ln/>
        </p:spPr>
        <p:txBody>
          <a:bodyPr wrap="square" rtlCol="0" anchor="ctr">
            <a:normAutofit/>
          </a:bodyPr>
          <a:lstStyle/>
          <a:p>
            <a:pPr algn="ctr" indent="0" marL="0">
              <a:buNone/>
            </a:pPr>
            <a:r>
              <a:rPr lang="en-US" sz="4400" b="1" spc="250" kern="0" dirty="0">
                <a:solidFill>
                  <a:srgbClr val="FFFFFF"/>
                </a:solidFill>
                <a:latin typeface="Georgia" pitchFamily="34" charset="0"/>
                <a:ea typeface="Georgia" pitchFamily="34" charset="-122"/>
                <a:cs typeface="Georgia" pitchFamily="34" charset="-120"/>
              </a:rPr>
              <a:t>WorkFlow 体系架构</a:t>
            </a:r>
            <a:endParaRPr lang="en-US" sz="4400" dirty="0"/>
          </a:p>
        </p:txBody>
      </p:sp>
      <p:sp>
        <p:nvSpPr>
          <p:cNvPr id="5" name="Text 3"/>
          <p:cNvSpPr/>
          <p:nvPr/>
        </p:nvSpPr>
        <p:spPr>
          <a:xfrm>
            <a:off x="457200" y="2286000"/>
            <a:ext cx="8229600" cy="548640"/>
          </a:xfrm>
          <a:prstGeom prst="rect">
            <a:avLst/>
          </a:prstGeom>
          <a:noFill/>
          <a:ln/>
        </p:spPr>
        <p:txBody>
          <a:bodyPr wrap="square" rtlCol="0" anchor="ctr">
            <a:normAutofit/>
          </a:bodyPr>
          <a:lstStyle/>
          <a:p>
            <a:pPr algn="ctr" indent="0" marL="0">
              <a:buNone/>
            </a:pPr>
            <a:r>
              <a:rPr lang="en-US" sz="2800" spc="150" kern="0" dirty="0">
                <a:solidFill>
                  <a:srgbClr val="E8F4F8"/>
                </a:solidFill>
                <a:latin typeface="Georgia" pitchFamily="34" charset="0"/>
                <a:ea typeface="Georgia" pitchFamily="34" charset="-122"/>
                <a:cs typeface="Georgia" pitchFamily="34" charset="-120"/>
              </a:rPr>
              <a:t>综合介绍</a:t>
            </a:r>
            <a:endParaRPr lang="en-US" sz="2800" dirty="0"/>
          </a:p>
        </p:txBody>
      </p:sp>
      <p:sp>
        <p:nvSpPr>
          <p:cNvPr id="6" name="Text 4"/>
          <p:cNvSpPr/>
          <p:nvPr/>
        </p:nvSpPr>
        <p:spPr>
          <a:xfrm>
            <a:off x="457200" y="3017520"/>
            <a:ext cx="8229600" cy="365760"/>
          </a:xfrm>
          <a:prstGeom prst="rect">
            <a:avLst/>
          </a:prstGeom>
          <a:noFill/>
          <a:ln/>
        </p:spPr>
        <p:txBody>
          <a:bodyPr wrap="square" rtlCol="0" anchor="ctr">
            <a:normAutofit/>
          </a:bodyPr>
          <a:lstStyle/>
          <a:p>
            <a:pPr algn="ctr" indent="0" marL="0">
              <a:buNone/>
            </a:pPr>
            <a:r>
              <a:rPr lang="en-US" sz="1600" i="1" dirty="0">
                <a:solidFill>
                  <a:srgbClr val="00A896"/>
                </a:solidFill>
              </a:rPr>
              <a:t>配置即工作流 · 界面即交互</a:t>
            </a:r>
            <a:endParaRPr lang="en-US" sz="1600" dirty="0"/>
          </a:p>
        </p:txBody>
      </p:sp>
      <p:sp>
        <p:nvSpPr>
          <p:cNvPr id="7" name="Text 5"/>
          <p:cNvSpPr/>
          <p:nvPr/>
        </p:nvSpPr>
        <p:spPr>
          <a:xfrm>
            <a:off x="457200" y="3657600"/>
            <a:ext cx="8229600" cy="365760"/>
          </a:xfrm>
          <a:prstGeom prst="rect">
            <a:avLst/>
          </a:prstGeom>
          <a:noFill/>
          <a:ln/>
        </p:spPr>
        <p:txBody>
          <a:bodyPr wrap="square" rtlCol="0" anchor="ctr">
            <a:normAutofit/>
          </a:bodyPr>
          <a:lstStyle/>
          <a:p>
            <a:pPr algn="ctr" indent="0" marL="0">
              <a:buNone/>
            </a:pPr>
            <a:r>
              <a:rPr lang="en-US" sz="1100" dirty="0">
                <a:solidFill>
                  <a:srgbClr val="E8F4F8"/>
                </a:solidFill>
              </a:rPr>
              <a:t>WorkFlowMethod · FunctionExecution · FunctionStorage · WdUI</a:t>
            </a:r>
            <a:endParaRPr lang="en-US" sz="1100" dirty="0"/>
          </a:p>
        </p:txBody>
      </p:sp>
      <p:sp>
        <p:nvSpPr>
          <p:cNvPr id="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目录</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393192"/>
          </a:xfrm>
          <a:prstGeom prst="rect">
            <a:avLst/>
          </a:prstGeom>
          <a:solidFill>
            <a:srgbClr val="E8F4F8"/>
          </a:solidFill>
          <a:ln/>
        </p:spPr>
      </p:sp>
      <p:sp>
        <p:nvSpPr>
          <p:cNvPr id="5" name="Text 3"/>
          <p:cNvSpPr/>
          <p:nvPr/>
        </p:nvSpPr>
        <p:spPr>
          <a:xfrm>
            <a:off x="548640" y="987552"/>
            <a:ext cx="457200" cy="256032"/>
          </a:xfrm>
          <a:prstGeom prst="rect">
            <a:avLst/>
          </a:prstGeom>
          <a:noFill/>
          <a:ln/>
        </p:spPr>
        <p:txBody>
          <a:bodyPr wrap="square" rtlCol="0" anchor="ctr">
            <a:normAutofit/>
          </a:bodyPr>
          <a:lstStyle/>
          <a:p>
            <a:pPr indent="0" marL="0">
              <a:buNone/>
            </a:pPr>
            <a:r>
              <a:rPr lang="en-US" sz="1400" b="1" dirty="0">
                <a:solidFill>
                  <a:srgbClr val="065A82"/>
                </a:solidFill>
              </a:rPr>
              <a:t>01</a:t>
            </a:r>
            <a:endParaRPr lang="en-US" sz="1400" dirty="0"/>
          </a:p>
        </p:txBody>
      </p:sp>
      <p:sp>
        <p:nvSpPr>
          <p:cNvPr id="6" name="Text 4"/>
          <p:cNvSpPr/>
          <p:nvPr/>
        </p:nvSpPr>
        <p:spPr>
          <a:xfrm>
            <a:off x="1097280" y="950976"/>
            <a:ext cx="4572000" cy="201168"/>
          </a:xfrm>
          <a:prstGeom prst="rect">
            <a:avLst/>
          </a:prstGeom>
          <a:noFill/>
          <a:ln/>
        </p:spPr>
        <p:txBody>
          <a:bodyPr wrap="square" rtlCol="0" anchor="ctr">
            <a:normAutofit/>
          </a:bodyPr>
          <a:lstStyle/>
          <a:p>
            <a:pPr indent="0" marL="0">
              <a:buNone/>
            </a:pPr>
            <a:r>
              <a:rPr lang="en-US" sz="1200" b="1" dirty="0">
                <a:solidFill>
                  <a:srgbClr val="21295C"/>
                </a:solidFill>
              </a:rPr>
              <a:t>序言：以复用性为基石的架构体系</a:t>
            </a:r>
            <a:endParaRPr lang="en-US" sz="1200" dirty="0"/>
          </a:p>
        </p:txBody>
      </p:sp>
      <p:sp>
        <p:nvSpPr>
          <p:cNvPr id="7" name="Text 5"/>
          <p:cNvSpPr/>
          <p:nvPr/>
        </p:nvSpPr>
        <p:spPr>
          <a:xfrm>
            <a:off x="1097280" y="1133856"/>
            <a:ext cx="7315200" cy="164592"/>
          </a:xfrm>
          <a:prstGeom prst="rect">
            <a:avLst/>
          </a:prstGeom>
          <a:noFill/>
          <a:ln/>
        </p:spPr>
        <p:txBody>
          <a:bodyPr wrap="square" rtlCol="0" anchor="ctr">
            <a:normAutofit/>
          </a:bodyPr>
          <a:lstStyle/>
          <a:p>
            <a:pPr indent="0" marL="0">
              <a:buNone/>
            </a:pPr>
            <a:r>
              <a:rPr lang="en-US" sz="800" dirty="0">
                <a:solidFill>
                  <a:srgbClr val="6B7280"/>
                </a:solidFill>
              </a:rPr>
              <a:t>引用关系、规则系统、数据分离、模块单元、筛选机制、动态更新、元语公理</a:t>
            </a:r>
            <a:endParaRPr lang="en-US" sz="800" dirty="0"/>
          </a:p>
        </p:txBody>
      </p:sp>
      <p:sp>
        <p:nvSpPr>
          <p:cNvPr id="8" name="Shape 6"/>
          <p:cNvSpPr/>
          <p:nvPr/>
        </p:nvSpPr>
        <p:spPr>
          <a:xfrm>
            <a:off x="457200" y="1307592"/>
            <a:ext cx="8229600" cy="393192"/>
          </a:xfrm>
          <a:prstGeom prst="rect">
            <a:avLst/>
          </a:prstGeom>
          <a:solidFill>
            <a:srgbClr val="FFFFFF"/>
          </a:solidFill>
          <a:ln/>
        </p:spPr>
      </p:sp>
      <p:sp>
        <p:nvSpPr>
          <p:cNvPr id="9" name="Text 7"/>
          <p:cNvSpPr/>
          <p:nvPr/>
        </p:nvSpPr>
        <p:spPr>
          <a:xfrm>
            <a:off x="548640" y="1380744"/>
            <a:ext cx="457200" cy="256032"/>
          </a:xfrm>
          <a:prstGeom prst="rect">
            <a:avLst/>
          </a:prstGeom>
          <a:noFill/>
          <a:ln/>
        </p:spPr>
        <p:txBody>
          <a:bodyPr wrap="square" rtlCol="0" anchor="ctr">
            <a:normAutofit/>
          </a:bodyPr>
          <a:lstStyle/>
          <a:p>
            <a:pPr indent="0" marL="0">
              <a:buNone/>
            </a:pPr>
            <a:r>
              <a:rPr lang="en-US" sz="1400" b="1" dirty="0">
                <a:solidFill>
                  <a:srgbClr val="065A82"/>
                </a:solidFill>
              </a:rPr>
              <a:t>02</a:t>
            </a:r>
            <a:endParaRPr lang="en-US" sz="1400" dirty="0"/>
          </a:p>
        </p:txBody>
      </p:sp>
      <p:sp>
        <p:nvSpPr>
          <p:cNvPr id="10" name="Text 8"/>
          <p:cNvSpPr/>
          <p:nvPr/>
        </p:nvSpPr>
        <p:spPr>
          <a:xfrm>
            <a:off x="1097280" y="1344168"/>
            <a:ext cx="4572000" cy="201168"/>
          </a:xfrm>
          <a:prstGeom prst="rect">
            <a:avLst/>
          </a:prstGeom>
          <a:noFill/>
          <a:ln/>
        </p:spPr>
        <p:txBody>
          <a:bodyPr wrap="square" rtlCol="0" anchor="ctr">
            <a:normAutofit/>
          </a:bodyPr>
          <a:lstStyle/>
          <a:p>
            <a:pPr indent="0" marL="0">
              <a:buNone/>
            </a:pPr>
            <a:r>
              <a:rPr lang="en-US" sz="1200" b="1" dirty="0">
                <a:solidFill>
                  <a:srgbClr val="21295C"/>
                </a:solidFill>
              </a:rPr>
              <a:t>体系总览</a:t>
            </a:r>
            <a:endParaRPr lang="en-US" sz="1200" dirty="0"/>
          </a:p>
        </p:txBody>
      </p:sp>
      <p:sp>
        <p:nvSpPr>
          <p:cNvPr id="11" name="Text 9"/>
          <p:cNvSpPr/>
          <p:nvPr/>
        </p:nvSpPr>
        <p:spPr>
          <a:xfrm>
            <a:off x="1097280" y="1527048"/>
            <a:ext cx="7315200" cy="164592"/>
          </a:xfrm>
          <a:prstGeom prst="rect">
            <a:avLst/>
          </a:prstGeom>
          <a:noFill/>
          <a:ln/>
        </p:spPr>
        <p:txBody>
          <a:bodyPr wrap="square" rtlCol="0" anchor="ctr">
            <a:normAutofit/>
          </a:bodyPr>
          <a:lstStyle/>
          <a:p>
            <a:pPr indent="0" marL="0">
              <a:buNone/>
            </a:pPr>
            <a:r>
              <a:rPr lang="en-US" sz="800" dirty="0">
                <a:solidFill>
                  <a:srgbClr val="6B7280"/>
                </a:solidFill>
              </a:rPr>
              <a:t>分层架构、层级职责、数据流全景</a:t>
            </a:r>
            <a:endParaRPr lang="en-US" sz="800" dirty="0"/>
          </a:p>
        </p:txBody>
      </p:sp>
      <p:sp>
        <p:nvSpPr>
          <p:cNvPr id="12" name="Shape 10"/>
          <p:cNvSpPr/>
          <p:nvPr/>
        </p:nvSpPr>
        <p:spPr>
          <a:xfrm>
            <a:off x="457200" y="1700784"/>
            <a:ext cx="8229600" cy="393192"/>
          </a:xfrm>
          <a:prstGeom prst="rect">
            <a:avLst/>
          </a:prstGeom>
          <a:solidFill>
            <a:srgbClr val="E8F4F8"/>
          </a:solidFill>
          <a:ln/>
        </p:spPr>
      </p:sp>
      <p:sp>
        <p:nvSpPr>
          <p:cNvPr id="13" name="Text 11"/>
          <p:cNvSpPr/>
          <p:nvPr/>
        </p:nvSpPr>
        <p:spPr>
          <a:xfrm>
            <a:off x="548640" y="1773936"/>
            <a:ext cx="457200" cy="256032"/>
          </a:xfrm>
          <a:prstGeom prst="rect">
            <a:avLst/>
          </a:prstGeom>
          <a:noFill/>
          <a:ln/>
        </p:spPr>
        <p:txBody>
          <a:bodyPr wrap="square" rtlCol="0" anchor="ctr">
            <a:normAutofit/>
          </a:bodyPr>
          <a:lstStyle/>
          <a:p>
            <a:pPr indent="0" marL="0">
              <a:buNone/>
            </a:pPr>
            <a:r>
              <a:rPr lang="en-US" sz="1400" b="1" dirty="0">
                <a:solidFill>
                  <a:srgbClr val="065A82"/>
                </a:solidFill>
              </a:rPr>
              <a:t>03</a:t>
            </a:r>
            <a:endParaRPr lang="en-US" sz="1400" dirty="0"/>
          </a:p>
        </p:txBody>
      </p:sp>
      <p:sp>
        <p:nvSpPr>
          <p:cNvPr id="14" name="Text 12"/>
          <p:cNvSpPr/>
          <p:nvPr/>
        </p:nvSpPr>
        <p:spPr>
          <a:xfrm>
            <a:off x="1097280" y="1737360"/>
            <a:ext cx="4572000" cy="201168"/>
          </a:xfrm>
          <a:prstGeom prst="rect">
            <a:avLst/>
          </a:prstGeom>
          <a:noFill/>
          <a:ln/>
        </p:spPr>
        <p:txBody>
          <a:bodyPr wrap="square" rtlCol="0" anchor="ctr">
            <a:normAutofit/>
          </a:bodyPr>
          <a:lstStyle/>
          <a:p>
            <a:pPr indent="0" marL="0">
              <a:buNone/>
            </a:pPr>
            <a:r>
              <a:rPr lang="en-US" sz="1200" b="1" dirty="0">
                <a:solidFill>
                  <a:srgbClr val="21295C"/>
                </a:solidFill>
              </a:rPr>
              <a:t>WorkFlowMethod — 工作流引擎层</a:t>
            </a:r>
            <a:endParaRPr lang="en-US" sz="1200" dirty="0"/>
          </a:p>
        </p:txBody>
      </p:sp>
      <p:sp>
        <p:nvSpPr>
          <p:cNvPr id="15" name="Text 13"/>
          <p:cNvSpPr/>
          <p:nvPr/>
        </p:nvSpPr>
        <p:spPr>
          <a:xfrm>
            <a:off x="1097280" y="1920240"/>
            <a:ext cx="7315200" cy="164592"/>
          </a:xfrm>
          <a:prstGeom prst="rect">
            <a:avLst/>
          </a:prstGeom>
          <a:noFill/>
          <a:ln/>
        </p:spPr>
        <p:txBody>
          <a:bodyPr wrap="square" rtlCol="0" anchor="ctr">
            <a:normAutofit/>
          </a:bodyPr>
          <a:lstStyle/>
          <a:p>
            <a:pPr indent="0" marL="0">
              <a:buNone/>
            </a:pPr>
            <a:r>
              <a:rPr lang="en-US" sz="800" dirty="0">
                <a:solidFill>
                  <a:srgbClr val="6B7280"/>
                </a:solidFill>
              </a:rPr>
              <a:t>构建方式、管线执行、文件驱动、动态更新、图引擎、模板、上下文、循环工作流、框架对比</a:t>
            </a:r>
            <a:endParaRPr lang="en-US" sz="800" dirty="0"/>
          </a:p>
        </p:txBody>
      </p:sp>
      <p:sp>
        <p:nvSpPr>
          <p:cNvPr id="16" name="Shape 14"/>
          <p:cNvSpPr/>
          <p:nvPr/>
        </p:nvSpPr>
        <p:spPr>
          <a:xfrm>
            <a:off x="457200" y="2093976"/>
            <a:ext cx="8229600" cy="393192"/>
          </a:xfrm>
          <a:prstGeom prst="rect">
            <a:avLst/>
          </a:prstGeom>
          <a:solidFill>
            <a:srgbClr val="FFFFFF"/>
          </a:solidFill>
          <a:ln/>
        </p:spPr>
      </p:sp>
      <p:sp>
        <p:nvSpPr>
          <p:cNvPr id="17" name="Text 15"/>
          <p:cNvSpPr/>
          <p:nvPr/>
        </p:nvSpPr>
        <p:spPr>
          <a:xfrm>
            <a:off x="548640" y="2167128"/>
            <a:ext cx="457200" cy="256032"/>
          </a:xfrm>
          <a:prstGeom prst="rect">
            <a:avLst/>
          </a:prstGeom>
          <a:noFill/>
          <a:ln/>
        </p:spPr>
        <p:txBody>
          <a:bodyPr wrap="square" rtlCol="0" anchor="ctr">
            <a:normAutofit/>
          </a:bodyPr>
          <a:lstStyle/>
          <a:p>
            <a:pPr indent="0" marL="0">
              <a:buNone/>
            </a:pPr>
            <a:r>
              <a:rPr lang="en-US" sz="1400" b="1" dirty="0">
                <a:solidFill>
                  <a:srgbClr val="065A82"/>
                </a:solidFill>
              </a:rPr>
              <a:t>04</a:t>
            </a:r>
            <a:endParaRPr lang="en-US" sz="1400" dirty="0"/>
          </a:p>
        </p:txBody>
      </p:sp>
      <p:sp>
        <p:nvSpPr>
          <p:cNvPr id="18" name="Text 16"/>
          <p:cNvSpPr/>
          <p:nvPr/>
        </p:nvSpPr>
        <p:spPr>
          <a:xfrm>
            <a:off x="1097280" y="2130552"/>
            <a:ext cx="4572000" cy="201168"/>
          </a:xfrm>
          <a:prstGeom prst="rect">
            <a:avLst/>
          </a:prstGeom>
          <a:noFill/>
          <a:ln/>
        </p:spPr>
        <p:txBody>
          <a:bodyPr wrap="square" rtlCol="0" anchor="ctr">
            <a:normAutofit/>
          </a:bodyPr>
          <a:lstStyle/>
          <a:p>
            <a:pPr indent="0" marL="0">
              <a:buNone/>
            </a:pPr>
            <a:r>
              <a:rPr lang="en-US" sz="1200" b="1" dirty="0">
                <a:solidFill>
                  <a:srgbClr val="21295C"/>
                </a:solidFill>
              </a:rPr>
              <a:t>FunctionExecution — 基础函数执行层</a:t>
            </a:r>
            <a:endParaRPr lang="en-US" sz="1200" dirty="0"/>
          </a:p>
        </p:txBody>
      </p:sp>
      <p:sp>
        <p:nvSpPr>
          <p:cNvPr id="19" name="Text 17"/>
          <p:cNvSpPr/>
          <p:nvPr/>
        </p:nvSpPr>
        <p:spPr>
          <a:xfrm>
            <a:off x="1097280" y="2313432"/>
            <a:ext cx="7315200" cy="164592"/>
          </a:xfrm>
          <a:prstGeom prst="rect">
            <a:avLst/>
          </a:prstGeom>
          <a:noFill/>
          <a:ln/>
        </p:spPr>
        <p:txBody>
          <a:bodyPr wrap="square" rtlCol="0" anchor="ctr">
            <a:normAutofit/>
          </a:bodyPr>
          <a:lstStyle/>
          <a:p>
            <a:pPr indent="0" marL="0">
              <a:buNone/>
            </a:pPr>
            <a:r>
              <a:rPr lang="en-US" sz="800" dirty="0">
                <a:solidFill>
                  <a:srgbClr val="6B7280"/>
                </a:solidFill>
              </a:rPr>
              <a:t>核心架构、函数注册、执行流程、工作流注册表、桥接机制</a:t>
            </a:r>
            <a:endParaRPr lang="en-US" sz="800" dirty="0"/>
          </a:p>
        </p:txBody>
      </p:sp>
      <p:sp>
        <p:nvSpPr>
          <p:cNvPr id="20" name="Shape 18"/>
          <p:cNvSpPr/>
          <p:nvPr/>
        </p:nvSpPr>
        <p:spPr>
          <a:xfrm>
            <a:off x="457200" y="2487168"/>
            <a:ext cx="8229600" cy="393192"/>
          </a:xfrm>
          <a:prstGeom prst="rect">
            <a:avLst/>
          </a:prstGeom>
          <a:solidFill>
            <a:srgbClr val="E8F4F8"/>
          </a:solidFill>
          <a:ln/>
        </p:spPr>
      </p:sp>
      <p:sp>
        <p:nvSpPr>
          <p:cNvPr id="21" name="Text 19"/>
          <p:cNvSpPr/>
          <p:nvPr/>
        </p:nvSpPr>
        <p:spPr>
          <a:xfrm>
            <a:off x="548640" y="2560320"/>
            <a:ext cx="457200" cy="256032"/>
          </a:xfrm>
          <a:prstGeom prst="rect">
            <a:avLst/>
          </a:prstGeom>
          <a:noFill/>
          <a:ln/>
        </p:spPr>
        <p:txBody>
          <a:bodyPr wrap="square" rtlCol="0" anchor="ctr">
            <a:normAutofit/>
          </a:bodyPr>
          <a:lstStyle/>
          <a:p>
            <a:pPr indent="0" marL="0">
              <a:buNone/>
            </a:pPr>
            <a:r>
              <a:rPr lang="en-US" sz="1400" b="1" dirty="0">
                <a:solidFill>
                  <a:srgbClr val="065A82"/>
                </a:solidFill>
              </a:rPr>
              <a:t>05</a:t>
            </a:r>
            <a:endParaRPr lang="en-US" sz="1400" dirty="0"/>
          </a:p>
        </p:txBody>
      </p:sp>
      <p:sp>
        <p:nvSpPr>
          <p:cNvPr id="22" name="Text 20"/>
          <p:cNvSpPr/>
          <p:nvPr/>
        </p:nvSpPr>
        <p:spPr>
          <a:xfrm>
            <a:off x="1097280" y="2523744"/>
            <a:ext cx="4572000" cy="201168"/>
          </a:xfrm>
          <a:prstGeom prst="rect">
            <a:avLst/>
          </a:prstGeom>
          <a:noFill/>
          <a:ln/>
        </p:spPr>
        <p:txBody>
          <a:bodyPr wrap="square" rtlCol="0" anchor="ctr">
            <a:normAutofit/>
          </a:bodyPr>
          <a:lstStyle/>
          <a:p>
            <a:pPr indent="0" marL="0">
              <a:buNone/>
            </a:pPr>
            <a:r>
              <a:rPr lang="en-US" sz="1200" b="1" dirty="0">
                <a:solidFill>
                  <a:srgbClr val="21295C"/>
                </a:solidFill>
              </a:rPr>
              <a:t>工作流执行函数与直接运行函数的区别</a:t>
            </a:r>
            <a:endParaRPr lang="en-US" sz="1200" dirty="0"/>
          </a:p>
        </p:txBody>
      </p:sp>
      <p:sp>
        <p:nvSpPr>
          <p:cNvPr id="23" name="Text 21"/>
          <p:cNvSpPr/>
          <p:nvPr/>
        </p:nvSpPr>
        <p:spPr>
          <a:xfrm>
            <a:off x="1097280" y="2706624"/>
            <a:ext cx="7315200" cy="164592"/>
          </a:xfrm>
          <a:prstGeom prst="rect">
            <a:avLst/>
          </a:prstGeom>
          <a:noFill/>
          <a:ln/>
        </p:spPr>
        <p:txBody>
          <a:bodyPr wrap="square" rtlCol="0" anchor="ctr">
            <a:normAutofit/>
          </a:bodyPr>
          <a:lstStyle/>
          <a:p>
            <a:pPr indent="0" marL="0">
              <a:buNone/>
            </a:pPr>
            <a:r>
              <a:rPr lang="en-US" sz="800" dirty="0">
                <a:solidFill>
                  <a:srgbClr val="6B7280"/>
                </a:solidFill>
              </a:rPr>
              <a:t>AI工具类比、技术对比、执行流程对比、桥接互通、选择建议</a:t>
            </a:r>
            <a:endParaRPr lang="en-US" sz="800" dirty="0"/>
          </a:p>
        </p:txBody>
      </p:sp>
      <p:sp>
        <p:nvSpPr>
          <p:cNvPr id="24" name="Shape 22"/>
          <p:cNvSpPr/>
          <p:nvPr/>
        </p:nvSpPr>
        <p:spPr>
          <a:xfrm>
            <a:off x="457200" y="2880360"/>
            <a:ext cx="8229600" cy="393192"/>
          </a:xfrm>
          <a:prstGeom prst="rect">
            <a:avLst/>
          </a:prstGeom>
          <a:solidFill>
            <a:srgbClr val="FFFFFF"/>
          </a:solidFill>
          <a:ln/>
        </p:spPr>
      </p:sp>
      <p:sp>
        <p:nvSpPr>
          <p:cNvPr id="25" name="Text 23"/>
          <p:cNvSpPr/>
          <p:nvPr/>
        </p:nvSpPr>
        <p:spPr>
          <a:xfrm>
            <a:off x="548640" y="2953512"/>
            <a:ext cx="457200" cy="256032"/>
          </a:xfrm>
          <a:prstGeom prst="rect">
            <a:avLst/>
          </a:prstGeom>
          <a:noFill/>
          <a:ln/>
        </p:spPr>
        <p:txBody>
          <a:bodyPr wrap="square" rtlCol="0" anchor="ctr">
            <a:normAutofit/>
          </a:bodyPr>
          <a:lstStyle/>
          <a:p>
            <a:pPr indent="0" marL="0">
              <a:buNone/>
            </a:pPr>
            <a:r>
              <a:rPr lang="en-US" sz="1400" b="1" dirty="0">
                <a:solidFill>
                  <a:srgbClr val="065A82"/>
                </a:solidFill>
              </a:rPr>
              <a:t>06</a:t>
            </a:r>
            <a:endParaRPr lang="en-US" sz="1400" dirty="0"/>
          </a:p>
        </p:txBody>
      </p:sp>
      <p:sp>
        <p:nvSpPr>
          <p:cNvPr id="26" name="Text 24"/>
          <p:cNvSpPr/>
          <p:nvPr/>
        </p:nvSpPr>
        <p:spPr>
          <a:xfrm>
            <a:off x="1097280" y="2916936"/>
            <a:ext cx="4572000" cy="201168"/>
          </a:xfrm>
          <a:prstGeom prst="rect">
            <a:avLst/>
          </a:prstGeom>
          <a:noFill/>
          <a:ln/>
        </p:spPr>
        <p:txBody>
          <a:bodyPr wrap="square" rtlCol="0" anchor="ctr">
            <a:normAutofit/>
          </a:bodyPr>
          <a:lstStyle/>
          <a:p>
            <a:pPr indent="0" marL="0">
              <a:buNone/>
            </a:pPr>
            <a:r>
              <a:rPr lang="en-US" sz="1200" b="1" dirty="0">
                <a:solidFill>
                  <a:srgbClr val="21295C"/>
                </a:solidFill>
              </a:rPr>
              <a:t>FunctionStorage — 函数存储与UI执行桥接层</a:t>
            </a:r>
            <a:endParaRPr lang="en-US" sz="1200" dirty="0"/>
          </a:p>
        </p:txBody>
      </p:sp>
      <p:sp>
        <p:nvSpPr>
          <p:cNvPr id="27" name="Text 25"/>
          <p:cNvSpPr/>
          <p:nvPr/>
        </p:nvSpPr>
        <p:spPr>
          <a:xfrm>
            <a:off x="1097280" y="3099816"/>
            <a:ext cx="7315200" cy="164592"/>
          </a:xfrm>
          <a:prstGeom prst="rect">
            <a:avLst/>
          </a:prstGeom>
          <a:noFill/>
          <a:ln/>
        </p:spPr>
        <p:txBody>
          <a:bodyPr wrap="square" rtlCol="0" anchor="ctr">
            <a:normAutofit/>
          </a:bodyPr>
          <a:lstStyle/>
          <a:p>
            <a:pPr indent="0" marL="0">
              <a:buNone/>
            </a:pPr>
            <a:r>
              <a:rPr lang="en-US" sz="800" dirty="0">
                <a:solidFill>
                  <a:srgbClr val="6B7280"/>
                </a:solidFill>
              </a:rPr>
              <a:t>函数库注册、JSON工作流执行、UI事件桥接</a:t>
            </a:r>
            <a:endParaRPr lang="en-US" sz="800" dirty="0"/>
          </a:p>
        </p:txBody>
      </p:sp>
      <p:sp>
        <p:nvSpPr>
          <p:cNvPr id="28" name="Shape 26"/>
          <p:cNvSpPr/>
          <p:nvPr/>
        </p:nvSpPr>
        <p:spPr>
          <a:xfrm>
            <a:off x="457200" y="3273552"/>
            <a:ext cx="8229600" cy="393192"/>
          </a:xfrm>
          <a:prstGeom prst="rect">
            <a:avLst/>
          </a:prstGeom>
          <a:solidFill>
            <a:srgbClr val="E8F4F8"/>
          </a:solidFill>
          <a:ln/>
        </p:spPr>
      </p:sp>
      <p:sp>
        <p:nvSpPr>
          <p:cNvPr id="29" name="Text 27"/>
          <p:cNvSpPr/>
          <p:nvPr/>
        </p:nvSpPr>
        <p:spPr>
          <a:xfrm>
            <a:off x="548640" y="3346704"/>
            <a:ext cx="457200" cy="256032"/>
          </a:xfrm>
          <a:prstGeom prst="rect">
            <a:avLst/>
          </a:prstGeom>
          <a:noFill/>
          <a:ln/>
        </p:spPr>
        <p:txBody>
          <a:bodyPr wrap="square" rtlCol="0" anchor="ctr">
            <a:normAutofit/>
          </a:bodyPr>
          <a:lstStyle/>
          <a:p>
            <a:pPr indent="0" marL="0">
              <a:buNone/>
            </a:pPr>
            <a:r>
              <a:rPr lang="en-US" sz="1400" b="1" dirty="0">
                <a:solidFill>
                  <a:srgbClr val="065A82"/>
                </a:solidFill>
              </a:rPr>
              <a:t>07</a:t>
            </a:r>
            <a:endParaRPr lang="en-US" sz="1400" dirty="0"/>
          </a:p>
        </p:txBody>
      </p:sp>
      <p:sp>
        <p:nvSpPr>
          <p:cNvPr id="30" name="Text 28"/>
          <p:cNvSpPr/>
          <p:nvPr/>
        </p:nvSpPr>
        <p:spPr>
          <a:xfrm>
            <a:off x="1097280" y="3310128"/>
            <a:ext cx="4572000" cy="201168"/>
          </a:xfrm>
          <a:prstGeom prst="rect">
            <a:avLst/>
          </a:prstGeom>
          <a:noFill/>
          <a:ln/>
        </p:spPr>
        <p:txBody>
          <a:bodyPr wrap="square" rtlCol="0" anchor="ctr">
            <a:normAutofit/>
          </a:bodyPr>
          <a:lstStyle/>
          <a:p>
            <a:pPr indent="0" marL="0">
              <a:buNone/>
            </a:pPr>
            <a:r>
              <a:rPr lang="en-US" sz="1200" b="1" dirty="0">
                <a:solidFill>
                  <a:srgbClr val="21295C"/>
                </a:solidFill>
              </a:rPr>
              <a:t>WdUI — UI框架层</a:t>
            </a:r>
            <a:endParaRPr lang="en-US" sz="1200" dirty="0"/>
          </a:p>
        </p:txBody>
      </p:sp>
      <p:sp>
        <p:nvSpPr>
          <p:cNvPr id="31" name="Text 29"/>
          <p:cNvSpPr/>
          <p:nvPr/>
        </p:nvSpPr>
        <p:spPr>
          <a:xfrm>
            <a:off x="1097280" y="3493008"/>
            <a:ext cx="7315200" cy="164592"/>
          </a:xfrm>
          <a:prstGeom prst="rect">
            <a:avLst/>
          </a:prstGeom>
          <a:noFill/>
          <a:ln/>
        </p:spPr>
        <p:txBody>
          <a:bodyPr wrap="square" rtlCol="0" anchor="ctr">
            <a:normAutofit/>
          </a:bodyPr>
          <a:lstStyle/>
          <a:p>
            <a:pPr indent="0" marL="0">
              <a:buNone/>
            </a:pPr>
            <a:r>
              <a:rPr lang="en-US" sz="800" dirty="0">
                <a:solidFill>
                  <a:srgbClr val="6B7280"/>
                </a:solidFill>
              </a:rPr>
              <a:t>概述、核心功能</a:t>
            </a:r>
            <a:endParaRPr lang="en-US" sz="800" dirty="0"/>
          </a:p>
        </p:txBody>
      </p:sp>
      <p:sp>
        <p:nvSpPr>
          <p:cNvPr id="32" name="Shape 30"/>
          <p:cNvSpPr/>
          <p:nvPr/>
        </p:nvSpPr>
        <p:spPr>
          <a:xfrm>
            <a:off x="457200" y="3666744"/>
            <a:ext cx="8229600" cy="393192"/>
          </a:xfrm>
          <a:prstGeom prst="rect">
            <a:avLst/>
          </a:prstGeom>
          <a:solidFill>
            <a:srgbClr val="FFFFFF"/>
          </a:solidFill>
          <a:ln/>
        </p:spPr>
      </p:sp>
      <p:sp>
        <p:nvSpPr>
          <p:cNvPr id="33" name="Text 31"/>
          <p:cNvSpPr/>
          <p:nvPr/>
        </p:nvSpPr>
        <p:spPr>
          <a:xfrm>
            <a:off x="548640" y="3739896"/>
            <a:ext cx="457200" cy="256032"/>
          </a:xfrm>
          <a:prstGeom prst="rect">
            <a:avLst/>
          </a:prstGeom>
          <a:noFill/>
          <a:ln/>
        </p:spPr>
        <p:txBody>
          <a:bodyPr wrap="square" rtlCol="0" anchor="ctr">
            <a:normAutofit/>
          </a:bodyPr>
          <a:lstStyle/>
          <a:p>
            <a:pPr indent="0" marL="0">
              <a:buNone/>
            </a:pPr>
            <a:r>
              <a:rPr lang="en-US" sz="1400" b="1" dirty="0">
                <a:solidFill>
                  <a:srgbClr val="065A82"/>
                </a:solidFill>
              </a:rPr>
              <a:t>08</a:t>
            </a:r>
            <a:endParaRPr lang="en-US" sz="1400" dirty="0"/>
          </a:p>
        </p:txBody>
      </p:sp>
      <p:sp>
        <p:nvSpPr>
          <p:cNvPr id="34" name="Text 32"/>
          <p:cNvSpPr/>
          <p:nvPr/>
        </p:nvSpPr>
        <p:spPr>
          <a:xfrm>
            <a:off x="1097280" y="3703320"/>
            <a:ext cx="4572000" cy="201168"/>
          </a:xfrm>
          <a:prstGeom prst="rect">
            <a:avLst/>
          </a:prstGeom>
          <a:noFill/>
          <a:ln/>
        </p:spPr>
        <p:txBody>
          <a:bodyPr wrap="square" rtlCol="0" anchor="ctr">
            <a:normAutofit/>
          </a:bodyPr>
          <a:lstStyle/>
          <a:p>
            <a:pPr indent="0" marL="0">
              <a:buNone/>
            </a:pPr>
            <a:r>
              <a:rPr lang="en-US" sz="1200" b="1" dirty="0">
                <a:solidFill>
                  <a:srgbClr val="21295C"/>
                </a:solidFill>
              </a:rPr>
              <a:t>执行链路全景与跨层协同</a:t>
            </a:r>
            <a:endParaRPr lang="en-US" sz="1200" dirty="0"/>
          </a:p>
        </p:txBody>
      </p:sp>
      <p:sp>
        <p:nvSpPr>
          <p:cNvPr id="35" name="Text 33"/>
          <p:cNvSpPr/>
          <p:nvPr/>
        </p:nvSpPr>
        <p:spPr>
          <a:xfrm>
            <a:off x="1097280" y="3886200"/>
            <a:ext cx="7315200" cy="164592"/>
          </a:xfrm>
          <a:prstGeom prst="rect">
            <a:avLst/>
          </a:prstGeom>
          <a:noFill/>
          <a:ln/>
        </p:spPr>
        <p:txBody>
          <a:bodyPr wrap="square" rtlCol="0" anchor="ctr">
            <a:normAutofit/>
          </a:bodyPr>
          <a:lstStyle/>
          <a:p>
            <a:pPr indent="0" marL="0">
              <a:buNone/>
            </a:pPr>
            <a:r>
              <a:rPr lang="en-US" sz="800" dirty="0">
                <a:solidFill>
                  <a:srgbClr val="6B7280"/>
                </a:solidFill>
              </a:rPr>
              <a:t>UI事件链路、JSON工作流链路、完整示例、协同机制</a:t>
            </a:r>
            <a:endParaRPr lang="en-US" sz="800" dirty="0"/>
          </a:p>
        </p:txBody>
      </p:sp>
      <p:sp>
        <p:nvSpPr>
          <p:cNvPr id="36" name="Shape 34"/>
          <p:cNvSpPr/>
          <p:nvPr/>
        </p:nvSpPr>
        <p:spPr>
          <a:xfrm>
            <a:off x="457200" y="4059936"/>
            <a:ext cx="8229600" cy="393192"/>
          </a:xfrm>
          <a:prstGeom prst="rect">
            <a:avLst/>
          </a:prstGeom>
          <a:solidFill>
            <a:srgbClr val="E8F4F8"/>
          </a:solidFill>
          <a:ln/>
        </p:spPr>
      </p:sp>
      <p:sp>
        <p:nvSpPr>
          <p:cNvPr id="37" name="Text 35"/>
          <p:cNvSpPr/>
          <p:nvPr/>
        </p:nvSpPr>
        <p:spPr>
          <a:xfrm>
            <a:off x="548640" y="4133088"/>
            <a:ext cx="457200" cy="256032"/>
          </a:xfrm>
          <a:prstGeom prst="rect">
            <a:avLst/>
          </a:prstGeom>
          <a:noFill/>
          <a:ln/>
        </p:spPr>
        <p:txBody>
          <a:bodyPr wrap="square" rtlCol="0" anchor="ctr">
            <a:normAutofit/>
          </a:bodyPr>
          <a:lstStyle/>
          <a:p>
            <a:pPr indent="0" marL="0">
              <a:buNone/>
            </a:pPr>
            <a:r>
              <a:rPr lang="en-US" sz="1400" b="1" dirty="0">
                <a:solidFill>
                  <a:srgbClr val="065A82"/>
                </a:solidFill>
              </a:rPr>
              <a:t>09</a:t>
            </a:r>
            <a:endParaRPr lang="en-US" sz="1400" dirty="0"/>
          </a:p>
        </p:txBody>
      </p:sp>
      <p:sp>
        <p:nvSpPr>
          <p:cNvPr id="38" name="Text 36"/>
          <p:cNvSpPr/>
          <p:nvPr/>
        </p:nvSpPr>
        <p:spPr>
          <a:xfrm>
            <a:off x="1097280" y="4096512"/>
            <a:ext cx="4572000" cy="201168"/>
          </a:xfrm>
          <a:prstGeom prst="rect">
            <a:avLst/>
          </a:prstGeom>
          <a:noFill/>
          <a:ln/>
        </p:spPr>
        <p:txBody>
          <a:bodyPr wrap="square" rtlCol="0" anchor="ctr">
            <a:normAutofit/>
          </a:bodyPr>
          <a:lstStyle/>
          <a:p>
            <a:pPr indent="0" marL="0">
              <a:buNone/>
            </a:pPr>
            <a:r>
              <a:rPr lang="en-US" sz="1200" b="1" dirty="0">
                <a:solidFill>
                  <a:srgbClr val="21295C"/>
                </a:solidFill>
              </a:rPr>
              <a:t>与主流工作流框架对比</a:t>
            </a:r>
            <a:endParaRPr lang="en-US" sz="1200" dirty="0"/>
          </a:p>
        </p:txBody>
      </p:sp>
      <p:sp>
        <p:nvSpPr>
          <p:cNvPr id="39" name="Text 37"/>
          <p:cNvSpPr/>
          <p:nvPr/>
        </p:nvSpPr>
        <p:spPr>
          <a:xfrm>
            <a:off x="1097280" y="4279392"/>
            <a:ext cx="7315200" cy="164592"/>
          </a:xfrm>
          <a:prstGeom prst="rect">
            <a:avLst/>
          </a:prstGeom>
          <a:noFill/>
          <a:ln/>
        </p:spPr>
        <p:txBody>
          <a:bodyPr wrap="square" rtlCol="0" anchor="ctr">
            <a:normAutofit/>
          </a:bodyPr>
          <a:lstStyle/>
          <a:p>
            <a:pPr indent="0" marL="0">
              <a:buNone/>
            </a:pPr>
            <a:r>
              <a:rPr lang="en-US" sz="800" dirty="0">
                <a:solidFill>
                  <a:srgbClr val="6B7280"/>
                </a:solidFill>
              </a:rPr>
              <a:t>多维度对比、差异化优势</a:t>
            </a:r>
            <a:endParaRPr lang="en-US" sz="800" dirty="0"/>
          </a:p>
        </p:txBody>
      </p:sp>
      <p:sp>
        <p:nvSpPr>
          <p:cNvPr id="40" name="Shape 38"/>
          <p:cNvSpPr/>
          <p:nvPr/>
        </p:nvSpPr>
        <p:spPr>
          <a:xfrm>
            <a:off x="457200" y="4453128"/>
            <a:ext cx="8229600" cy="393192"/>
          </a:xfrm>
          <a:prstGeom prst="rect">
            <a:avLst/>
          </a:prstGeom>
          <a:solidFill>
            <a:srgbClr val="FFFFFF"/>
          </a:solidFill>
          <a:ln/>
        </p:spPr>
      </p:sp>
      <p:sp>
        <p:nvSpPr>
          <p:cNvPr id="41" name="Text 39"/>
          <p:cNvSpPr/>
          <p:nvPr/>
        </p:nvSpPr>
        <p:spPr>
          <a:xfrm>
            <a:off x="548640" y="4526280"/>
            <a:ext cx="457200" cy="256032"/>
          </a:xfrm>
          <a:prstGeom prst="rect">
            <a:avLst/>
          </a:prstGeom>
          <a:noFill/>
          <a:ln/>
        </p:spPr>
        <p:txBody>
          <a:bodyPr wrap="square" rtlCol="0" anchor="ctr">
            <a:normAutofit/>
          </a:bodyPr>
          <a:lstStyle/>
          <a:p>
            <a:pPr indent="0" marL="0">
              <a:buNone/>
            </a:pPr>
            <a:r>
              <a:rPr lang="en-US" sz="1400" b="1" dirty="0">
                <a:solidFill>
                  <a:srgbClr val="065A82"/>
                </a:solidFill>
              </a:rPr>
              <a:t>10</a:t>
            </a:r>
            <a:endParaRPr lang="en-US" sz="1400" dirty="0"/>
          </a:p>
        </p:txBody>
      </p:sp>
      <p:sp>
        <p:nvSpPr>
          <p:cNvPr id="42" name="Text 40"/>
          <p:cNvSpPr/>
          <p:nvPr/>
        </p:nvSpPr>
        <p:spPr>
          <a:xfrm>
            <a:off x="1097280" y="4489704"/>
            <a:ext cx="4572000" cy="201168"/>
          </a:xfrm>
          <a:prstGeom prst="rect">
            <a:avLst/>
          </a:prstGeom>
          <a:noFill/>
          <a:ln/>
        </p:spPr>
        <p:txBody>
          <a:bodyPr wrap="square" rtlCol="0" anchor="ctr">
            <a:normAutofit/>
          </a:bodyPr>
          <a:lstStyle/>
          <a:p>
            <a:pPr indent="0" marL="0">
              <a:buNone/>
            </a:pPr>
            <a:r>
              <a:rPr lang="en-US" sz="1200" b="1" dirty="0">
                <a:solidFill>
                  <a:srgbClr val="21295C"/>
                </a:solidFill>
              </a:rPr>
              <a:t>核心接口速查与总结</a:t>
            </a:r>
            <a:endParaRPr lang="en-US" sz="1200" dirty="0"/>
          </a:p>
        </p:txBody>
      </p:sp>
      <p:sp>
        <p:nvSpPr>
          <p:cNvPr id="43" name="Text 41"/>
          <p:cNvSpPr/>
          <p:nvPr/>
        </p:nvSpPr>
        <p:spPr>
          <a:xfrm>
            <a:off x="1097280" y="4672584"/>
            <a:ext cx="7315200" cy="164592"/>
          </a:xfrm>
          <a:prstGeom prst="rect">
            <a:avLst/>
          </a:prstGeom>
          <a:noFill/>
          <a:ln/>
        </p:spPr>
        <p:txBody>
          <a:bodyPr wrap="square" rtlCol="0" anchor="ctr">
            <a:normAutofit/>
          </a:bodyPr>
          <a:lstStyle/>
          <a:p>
            <a:pPr indent="0" marL="0">
              <a:buNone/>
            </a:pPr>
            <a:r>
              <a:rPr lang="en-US" sz="800" dirty="0">
                <a:solidFill>
                  <a:srgbClr val="6B7280"/>
                </a:solidFill>
              </a:rPr>
              <a:t>接口一览、体系总结</a:t>
            </a:r>
            <a:endParaRPr lang="en-US" sz="800" dirty="0"/>
          </a:p>
        </p:txBody>
      </p:sp>
      <p:sp>
        <p:nvSpPr>
          <p:cNvPr id="4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序言</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以复用性为基石的 WorkFlow 架构体系</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序言（一）：复用性的本质</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1371600"/>
          </a:xfrm>
          <a:prstGeom prst="rect">
            <a:avLst/>
          </a:prstGeom>
          <a:noFill/>
          <a:ln/>
        </p:spPr>
        <p:txBody>
          <a:bodyPr wrap="square" rtlCol="0" anchor="t"/>
          <a:lstStyle/>
          <a:p>
            <a:pPr algn="l" indent="0" marL="0">
              <a:lnSpc>
                <a:spcPct val="115000"/>
              </a:lnSpc>
              <a:buNone/>
            </a:pPr>
            <a:r>
              <a:rPr lang="en-US" sz="1200" dirty="0">
                <a:solidFill>
                  <a:srgbClr val="21295C"/>
                </a:solidFill>
                <a:latin typeface="Calibri" pitchFamily="34" charset="0"/>
                <a:ea typeface="Calibri" pitchFamily="34" charset="-122"/>
                <a:cs typeface="Calibri" pitchFamily="34" charset="-120"/>
              </a:rPr>
              <a:t>软件复用的本质，并非代码的复制粘贴，而是逻辑规则的跨场景实例化。WorkFlow 体系正是这一理念的工程实践——它将工作流编排、函数执行、UI 渲染等能力封装为可复用的分层架构，使每一层都能独立演化、跨场景复用。</a:t>
            </a:r>
            <a:endParaRPr lang="en-US" sz="1200" dirty="0"/>
          </a:p>
        </p:txBody>
      </p:sp>
      <p:sp>
        <p:nvSpPr>
          <p:cNvPr id="5" name="Shape 3"/>
          <p:cNvSpPr/>
          <p:nvPr/>
        </p:nvSpPr>
        <p:spPr>
          <a:xfrm>
            <a:off x="457200" y="2468880"/>
            <a:ext cx="8229600" cy="822960"/>
          </a:xfrm>
          <a:prstGeom prst="rect">
            <a:avLst/>
          </a:prstGeom>
          <a:solidFill>
            <a:srgbClr val="21295C"/>
          </a:solidFill>
          <a:ln/>
        </p:spPr>
      </p:sp>
      <p:sp>
        <p:nvSpPr>
          <p:cNvPr id="6" name="Text 4"/>
          <p:cNvSpPr/>
          <p:nvPr/>
        </p:nvSpPr>
        <p:spPr>
          <a:xfrm>
            <a:off x="594360" y="2560320"/>
            <a:ext cx="7955280" cy="640080"/>
          </a:xfrm>
          <a:prstGeom prst="rect">
            <a:avLst/>
          </a:prstGeom>
          <a:noFill/>
          <a:ln/>
        </p:spPr>
        <p:txBody>
          <a:bodyPr wrap="square" rtlCol="0" anchor="ctr"/>
          <a:lstStyle/>
          <a:p>
            <a:pPr algn="l" indent="0" marL="0">
              <a:lnSpc>
                <a:spcPct val="115000"/>
              </a:lnSpc>
              <a:buNone/>
            </a:pPr>
            <a:r>
              <a:rPr lang="en-US" sz="1200" b="1" dirty="0">
                <a:solidFill>
                  <a:srgbClr val="FFFFFF"/>
                </a:solidFill>
              </a:rPr>
              <a:t>而动态更新，正是这一架构区别于传统工作流框架的根本特征——它让复用从“设计时的静态模板”进化为“运行时的结构自适应”。</a:t>
            </a:r>
            <a:endParaRPr lang="en-US" sz="12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序言（二）：引用关系是内核</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502920"/>
          </a:xfrm>
          <a:prstGeom prst="rect">
            <a:avLst/>
          </a:prstGeom>
          <a:solidFill>
            <a:srgbClr val="065A82"/>
          </a:solidFill>
          <a:ln/>
        </p:spPr>
      </p:sp>
      <p:sp>
        <p:nvSpPr>
          <p:cNvPr id="5" name="Text 3"/>
          <p:cNvSpPr/>
          <p:nvPr/>
        </p:nvSpPr>
        <p:spPr>
          <a:xfrm>
            <a:off x="594360" y="1005840"/>
            <a:ext cx="7955280" cy="320040"/>
          </a:xfrm>
          <a:prstGeom prst="rect">
            <a:avLst/>
          </a:prstGeom>
          <a:noFill/>
          <a:ln/>
        </p:spPr>
        <p:txBody>
          <a:bodyPr wrap="square" rtlCol="0" anchor="ctr"/>
          <a:lstStyle/>
          <a:p>
            <a:pPr algn="l" indent="0" marL="0">
              <a:lnSpc>
                <a:spcPct val="115000"/>
              </a:lnSpc>
              <a:buNone/>
            </a:pPr>
            <a:r>
              <a:rPr lang="en-US" sz="1300" b="1" dirty="0">
                <a:solidFill>
                  <a:srgbClr val="FFFFFF"/>
                </a:solidFill>
              </a:rPr>
              <a:t>从第一性原理出发，引用关系是智能体架构的真正内核。</a:t>
            </a:r>
            <a:endParaRPr lang="en-US" sz="1300" dirty="0"/>
          </a:p>
        </p:txBody>
      </p:sp>
      <p:sp>
        <p:nvSpPr>
          <p:cNvPr id="6" name="Text 4"/>
          <p:cNvSpPr/>
          <p:nvPr/>
        </p:nvSpPr>
        <p:spPr>
          <a:xfrm>
            <a:off x="457200" y="1554480"/>
            <a:ext cx="8229600" cy="292608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WorkFlowMethod 的图引擎统一正是这一理念的落地——以 GraphFoundation 边体系作为节点连接关系的唯一真实来源，构建了一张覆盖工作流节点的“活体引用图”。这张图不仅是静态的拓扑描述，更是运行时动态更新的操作基础：Symbol 定位插入、节点删除与重连、复合更新指令等能力，均基于边体系这一单一真实来源进行确定性变换，成为脱离大模型也能独立运行的可靠操作。</a:t>
            </a:r>
            <a:endParaRPr lang="en-US" sz="11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序言（三）：规则系统与规则实例</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502920"/>
          </a:xfrm>
          <a:prstGeom prst="rect">
            <a:avLst/>
          </a:prstGeom>
          <a:solidFill>
            <a:srgbClr val="065A82"/>
          </a:solidFill>
          <a:ln/>
        </p:spPr>
      </p:sp>
      <p:sp>
        <p:nvSpPr>
          <p:cNvPr id="5" name="Text 3"/>
          <p:cNvSpPr/>
          <p:nvPr/>
        </p:nvSpPr>
        <p:spPr>
          <a:xfrm>
            <a:off x="594360" y="1005840"/>
            <a:ext cx="7955280" cy="320040"/>
          </a:xfrm>
          <a:prstGeom prst="rect">
            <a:avLst/>
          </a:prstGeom>
          <a:noFill/>
          <a:ln/>
        </p:spPr>
        <p:txBody>
          <a:bodyPr wrap="square" rtlCol="0" anchor="ctr"/>
          <a:lstStyle/>
          <a:p>
            <a:pPr algn="l" indent="0" marL="0">
              <a:lnSpc>
                <a:spcPct val="115000"/>
              </a:lnSpc>
              <a:buNone/>
            </a:pPr>
            <a:r>
              <a:rPr lang="en-US" sz="1300" b="1" dirty="0">
                <a:solidFill>
                  <a:srgbClr val="FFFFFF"/>
                </a:solidFill>
              </a:rPr>
              <a:t>进一步看，框架与代码的本质是规则系统与规则实例的关系。</a:t>
            </a:r>
            <a:endParaRPr lang="en-US" sz="1300" dirty="0"/>
          </a:p>
        </p:txBody>
      </p:sp>
      <p:sp>
        <p:nvSpPr>
          <p:cNvPr id="6" name="Text 4"/>
          <p:cNvSpPr/>
          <p:nvPr/>
        </p:nvSpPr>
        <p:spPr>
          <a:xfrm>
            <a:off x="457200" y="1554480"/>
            <a:ext cx="8229600" cy="14630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WorkFlowMethod 作为规则系统，定义了工作流编排、管线执行、循环决策的规则；而 JSON 配置文件与编程式构建的管线，则是这些规则在不同场景下的具体实例。这种递归抽象使预定义工作流模板（AI 图像生成、代码生成等）可在不同项目中直接复用。</a:t>
            </a:r>
            <a:endParaRPr lang="en-US" sz="1100" dirty="0"/>
          </a:p>
        </p:txBody>
      </p:sp>
      <p:sp>
        <p:nvSpPr>
          <p:cNvPr id="7" name="Shape 5"/>
          <p:cNvSpPr/>
          <p:nvPr/>
        </p:nvSpPr>
        <p:spPr>
          <a:xfrm>
            <a:off x="457200" y="3200400"/>
            <a:ext cx="8229600" cy="685800"/>
          </a:xfrm>
          <a:prstGeom prst="rect">
            <a:avLst/>
          </a:prstGeom>
          <a:solidFill>
            <a:srgbClr val="21295C"/>
          </a:solidFill>
          <a:ln/>
        </p:spPr>
      </p:sp>
      <p:sp>
        <p:nvSpPr>
          <p:cNvPr id="8" name="Text 6"/>
          <p:cNvSpPr/>
          <p:nvPr/>
        </p:nvSpPr>
        <p:spPr>
          <a:xfrm>
            <a:off x="594360" y="3291840"/>
            <a:ext cx="7955280" cy="502920"/>
          </a:xfrm>
          <a:prstGeom prst="rect">
            <a:avLst/>
          </a:prstGeom>
          <a:noFill/>
          <a:ln/>
        </p:spPr>
        <p:txBody>
          <a:bodyPr wrap="square" rtlCol="0" anchor="ctr"/>
          <a:lstStyle/>
          <a:p>
            <a:pPr algn="l" indent="0" marL="0">
              <a:lnSpc>
                <a:spcPct val="115000"/>
              </a:lnSpc>
              <a:buNone/>
            </a:pPr>
            <a:r>
              <a:rPr lang="en-US" sz="1200" dirty="0">
                <a:solidFill>
                  <a:srgbClr val="FFFFFF"/>
                </a:solidFill>
              </a:rPr>
              <a:t>动态更新则进一步打破了“定义即固化”的局限——规则系统在运行时仍可被修改和扩展，使模板复用从“一次定义、多次使用”升级为“持续演化、按需调整”。</a:t>
            </a:r>
            <a:endParaRPr lang="en-US" sz="12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序言（四）：分离数据与逻辑</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502920"/>
          </a:xfrm>
          <a:prstGeom prst="rect">
            <a:avLst/>
          </a:prstGeom>
          <a:solidFill>
            <a:srgbClr val="065A82"/>
          </a:solidFill>
          <a:ln/>
        </p:spPr>
      </p:sp>
      <p:sp>
        <p:nvSpPr>
          <p:cNvPr id="5" name="Text 3"/>
          <p:cNvSpPr/>
          <p:nvPr/>
        </p:nvSpPr>
        <p:spPr>
          <a:xfrm>
            <a:off x="594360" y="1005840"/>
            <a:ext cx="7955280" cy="320040"/>
          </a:xfrm>
          <a:prstGeom prst="rect">
            <a:avLst/>
          </a:prstGeom>
          <a:noFill/>
          <a:ln/>
        </p:spPr>
        <p:txBody>
          <a:bodyPr wrap="square" rtlCol="0" anchor="ctr"/>
          <a:lstStyle/>
          <a:p>
            <a:pPr algn="l" indent="0" marL="0">
              <a:lnSpc>
                <a:spcPct val="115000"/>
              </a:lnSpc>
              <a:buNone/>
            </a:pPr>
            <a:r>
              <a:rPr lang="en-US" sz="1300" b="1" dirty="0">
                <a:solidFill>
                  <a:srgbClr val="FFFFFF"/>
                </a:solidFill>
              </a:rPr>
              <a:t>在 AI 编程的语境下，分离数据与逻辑是实现复用的关键原则。</a:t>
            </a:r>
            <a:endParaRPr lang="en-US" sz="1300" dirty="0"/>
          </a:p>
        </p:txBody>
      </p:sp>
      <p:sp>
        <p:nvSpPr>
          <p:cNvPr id="6" name="Text 4"/>
          <p:cNvSpPr/>
          <p:nvPr/>
        </p:nvSpPr>
        <p:spPr>
          <a:xfrm>
            <a:off x="457200" y="1554480"/>
            <a:ext cx="8229600" cy="14630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FunctionStorage 的 JSON 工作流定义（结构化蓝图）与 FunctionExecution 的函数代码（可执行实体）的分离，正是这一原则的体现——JSON 定义作为稳定的“复用契约”，函数代码则基于契约进行精确填充。WorkflowLibrary 将 JSON 工作流同时注册到工作流函数体系与通用委托体系，实现了跨体系的复用。</a:t>
            </a:r>
            <a:endParaRPr lang="en-US" sz="1100" dirty="0"/>
          </a:p>
        </p:txBody>
      </p:sp>
      <p:sp>
        <p:nvSpPr>
          <p:cNvPr id="7" name="Shape 5"/>
          <p:cNvSpPr/>
          <p:nvPr/>
        </p:nvSpPr>
        <p:spPr>
          <a:xfrm>
            <a:off x="457200" y="3200400"/>
            <a:ext cx="8229600" cy="685800"/>
          </a:xfrm>
          <a:prstGeom prst="rect">
            <a:avLst/>
          </a:prstGeom>
          <a:solidFill>
            <a:srgbClr val="21295C"/>
          </a:solidFill>
          <a:ln/>
        </p:spPr>
      </p:sp>
      <p:sp>
        <p:nvSpPr>
          <p:cNvPr id="8" name="Text 6"/>
          <p:cNvSpPr/>
          <p:nvPr/>
        </p:nvSpPr>
        <p:spPr>
          <a:xfrm>
            <a:off x="594360" y="3291840"/>
            <a:ext cx="7955280" cy="502920"/>
          </a:xfrm>
          <a:prstGeom prst="rect">
            <a:avLst/>
          </a:prstGeom>
          <a:noFill/>
          <a:ln/>
        </p:spPr>
        <p:txBody>
          <a:bodyPr wrap="square" rtlCol="0" anchor="ctr"/>
          <a:lstStyle/>
          <a:p>
            <a:pPr algn="l" indent="0" marL="0">
              <a:lnSpc>
                <a:spcPct val="115000"/>
              </a:lnSpc>
              <a:buNone/>
            </a:pPr>
            <a:r>
              <a:rPr lang="en-US" sz="1200" dirty="0">
                <a:solidFill>
                  <a:srgbClr val="FFFFFF"/>
                </a:solidFill>
              </a:rPr>
              <a:t>这种分离也为动态更新提供了天然的切入点：修改 JSON 定义即可在不触及函数代码的前提下调整工作流结构，实现了“数据层热更新、逻辑层零改动”。</a:t>
            </a:r>
            <a:endParaRPr lang="en-US" sz="12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序言（五）：三要素模块单元</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502920"/>
          </a:xfrm>
          <a:prstGeom prst="rect">
            <a:avLst/>
          </a:prstGeom>
          <a:solidFill>
            <a:srgbClr val="065A82"/>
          </a:solidFill>
          <a:ln/>
        </p:spPr>
      </p:sp>
      <p:sp>
        <p:nvSpPr>
          <p:cNvPr id="5" name="Text 3"/>
          <p:cNvSpPr/>
          <p:nvPr/>
        </p:nvSpPr>
        <p:spPr>
          <a:xfrm>
            <a:off x="594360" y="1005840"/>
            <a:ext cx="7955280" cy="320040"/>
          </a:xfrm>
          <a:prstGeom prst="rect">
            <a:avLst/>
          </a:prstGeom>
          <a:noFill/>
          <a:ln/>
        </p:spPr>
        <p:txBody>
          <a:bodyPr wrap="square" rtlCol="0" anchor="ctr"/>
          <a:lstStyle/>
          <a:p>
            <a:pPr algn="l" indent="0" marL="0">
              <a:lnSpc>
                <a:spcPct val="115000"/>
              </a:lnSpc>
              <a:buNone/>
            </a:pPr>
            <a:r>
              <a:rPr lang="en-US" sz="1300" b="1" dirty="0">
                <a:solidFill>
                  <a:srgbClr val="FFFFFF"/>
                </a:solidFill>
              </a:rPr>
              <a:t>复用性的最小载体是三要素模块单元。</a:t>
            </a:r>
            <a:endParaRPr lang="en-US" sz="1300" dirty="0"/>
          </a:p>
        </p:txBody>
      </p:sp>
      <p:sp>
        <p:nvSpPr>
          <p:cNvPr id="6" name="Text 4"/>
          <p:cNvSpPr/>
          <p:nvPr/>
        </p:nvSpPr>
        <p:spPr>
          <a:xfrm>
            <a:off x="457200" y="1554480"/>
            <a:ext cx="8229600" cy="14630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FunctionStorage 的 WorkflowLibrary 将提示词（自然语言灵魂）、JSON 工作流定义（结构化蓝图）与函数代码（可执行实体）封装为自包含模块，三者可双向生成、相互迭代。每个模块不再是孤立的代码文件，而是拥有自我描述能力的生命单元，模块库由此从静态集合进化为可演化的生态系统。</a:t>
            </a:r>
            <a:endParaRPr lang="en-US" sz="1100" dirty="0"/>
          </a:p>
        </p:txBody>
      </p:sp>
      <p:sp>
        <p:nvSpPr>
          <p:cNvPr id="7" name="Shape 5"/>
          <p:cNvSpPr/>
          <p:nvPr/>
        </p:nvSpPr>
        <p:spPr>
          <a:xfrm>
            <a:off x="457200" y="3200400"/>
            <a:ext cx="8229600" cy="685800"/>
          </a:xfrm>
          <a:prstGeom prst="rect">
            <a:avLst/>
          </a:prstGeom>
          <a:solidFill>
            <a:srgbClr val="21295C"/>
          </a:solidFill>
          <a:ln/>
        </p:spPr>
      </p:sp>
      <p:sp>
        <p:nvSpPr>
          <p:cNvPr id="8" name="Text 6"/>
          <p:cNvSpPr/>
          <p:nvPr/>
        </p:nvSpPr>
        <p:spPr>
          <a:xfrm>
            <a:off x="594360" y="3291840"/>
            <a:ext cx="7955280" cy="502920"/>
          </a:xfrm>
          <a:prstGeom prst="rect">
            <a:avLst/>
          </a:prstGeom>
          <a:noFill/>
          <a:ln/>
        </p:spPr>
        <p:txBody>
          <a:bodyPr wrap="square" rtlCol="0" anchor="ctr"/>
          <a:lstStyle/>
          <a:p>
            <a:pPr algn="l" indent="0" marL="0">
              <a:lnSpc>
                <a:spcPct val="115000"/>
              </a:lnSpc>
              <a:buNone/>
            </a:pPr>
            <a:r>
              <a:rPr lang="en-US" sz="1200" dirty="0">
                <a:solidFill>
                  <a:srgbClr val="FFFFFF"/>
                </a:solidFill>
              </a:rPr>
              <a:t>动态更新赋予这一生态系统以生命力——模块可在运行时被动态插入、替换或移除，使模块库的演化从“版本发布周期”加速为“实时热插拔”。</a:t>
            </a:r>
            <a:endParaRPr lang="en-US" sz="12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序言（六）：筛选机制确保正确性</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502920"/>
          </a:xfrm>
          <a:prstGeom prst="rect">
            <a:avLst/>
          </a:prstGeom>
          <a:solidFill>
            <a:srgbClr val="065A82"/>
          </a:solidFill>
          <a:ln/>
        </p:spPr>
      </p:sp>
      <p:sp>
        <p:nvSpPr>
          <p:cNvPr id="5" name="Text 3"/>
          <p:cNvSpPr/>
          <p:nvPr/>
        </p:nvSpPr>
        <p:spPr>
          <a:xfrm>
            <a:off x="594360" y="1005840"/>
            <a:ext cx="7955280" cy="320040"/>
          </a:xfrm>
          <a:prstGeom prst="rect">
            <a:avLst/>
          </a:prstGeom>
          <a:noFill/>
          <a:ln/>
        </p:spPr>
        <p:txBody>
          <a:bodyPr wrap="square" rtlCol="0" anchor="ctr"/>
          <a:lstStyle/>
          <a:p>
            <a:pPr algn="l" indent="0" marL="0">
              <a:lnSpc>
                <a:spcPct val="115000"/>
              </a:lnSpc>
              <a:buNone/>
            </a:pPr>
            <a:r>
              <a:rPr lang="en-US" sz="1300" b="1" dirty="0">
                <a:solidFill>
                  <a:srgbClr val="FFFFFF"/>
                </a:solidFill>
              </a:rPr>
              <a:t>复用性还需要筛选机制来确保正确性。</a:t>
            </a:r>
            <a:endParaRPr lang="en-US" sz="1300" dirty="0"/>
          </a:p>
        </p:txBody>
      </p:sp>
      <p:sp>
        <p:nvSpPr>
          <p:cNvPr id="6" name="Text 4"/>
          <p:cNvSpPr/>
          <p:nvPr/>
        </p:nvSpPr>
        <p:spPr>
          <a:xfrm>
            <a:off x="457200" y="1554480"/>
            <a:ext cx="8229600" cy="14630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WorkFlowMethod 的 LoopWorkflow 正是这一机制的体现——大模型作为“假说生成者”发散生成候选方案，RuleBased / LLMBased / Hybrid 三种选择策略作为“有效性裁判”层层过滤，迭代收敛至工程上可接受的精度。Hybrid 策略以规则覆盖标准路径、LLM 处理异常，兼顾了确定性与灵活性。</a:t>
            </a:r>
            <a:endParaRPr lang="en-US" sz="1100" dirty="0"/>
          </a:p>
        </p:txBody>
      </p:sp>
      <p:sp>
        <p:nvSpPr>
          <p:cNvPr id="7" name="Shape 5"/>
          <p:cNvSpPr/>
          <p:nvPr/>
        </p:nvSpPr>
        <p:spPr>
          <a:xfrm>
            <a:off x="457200" y="3200400"/>
            <a:ext cx="8229600" cy="685800"/>
          </a:xfrm>
          <a:prstGeom prst="rect">
            <a:avLst/>
          </a:prstGeom>
          <a:solidFill>
            <a:srgbClr val="21295C"/>
          </a:solidFill>
          <a:ln/>
        </p:spPr>
      </p:sp>
      <p:sp>
        <p:nvSpPr>
          <p:cNvPr id="8" name="Text 6"/>
          <p:cNvSpPr/>
          <p:nvPr/>
        </p:nvSpPr>
        <p:spPr>
          <a:xfrm>
            <a:off x="594360" y="3291840"/>
            <a:ext cx="7955280" cy="502920"/>
          </a:xfrm>
          <a:prstGeom prst="rect">
            <a:avLst/>
          </a:prstGeom>
          <a:noFill/>
          <a:ln/>
        </p:spPr>
        <p:txBody>
          <a:bodyPr wrap="square" rtlCol="0" anchor="ctr"/>
          <a:lstStyle/>
          <a:p>
            <a:pPr algn="l" indent="0" marL="0">
              <a:lnSpc>
                <a:spcPct val="115000"/>
              </a:lnSpc>
              <a:buNone/>
            </a:pPr>
            <a:r>
              <a:rPr lang="en-US" sz="1200" dirty="0">
                <a:solidFill>
                  <a:srgbClr val="FFFFFF"/>
                </a:solidFill>
              </a:rPr>
              <a:t>动态更新与筛选机制形成闭环：筛选机制确保当前结构的正确性，动态更新则允许在运行时修正或优化结构，两者共同保障了工作流在持续变化中的结构完整性。</a:t>
            </a:r>
            <a:endParaRPr lang="en-US" sz="12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序言（七）：动态更新与元语公理</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914400"/>
            <a:ext cx="8229600" cy="457200"/>
          </a:xfrm>
          <a:prstGeom prst="rect">
            <a:avLst/>
          </a:prstGeom>
          <a:solidFill>
            <a:srgbClr val="065A82"/>
          </a:solidFill>
          <a:ln/>
        </p:spPr>
      </p:sp>
      <p:sp>
        <p:nvSpPr>
          <p:cNvPr id="5" name="Text 3"/>
          <p:cNvSpPr/>
          <p:nvPr/>
        </p:nvSpPr>
        <p:spPr>
          <a:xfrm>
            <a:off x="594360" y="1005840"/>
            <a:ext cx="7955280" cy="274320"/>
          </a:xfrm>
          <a:prstGeom prst="rect">
            <a:avLst/>
          </a:prstGeom>
          <a:noFill/>
          <a:ln/>
        </p:spPr>
        <p:txBody>
          <a:bodyPr wrap="square" rtlCol="0" anchor="ctr"/>
          <a:lstStyle/>
          <a:p>
            <a:pPr algn="l" indent="0" marL="0">
              <a:lnSpc>
                <a:spcPct val="115000"/>
              </a:lnSpc>
              <a:buNone/>
            </a:pPr>
            <a:r>
              <a:rPr lang="en-US" sz="1200" b="1" dirty="0">
                <a:solidFill>
                  <a:srgbClr val="FFFFFF"/>
                </a:solidFill>
              </a:rPr>
              <a:t>动态更新能力是 WorkFlowMethod 区别于传统工作流框架的核心差异化优势。</a:t>
            </a:r>
            <a:endParaRPr lang="en-US" sz="1200" dirty="0"/>
          </a:p>
        </p:txBody>
      </p:sp>
      <p:sp>
        <p:nvSpPr>
          <p:cNvPr id="6" name="Text 4"/>
          <p:cNvSpPr/>
          <p:nvPr/>
        </p:nvSpPr>
        <p:spPr>
          <a:xfrm>
            <a:off x="457200" y="1463040"/>
            <a:ext cx="8229600" cy="155448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Temporal 和 Airflow 完全不支持运行时修改工作流结构，Camunda 和 Elsa 仅支持有限的部分更新。WorkFlowMethod 的图引擎统一以 GraphFoundation 边体系作为节点连接关系的唯一真实来源，通过 Symbol 定位插入、节点删除与重连、复合更新指令等机制，实现了原生、完整的运行时动态更新——无需重启、无需停服、无需手动同步平行数据结构。这一能力使工作流在运行过程中能够根据上下文变化实时调整拓扑结构，将复用性从“设计时的模板复用”扩展为“运行时的结构自适应”。</a:t>
            </a:r>
            <a:endParaRPr lang="en-US" sz="1000" dirty="0"/>
          </a:p>
        </p:txBody>
      </p:sp>
      <p:sp>
        <p:nvSpPr>
          <p:cNvPr id="7" name="Shape 5"/>
          <p:cNvSpPr/>
          <p:nvPr/>
        </p:nvSpPr>
        <p:spPr>
          <a:xfrm>
            <a:off x="457200" y="3108960"/>
            <a:ext cx="8229600" cy="365760"/>
          </a:xfrm>
          <a:prstGeom prst="rect">
            <a:avLst/>
          </a:prstGeom>
          <a:solidFill>
            <a:srgbClr val="1C7293"/>
          </a:solidFill>
          <a:ln/>
        </p:spPr>
      </p:sp>
      <p:sp>
        <p:nvSpPr>
          <p:cNvPr id="8" name="Text 6"/>
          <p:cNvSpPr/>
          <p:nvPr/>
        </p:nvSpPr>
        <p:spPr>
          <a:xfrm>
            <a:off x="594360" y="3200400"/>
            <a:ext cx="7955280" cy="182880"/>
          </a:xfrm>
          <a:prstGeom prst="rect">
            <a:avLst/>
          </a:prstGeom>
          <a:noFill/>
          <a:ln/>
        </p:spPr>
        <p:txBody>
          <a:bodyPr wrap="square" rtlCol="0" anchor="ctr"/>
          <a:lstStyle/>
          <a:p>
            <a:pPr algn="l" indent="0" marL="0">
              <a:lnSpc>
                <a:spcPct val="115000"/>
              </a:lnSpc>
              <a:buNone/>
            </a:pPr>
            <a:r>
              <a:rPr lang="en-US" sz="1200" b="1" dirty="0">
                <a:solidFill>
                  <a:srgbClr val="FFFFFF"/>
                </a:solidFill>
              </a:rPr>
              <a:t>最终，复用性的最高形态是元语公理化。</a:t>
            </a:r>
            <a:endParaRPr lang="en-US" sz="1200" dirty="0"/>
          </a:p>
        </p:txBody>
      </p:sp>
      <p:sp>
        <p:nvSpPr>
          <p:cNvPr id="9" name="Text 7"/>
          <p:cNvSpPr/>
          <p:nvPr/>
        </p:nvSpPr>
        <p:spPr>
          <a:xfrm>
            <a:off x="457200" y="3566160"/>
            <a:ext cx="8229600" cy="82296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WorkFlowMethod 作为框架公理系统，其完备性决定了工作流能力的上限——程序所能表达的定理集合，恰为框架公理系统的所有逻辑推论。AI 在其中进行可证明正确的增量更新，每一次提交都不会破坏系统的结构完整性。</a:t>
            </a:r>
            <a:endParaRPr lang="en-US" sz="1000" dirty="0"/>
          </a:p>
        </p:txBody>
      </p:sp>
      <p:sp>
        <p:nvSpPr>
          <p:cNvPr id="10" name="Shape 8"/>
          <p:cNvSpPr/>
          <p:nvPr/>
        </p:nvSpPr>
        <p:spPr>
          <a:xfrm>
            <a:off x="457200" y="4434840"/>
            <a:ext cx="8229600" cy="594360"/>
          </a:xfrm>
          <a:prstGeom prst="rect">
            <a:avLst/>
          </a:prstGeom>
          <a:solidFill>
            <a:srgbClr val="21295C"/>
          </a:solidFill>
          <a:ln/>
        </p:spPr>
      </p:sp>
      <p:sp>
        <p:nvSpPr>
          <p:cNvPr id="11" name="Text 9"/>
          <p:cNvSpPr/>
          <p:nvPr/>
        </p:nvSpPr>
        <p:spPr>
          <a:xfrm>
            <a:off x="594360" y="4526280"/>
            <a:ext cx="7955280" cy="411480"/>
          </a:xfrm>
          <a:prstGeom prst="rect">
            <a:avLst/>
          </a:prstGeom>
          <a:noFill/>
          <a:ln/>
        </p:spPr>
        <p:txBody>
          <a:bodyPr wrap="square" rtlCol="0" anchor="ctr"/>
          <a:lstStyle/>
          <a:p>
            <a:pPr algn="l" indent="0" marL="0">
              <a:lnSpc>
                <a:spcPct val="115000"/>
              </a:lnSpc>
              <a:buNone/>
            </a:pPr>
            <a:r>
              <a:rPr lang="en-US" sz="1000" dirty="0">
                <a:solidFill>
                  <a:srgbClr val="FFFFFF"/>
                </a:solidFill>
              </a:rPr>
              <a:t>动态更新与元语公理在此交汇：公理系统定义了“什么可以变、什么不能变”的不变边界，动态更新则在这一边界内安全地执行结构变换。这正是 WorkFlow 体系“配置即工作流、界面即交互”理念的理论根基。</a:t>
            </a:r>
            <a:endParaRPr lang="en-US" sz="1000" dirty="0"/>
          </a:p>
        </p:txBody>
      </p:sp>
      <p:sp>
        <p:nvSpPr>
          <p:cNvPr id="1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457200"/>
            <a:ext cx="8229600" cy="548640"/>
          </a:xfrm>
          <a:prstGeom prst="rect">
            <a:avLst/>
          </a:prstGeom>
          <a:noFill/>
          <a:ln/>
        </p:spPr>
        <p:txBody>
          <a:bodyPr wrap="square" rtlCol="0" anchor="ctr">
            <a:normAutofit/>
          </a:bodyPr>
          <a:lstStyle/>
          <a:p>
            <a:pPr algn="ctr" indent="0" marL="0">
              <a:buNone/>
            </a:pPr>
            <a:r>
              <a:rPr lang="en-US" sz="2800" b="1" dirty="0">
                <a:solidFill>
                  <a:srgbClr val="FFFFFF"/>
                </a:solidFill>
                <a:latin typeface="Georgia" pitchFamily="34" charset="0"/>
                <a:ea typeface="Georgia" pitchFamily="34" charset="-122"/>
                <a:cs typeface="Georgia" pitchFamily="34" charset="-120"/>
              </a:rPr>
              <a:t>序言总结</a:t>
            </a:r>
            <a:endParaRPr lang="en-US" sz="2800" dirty="0"/>
          </a:p>
        </p:txBody>
      </p:sp>
      <p:sp>
        <p:nvSpPr>
          <p:cNvPr id="5" name="Text 3"/>
          <p:cNvSpPr/>
          <p:nvPr/>
        </p:nvSpPr>
        <p:spPr>
          <a:xfrm>
            <a:off x="914400" y="1280160"/>
            <a:ext cx="7315200" cy="1371600"/>
          </a:xfrm>
          <a:prstGeom prst="rect">
            <a:avLst/>
          </a:prstGeom>
          <a:noFill/>
          <a:ln/>
        </p:spPr>
        <p:txBody>
          <a:bodyPr wrap="square" rtlCol="0" anchor="t"/>
          <a:lstStyle/>
          <a:p>
            <a:pPr algn="l" indent="0" marL="0">
              <a:lnSpc>
                <a:spcPct val="115000"/>
              </a:lnSpc>
              <a:buNone/>
            </a:pPr>
            <a:r>
              <a:rPr lang="en-US" sz="1400" dirty="0">
                <a:solidFill>
                  <a:srgbClr val="E8F4F8"/>
                </a:solidFill>
                <a:latin typeface="Calibri" pitchFamily="34" charset="0"/>
                <a:ea typeface="Calibri" pitchFamily="34" charset="-122"/>
                <a:cs typeface="Calibri" pitchFamily="34" charset="-120"/>
              </a:rPr>
              <a:t>从引用关系到规则系统，从数据契约到模块单元，从筛选机制到动态更新，再到元语公理——复用性贯穿了 WorkFlow 体系的全部层级，是连接确定性工程与 AI 灵活性的核心纽带。</a:t>
            </a:r>
            <a:endParaRPr lang="en-US" sz="1400" dirty="0"/>
          </a:p>
        </p:txBody>
      </p:sp>
      <p:sp>
        <p:nvSpPr>
          <p:cNvPr id="6" name="Shape 4"/>
          <p:cNvSpPr/>
          <p:nvPr/>
        </p:nvSpPr>
        <p:spPr>
          <a:xfrm>
            <a:off x="914400" y="2926080"/>
            <a:ext cx="7315200" cy="914400"/>
          </a:xfrm>
          <a:prstGeom prst="rect">
            <a:avLst/>
          </a:prstGeom>
          <a:solidFill>
            <a:srgbClr val="00A896"/>
          </a:solidFill>
          <a:ln/>
        </p:spPr>
      </p:sp>
      <p:sp>
        <p:nvSpPr>
          <p:cNvPr id="7" name="Text 5"/>
          <p:cNvSpPr/>
          <p:nvPr/>
        </p:nvSpPr>
        <p:spPr>
          <a:xfrm>
            <a:off x="1051560" y="3017520"/>
            <a:ext cx="7040880" cy="731520"/>
          </a:xfrm>
          <a:prstGeom prst="rect">
            <a:avLst/>
          </a:prstGeom>
          <a:noFill/>
          <a:ln/>
        </p:spPr>
        <p:txBody>
          <a:bodyPr wrap="square" rtlCol="0" anchor="ctr"/>
          <a:lstStyle/>
          <a:p>
            <a:pPr algn="ctr" indent="0" marL="0">
              <a:lnSpc>
                <a:spcPct val="115000"/>
              </a:lnSpc>
              <a:buNone/>
            </a:pPr>
            <a:r>
              <a:rPr lang="en-US" sz="1400" b="1" dirty="0">
                <a:solidFill>
                  <a:srgbClr val="21295C"/>
                </a:solidFill>
              </a:rPr>
              <a:t>动态更新，正是这一纽带中最具活力的环节——它让复用从静态契约升华为动态协作，让工作流从一次性编排进化为持续演化的生命体。</a:t>
            </a:r>
            <a:endParaRPr lang="en-US" sz="1400" dirty="0"/>
          </a:p>
        </p:txBody>
      </p:sp>
      <p:sp>
        <p:nvSpPr>
          <p:cNvPr id="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体系总览</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分层架构、层级职责与数据流全景</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1.1 分层架构</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45720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WorkFlow 体系采用分层架构，各层职责清晰、单向依赖。依赖方向自底向上（底层被上层依赖），数据/事件流方向自顶向下（用户操作向下传递）：</a:t>
            </a:r>
            <a:endParaRPr lang="en-US" sz="1000" dirty="0"/>
          </a:p>
        </p:txBody>
      </p:sp>
      <p:sp>
        <p:nvSpPr>
          <p:cNvPr id="5" name="Shape 3"/>
          <p:cNvSpPr/>
          <p:nvPr/>
        </p:nvSpPr>
        <p:spPr>
          <a:xfrm>
            <a:off x="1897380" y="4206240"/>
            <a:ext cx="5349240" cy="502920"/>
          </a:xfrm>
          <a:prstGeom prst="rect">
            <a:avLst/>
          </a:prstGeom>
          <a:solidFill>
            <a:srgbClr val="00A896"/>
          </a:solidFill>
          <a:ln w="6350">
            <a:solidFill>
              <a:srgbClr val="21295C"/>
            </a:solidFill>
            <a:prstDash val="solid"/>
          </a:ln>
        </p:spPr>
      </p:sp>
      <p:sp>
        <p:nvSpPr>
          <p:cNvPr id="6" name="Text 4"/>
          <p:cNvSpPr/>
          <p:nvPr/>
        </p:nvSpPr>
        <p:spPr>
          <a:xfrm>
            <a:off x="1988820" y="4251960"/>
            <a:ext cx="5166360" cy="228600"/>
          </a:xfrm>
          <a:prstGeom prst="rect">
            <a:avLst/>
          </a:prstGeom>
          <a:noFill/>
          <a:ln/>
        </p:spPr>
        <p:txBody>
          <a:bodyPr wrap="square" rtlCol="0" anchor="ctr">
            <a:normAutofit/>
          </a:bodyPr>
          <a:lstStyle/>
          <a:p>
            <a:pPr indent="0" marL="0">
              <a:buNone/>
            </a:pPr>
            <a:r>
              <a:rPr lang="en-US" sz="900" b="1" dirty="0">
                <a:solidFill>
                  <a:srgbClr val="FFFFFF"/>
                </a:solidFill>
              </a:rPr>
              <a:t>WdUI (UI 框架层)</a:t>
            </a:r>
            <a:endParaRPr lang="en-US" sz="900" dirty="0"/>
          </a:p>
        </p:txBody>
      </p:sp>
      <p:sp>
        <p:nvSpPr>
          <p:cNvPr id="7" name="Text 5"/>
          <p:cNvSpPr/>
          <p:nvPr/>
        </p:nvSpPr>
        <p:spPr>
          <a:xfrm>
            <a:off x="1988820" y="4480560"/>
            <a:ext cx="5166360" cy="182880"/>
          </a:xfrm>
          <a:prstGeom prst="rect">
            <a:avLst/>
          </a:prstGeom>
          <a:noFill/>
          <a:ln/>
        </p:spPr>
        <p:txBody>
          <a:bodyPr wrap="square" rtlCol="0" anchor="ctr">
            <a:normAutofit/>
          </a:bodyPr>
          <a:lstStyle/>
          <a:p>
            <a:pPr indent="0" marL="0">
              <a:buNone/>
            </a:pPr>
            <a:r>
              <a:rPr lang="en-US" sz="700" dirty="0">
                <a:solidFill>
                  <a:srgbClr val="E8F4F8"/>
                </a:solidFill>
              </a:rPr>
              <a:t>JSON 驱动 UI 渲染、控件事件触发</a:t>
            </a:r>
            <a:endParaRPr lang="en-US" sz="700" dirty="0"/>
          </a:p>
        </p:txBody>
      </p:sp>
      <p:sp>
        <p:nvSpPr>
          <p:cNvPr id="8" name="Shape 6"/>
          <p:cNvSpPr/>
          <p:nvPr/>
        </p:nvSpPr>
        <p:spPr>
          <a:xfrm>
            <a:off x="4572000" y="4151376"/>
            <a:ext cx="0" cy="36576"/>
          </a:xfrm>
          <a:prstGeom prst="line">
            <a:avLst/>
          </a:prstGeom>
          <a:noFill/>
          <a:ln w="6350">
            <a:solidFill>
              <a:srgbClr val="6B7280"/>
            </a:solidFill>
            <a:prstDash val="solid"/>
            <a:tailEnd type="triangle"/>
          </a:ln>
        </p:spPr>
      </p:sp>
      <p:sp>
        <p:nvSpPr>
          <p:cNvPr id="9" name="Shape 7"/>
          <p:cNvSpPr/>
          <p:nvPr/>
        </p:nvSpPr>
        <p:spPr>
          <a:xfrm>
            <a:off x="1650492" y="3630168"/>
            <a:ext cx="5843016" cy="502920"/>
          </a:xfrm>
          <a:prstGeom prst="rect">
            <a:avLst/>
          </a:prstGeom>
          <a:solidFill>
            <a:srgbClr val="0891B2"/>
          </a:solidFill>
          <a:ln w="6350">
            <a:solidFill>
              <a:srgbClr val="21295C"/>
            </a:solidFill>
            <a:prstDash val="solid"/>
          </a:ln>
        </p:spPr>
      </p:sp>
      <p:sp>
        <p:nvSpPr>
          <p:cNvPr id="10" name="Text 8"/>
          <p:cNvSpPr/>
          <p:nvPr/>
        </p:nvSpPr>
        <p:spPr>
          <a:xfrm>
            <a:off x="1741932" y="3675888"/>
            <a:ext cx="5660136" cy="228600"/>
          </a:xfrm>
          <a:prstGeom prst="rect">
            <a:avLst/>
          </a:prstGeom>
          <a:noFill/>
          <a:ln/>
        </p:spPr>
        <p:txBody>
          <a:bodyPr wrap="square" rtlCol="0" anchor="ctr">
            <a:normAutofit/>
          </a:bodyPr>
          <a:lstStyle/>
          <a:p>
            <a:pPr indent="0" marL="0">
              <a:buNone/>
            </a:pPr>
            <a:r>
              <a:rPr lang="en-US" sz="900" b="1" dirty="0">
                <a:solidFill>
                  <a:srgbClr val="FFFFFF"/>
                </a:solidFill>
              </a:rPr>
              <a:t>FunctionStorage (桥接层)</a:t>
            </a:r>
            <a:endParaRPr lang="en-US" sz="900" dirty="0"/>
          </a:p>
        </p:txBody>
      </p:sp>
      <p:sp>
        <p:nvSpPr>
          <p:cNvPr id="11" name="Text 9"/>
          <p:cNvSpPr/>
          <p:nvPr/>
        </p:nvSpPr>
        <p:spPr>
          <a:xfrm>
            <a:off x="1741932" y="3904488"/>
            <a:ext cx="5660136" cy="182880"/>
          </a:xfrm>
          <a:prstGeom prst="rect">
            <a:avLst/>
          </a:prstGeom>
          <a:noFill/>
          <a:ln/>
        </p:spPr>
        <p:txBody>
          <a:bodyPr wrap="square" rtlCol="0" anchor="ctr">
            <a:normAutofit/>
          </a:bodyPr>
          <a:lstStyle/>
          <a:p>
            <a:pPr indent="0" marL="0">
              <a:buNone/>
            </a:pPr>
            <a:r>
              <a:rPr lang="en-US" sz="700" dirty="0">
                <a:solidFill>
                  <a:srgbClr val="E8F4F8"/>
                </a:solidFill>
              </a:rPr>
              <a:t>函数库注册、UI 桥接、JSON 工作流执行</a:t>
            </a:r>
            <a:endParaRPr lang="en-US" sz="700" dirty="0"/>
          </a:p>
        </p:txBody>
      </p:sp>
      <p:sp>
        <p:nvSpPr>
          <p:cNvPr id="12" name="Shape 10"/>
          <p:cNvSpPr/>
          <p:nvPr/>
        </p:nvSpPr>
        <p:spPr>
          <a:xfrm>
            <a:off x="4572000" y="3575304"/>
            <a:ext cx="0" cy="36576"/>
          </a:xfrm>
          <a:prstGeom prst="line">
            <a:avLst/>
          </a:prstGeom>
          <a:noFill/>
          <a:ln w="6350">
            <a:solidFill>
              <a:srgbClr val="6B7280"/>
            </a:solidFill>
            <a:prstDash val="solid"/>
            <a:tailEnd type="triangle"/>
          </a:ln>
        </p:spPr>
      </p:sp>
      <p:sp>
        <p:nvSpPr>
          <p:cNvPr id="13" name="Shape 11"/>
          <p:cNvSpPr/>
          <p:nvPr/>
        </p:nvSpPr>
        <p:spPr>
          <a:xfrm>
            <a:off x="1403604" y="3054096"/>
            <a:ext cx="6336792" cy="502920"/>
          </a:xfrm>
          <a:prstGeom prst="rect">
            <a:avLst/>
          </a:prstGeom>
          <a:solidFill>
            <a:srgbClr val="1C7293"/>
          </a:solidFill>
          <a:ln w="6350">
            <a:solidFill>
              <a:srgbClr val="21295C"/>
            </a:solidFill>
            <a:prstDash val="solid"/>
          </a:ln>
        </p:spPr>
      </p:sp>
      <p:sp>
        <p:nvSpPr>
          <p:cNvPr id="14" name="Text 12"/>
          <p:cNvSpPr/>
          <p:nvPr/>
        </p:nvSpPr>
        <p:spPr>
          <a:xfrm>
            <a:off x="1495044" y="3099816"/>
            <a:ext cx="6153912" cy="228600"/>
          </a:xfrm>
          <a:prstGeom prst="rect">
            <a:avLst/>
          </a:prstGeom>
          <a:noFill/>
          <a:ln/>
        </p:spPr>
        <p:txBody>
          <a:bodyPr wrap="square" rtlCol="0" anchor="ctr">
            <a:normAutofit/>
          </a:bodyPr>
          <a:lstStyle/>
          <a:p>
            <a:pPr indent="0" marL="0">
              <a:buNone/>
            </a:pPr>
            <a:r>
              <a:rPr lang="en-US" sz="900" b="1" dirty="0">
                <a:solidFill>
                  <a:srgbClr val="FFFFFF"/>
                </a:solidFill>
              </a:rPr>
              <a:t>FunctionExecution (执行层)</a:t>
            </a:r>
            <a:endParaRPr lang="en-US" sz="900" dirty="0"/>
          </a:p>
        </p:txBody>
      </p:sp>
      <p:sp>
        <p:nvSpPr>
          <p:cNvPr id="15" name="Text 13"/>
          <p:cNvSpPr/>
          <p:nvPr/>
        </p:nvSpPr>
        <p:spPr>
          <a:xfrm>
            <a:off x="1495044" y="3328416"/>
            <a:ext cx="6153912" cy="182880"/>
          </a:xfrm>
          <a:prstGeom prst="rect">
            <a:avLst/>
          </a:prstGeom>
          <a:noFill/>
          <a:ln/>
        </p:spPr>
        <p:txBody>
          <a:bodyPr wrap="square" rtlCol="0" anchor="ctr">
            <a:normAutofit/>
          </a:bodyPr>
          <a:lstStyle/>
          <a:p>
            <a:pPr indent="0" marL="0">
              <a:buNone/>
            </a:pPr>
            <a:r>
              <a:rPr lang="en-US" sz="700" dirty="0">
                <a:solidFill>
                  <a:srgbClr val="E8F4F8"/>
                </a:solidFill>
              </a:rPr>
              <a:t>函数注册、参数解析、委托调用</a:t>
            </a:r>
            <a:endParaRPr lang="en-US" sz="700" dirty="0"/>
          </a:p>
        </p:txBody>
      </p:sp>
      <p:sp>
        <p:nvSpPr>
          <p:cNvPr id="16" name="Shape 14"/>
          <p:cNvSpPr/>
          <p:nvPr/>
        </p:nvSpPr>
        <p:spPr>
          <a:xfrm>
            <a:off x="4572000" y="2999232"/>
            <a:ext cx="0" cy="36576"/>
          </a:xfrm>
          <a:prstGeom prst="line">
            <a:avLst/>
          </a:prstGeom>
          <a:noFill/>
          <a:ln w="6350">
            <a:solidFill>
              <a:srgbClr val="6B7280"/>
            </a:solidFill>
            <a:prstDash val="solid"/>
            <a:tailEnd type="triangle"/>
          </a:ln>
        </p:spPr>
      </p:sp>
      <p:sp>
        <p:nvSpPr>
          <p:cNvPr id="17" name="Shape 15"/>
          <p:cNvSpPr/>
          <p:nvPr/>
        </p:nvSpPr>
        <p:spPr>
          <a:xfrm>
            <a:off x="1156716" y="2478024"/>
            <a:ext cx="6830568" cy="502920"/>
          </a:xfrm>
          <a:prstGeom prst="rect">
            <a:avLst/>
          </a:prstGeom>
          <a:solidFill>
            <a:srgbClr val="065A82"/>
          </a:solidFill>
          <a:ln w="6350">
            <a:solidFill>
              <a:srgbClr val="21295C"/>
            </a:solidFill>
            <a:prstDash val="solid"/>
          </a:ln>
        </p:spPr>
      </p:sp>
      <p:sp>
        <p:nvSpPr>
          <p:cNvPr id="18" name="Text 16"/>
          <p:cNvSpPr/>
          <p:nvPr/>
        </p:nvSpPr>
        <p:spPr>
          <a:xfrm>
            <a:off x="1248156" y="2523744"/>
            <a:ext cx="6647688" cy="228600"/>
          </a:xfrm>
          <a:prstGeom prst="rect">
            <a:avLst/>
          </a:prstGeom>
          <a:noFill/>
          <a:ln/>
        </p:spPr>
        <p:txBody>
          <a:bodyPr wrap="square" rtlCol="0" anchor="ctr">
            <a:normAutofit/>
          </a:bodyPr>
          <a:lstStyle/>
          <a:p>
            <a:pPr indent="0" marL="0">
              <a:buNone/>
            </a:pPr>
            <a:r>
              <a:rPr lang="en-US" sz="900" b="1" dirty="0">
                <a:solidFill>
                  <a:srgbClr val="FFFFFF"/>
                </a:solidFill>
              </a:rPr>
              <a:t>WorkFlowMethod (引擎层)</a:t>
            </a:r>
            <a:endParaRPr lang="en-US" sz="900" dirty="0"/>
          </a:p>
        </p:txBody>
      </p:sp>
      <p:sp>
        <p:nvSpPr>
          <p:cNvPr id="19" name="Text 17"/>
          <p:cNvSpPr/>
          <p:nvPr/>
        </p:nvSpPr>
        <p:spPr>
          <a:xfrm>
            <a:off x="1248156" y="2752344"/>
            <a:ext cx="6647688" cy="182880"/>
          </a:xfrm>
          <a:prstGeom prst="rect">
            <a:avLst/>
          </a:prstGeom>
          <a:noFill/>
          <a:ln/>
        </p:spPr>
        <p:txBody>
          <a:bodyPr wrap="square" rtlCol="0" anchor="ctr">
            <a:normAutofit/>
          </a:bodyPr>
          <a:lstStyle/>
          <a:p>
            <a:pPr indent="0" marL="0">
              <a:buNone/>
            </a:pPr>
            <a:r>
              <a:rPr lang="en-US" sz="700" dirty="0">
                <a:solidFill>
                  <a:srgbClr val="E8F4F8"/>
                </a:solidFill>
              </a:rPr>
              <a:t>工作流编排、管线执行、循环决策</a:t>
            </a:r>
            <a:endParaRPr lang="en-US" sz="700" dirty="0"/>
          </a:p>
        </p:txBody>
      </p:sp>
      <p:sp>
        <p:nvSpPr>
          <p:cNvPr id="20" name="Shape 18"/>
          <p:cNvSpPr/>
          <p:nvPr/>
        </p:nvSpPr>
        <p:spPr>
          <a:xfrm>
            <a:off x="4572000" y="2423160"/>
            <a:ext cx="0" cy="36576"/>
          </a:xfrm>
          <a:prstGeom prst="line">
            <a:avLst/>
          </a:prstGeom>
          <a:noFill/>
          <a:ln w="6350">
            <a:solidFill>
              <a:srgbClr val="6B7280"/>
            </a:solidFill>
            <a:prstDash val="solid"/>
            <a:tailEnd type="triangle"/>
          </a:ln>
        </p:spPr>
      </p:sp>
      <p:sp>
        <p:nvSpPr>
          <p:cNvPr id="21" name="Shape 19"/>
          <p:cNvSpPr/>
          <p:nvPr/>
        </p:nvSpPr>
        <p:spPr>
          <a:xfrm>
            <a:off x="909828" y="1901952"/>
            <a:ext cx="7324344" cy="502920"/>
          </a:xfrm>
          <a:prstGeom prst="rect">
            <a:avLst/>
          </a:prstGeom>
          <a:solidFill>
            <a:srgbClr val="64748B"/>
          </a:solidFill>
          <a:ln w="6350">
            <a:solidFill>
              <a:srgbClr val="21295C"/>
            </a:solidFill>
            <a:prstDash val="solid"/>
          </a:ln>
        </p:spPr>
      </p:sp>
      <p:sp>
        <p:nvSpPr>
          <p:cNvPr id="22" name="Text 20"/>
          <p:cNvSpPr/>
          <p:nvPr/>
        </p:nvSpPr>
        <p:spPr>
          <a:xfrm>
            <a:off x="1001268" y="1947672"/>
            <a:ext cx="7141464" cy="228600"/>
          </a:xfrm>
          <a:prstGeom prst="rect">
            <a:avLst/>
          </a:prstGeom>
          <a:noFill/>
          <a:ln/>
        </p:spPr>
        <p:txBody>
          <a:bodyPr wrap="square" rtlCol="0" anchor="ctr">
            <a:normAutofit/>
          </a:bodyPr>
          <a:lstStyle/>
          <a:p>
            <a:pPr indent="0" marL="0">
              <a:buNone/>
            </a:pPr>
            <a:r>
              <a:rPr lang="en-US" sz="900" b="1" dirty="0">
                <a:solidFill>
                  <a:srgbClr val="FFFFFF"/>
                </a:solidFill>
              </a:rPr>
              <a:t>UniversalJsonMiddleware (通用中间件)</a:t>
            </a:r>
            <a:endParaRPr lang="en-US" sz="900" dirty="0"/>
          </a:p>
        </p:txBody>
      </p:sp>
      <p:sp>
        <p:nvSpPr>
          <p:cNvPr id="23" name="Shape 21"/>
          <p:cNvSpPr/>
          <p:nvPr/>
        </p:nvSpPr>
        <p:spPr>
          <a:xfrm>
            <a:off x="4572000" y="1847088"/>
            <a:ext cx="0" cy="36576"/>
          </a:xfrm>
          <a:prstGeom prst="line">
            <a:avLst/>
          </a:prstGeom>
          <a:noFill/>
          <a:ln w="6350">
            <a:solidFill>
              <a:srgbClr val="6B7280"/>
            </a:solidFill>
            <a:prstDash val="solid"/>
            <a:tailEnd type="triangle"/>
          </a:ln>
        </p:spPr>
      </p:sp>
      <p:sp>
        <p:nvSpPr>
          <p:cNvPr id="24" name="Shape 22"/>
          <p:cNvSpPr/>
          <p:nvPr/>
        </p:nvSpPr>
        <p:spPr>
          <a:xfrm>
            <a:off x="662940" y="1325880"/>
            <a:ext cx="7818120" cy="502920"/>
          </a:xfrm>
          <a:prstGeom prst="rect">
            <a:avLst/>
          </a:prstGeom>
          <a:solidFill>
            <a:srgbClr val="94A3B8"/>
          </a:solidFill>
          <a:ln w="6350">
            <a:solidFill>
              <a:srgbClr val="21295C"/>
            </a:solidFill>
            <a:prstDash val="solid"/>
          </a:ln>
        </p:spPr>
      </p:sp>
      <p:sp>
        <p:nvSpPr>
          <p:cNvPr id="25" name="Text 23"/>
          <p:cNvSpPr/>
          <p:nvPr/>
        </p:nvSpPr>
        <p:spPr>
          <a:xfrm>
            <a:off x="754380" y="1371600"/>
            <a:ext cx="7635240" cy="228600"/>
          </a:xfrm>
          <a:prstGeom prst="rect">
            <a:avLst/>
          </a:prstGeom>
          <a:noFill/>
          <a:ln/>
        </p:spPr>
        <p:txBody>
          <a:bodyPr wrap="square" rtlCol="0" anchor="ctr">
            <a:normAutofit/>
          </a:bodyPr>
          <a:lstStyle/>
          <a:p>
            <a:pPr indent="0" marL="0">
              <a:buNone/>
            </a:pPr>
            <a:r>
              <a:rPr lang="en-US" sz="900" b="1" dirty="0">
                <a:solidFill>
                  <a:srgbClr val="FFFFFF"/>
                </a:solidFill>
              </a:rPr>
              <a:t>UniversalLayoutMath (纯数学计算)</a:t>
            </a:r>
            <a:endParaRPr lang="en-US" sz="900" dirty="0"/>
          </a:p>
        </p:txBody>
      </p:sp>
      <p:sp>
        <p:nvSpPr>
          <p:cNvPr id="2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1.2 层级职责</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560320"/>
        </p:xfrm>
        <a:graphic>
          <a:graphicData uri="http://schemas.openxmlformats.org/drawingml/2006/table">
            <a:tbl>
              <a:tblPr/>
              <a:tblGrid>
                <a:gridCol w="914400"/>
                <a:gridCol w="1828800"/>
                <a:gridCol w="3657600"/>
                <a:gridCol w="1828800"/>
              </a:tblGrid>
              <a:tr h="512064">
                <a:tc>
                  <a:txBody>
                    <a:bodyPr/>
                    <a:lstStyle/>
                    <a:p>
                      <a:pPr indent="0" marL="0">
                        <a:buNone/>
                      </a:pPr>
                      <a:r>
                        <a:rPr lang="en-US" sz="1000" b="1" dirty="0">
                          <a:solidFill>
                            <a:srgbClr val="FFFFFF"/>
                          </a:solidFill>
                        </a:rPr>
                        <a:t>层级</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组件</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核心职责</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关键接口/机制</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512064">
                <a:tc>
                  <a:txBody>
                    <a:bodyPr/>
                    <a:lstStyle/>
                    <a:p>
                      <a:pPr indent="0" marL="0">
                        <a:buNone/>
                      </a:pPr>
                      <a:r>
                        <a:rPr lang="en-US" sz="900" dirty="0">
                          <a:solidFill>
                            <a:srgbClr val="000000"/>
                          </a:solidFill>
                        </a:rPr>
                        <a:t>UI 层</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b="1" dirty="0">
                          <a:solidFill>
                            <a:srgbClr val="000000"/>
                          </a:solidFill>
                        </a:rPr>
                        <a:t>WdUI</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JSON 驱动 UI 渲染，控件事件触发，动态参数输入与结果展示</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ConfigContainer</a:t>
                      </a:r>
                      <a:endParaRPr lang="en-US" sz="800" dirty="0"/>
                    </a:p>
                    <a:p>
                      <a:pPr indent="0" marL="0">
                        <a:buNone/>
                      </a:pPr>
                      <a:r>
                        <a:rPr lang="en-US" sz="800" dirty="0">
                          <a:solidFill>
                            <a:srgbClr val="000000"/>
                          </a:solidFill>
                        </a:rPr>
                        <a:t>EventMediator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512064">
                <a:tc>
                  <a:txBody>
                    <a:bodyPr/>
                    <a:lstStyle/>
                    <a:p>
                      <a:pPr indent="0" marL="0">
                        <a:buNone/>
                      </a:pPr>
                      <a:r>
                        <a:rPr lang="en-US" sz="900" dirty="0">
                          <a:solidFill>
                            <a:srgbClr val="000000"/>
                          </a:solidFill>
                        </a:rPr>
                        <a:t>桥接层</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b="1" dirty="0">
                          <a:solidFill>
                            <a:srgbClr val="000000"/>
                          </a:solidFill>
                        </a:rPr>
                        <a:t>FunctionStorage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连接 UI 事件与函数执行，管理 JSON 工作流，多领域函数库注册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UIConnector</a:t>
                      </a:r>
                      <a:endParaRPr lang="en-US" sz="800" dirty="0"/>
                    </a:p>
                    <a:p>
                      <a:pPr indent="0" marL="0">
                        <a:buNone/>
                      </a:pPr>
                      <a:r>
                        <a:rPr lang="en-US" sz="800" dirty="0">
                          <a:solidFill>
                            <a:srgbClr val="000000"/>
                          </a:solidFill>
                        </a:rPr>
                        <a:t>WorkflowExecutionLayer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512064">
                <a:tc>
                  <a:txBody>
                    <a:bodyPr/>
                    <a:lstStyle/>
                    <a:p>
                      <a:pPr indent="0" marL="0">
                        <a:buNone/>
                      </a:pPr>
                      <a:r>
                        <a:rPr lang="en-US" sz="900" dirty="0">
                          <a:solidFill>
                            <a:srgbClr val="000000"/>
                          </a:solidFill>
                        </a:rPr>
                        <a:t>执行层</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b="1" dirty="0">
                          <a:solidFill>
                            <a:srgbClr val="000000"/>
                          </a:solidFill>
                        </a:rPr>
                        <a:t>FunctionExecution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函数注册、参数解析、委托调用，提供统一执行上下文</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IFunctionRegistry</a:t>
                      </a:r>
                      <a:endParaRPr lang="en-US" sz="800" dirty="0"/>
                    </a:p>
                    <a:p>
                      <a:pPr indent="0" marL="0">
                        <a:buNone/>
                      </a:pPr>
                      <a:r>
                        <a:rPr lang="en-US" sz="800" dirty="0">
                          <a:solidFill>
                            <a:srgbClr val="000000"/>
                          </a:solidFill>
                        </a:rPr>
                        <a:t>IWorkflowRegistry</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512064">
                <a:tc>
                  <a:txBody>
                    <a:bodyPr/>
                    <a:lstStyle/>
                    <a:p>
                      <a:pPr indent="0" marL="0">
                        <a:buNone/>
                      </a:pPr>
                      <a:r>
                        <a:rPr lang="en-US" sz="900" dirty="0">
                          <a:solidFill>
                            <a:srgbClr val="000000"/>
                          </a:solidFill>
                        </a:rPr>
                        <a:t>引擎层</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b="1" dirty="0">
                          <a:solidFill>
                            <a:srgbClr val="000000"/>
                          </a:solidFill>
                        </a:rPr>
                        <a:t>WorkFlowMethod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工作流编排、管线执行、运行时动态更新、LLM 驱动的循环决策</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PipelineExecutor</a:t>
                      </a:r>
                      <a:endParaRPr lang="en-US" sz="800" dirty="0"/>
                    </a:p>
                    <a:p>
                      <a:pPr indent="0" marL="0">
                        <a:buNone/>
                      </a:pPr>
                      <a:r>
                        <a:rPr lang="en-US" sz="800" dirty="0">
                          <a:solidFill>
                            <a:srgbClr val="000000"/>
                          </a:solidFill>
                        </a:rPr>
                        <a:t>LoopWorkflow</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749040"/>
            <a:ext cx="8229600" cy="457200"/>
          </a:xfrm>
          <a:prstGeom prst="rect">
            <a:avLst/>
          </a:prstGeom>
          <a:noFill/>
          <a:ln/>
        </p:spPr>
        <p:txBody>
          <a:bodyPr wrap="square" rtlCol="0" anchor="t"/>
          <a:lstStyle/>
          <a:p>
            <a:pPr algn="l" indent="0" marL="0">
              <a:lnSpc>
                <a:spcPct val="115000"/>
              </a:lnSpc>
              <a:buNone/>
            </a:pPr>
            <a:r>
              <a:rPr lang="en-US" sz="900" i="1" dirty="0">
                <a:solidFill>
                  <a:srgbClr val="6B7280"/>
                </a:solidFill>
                <a:latin typeface="Calibri" pitchFamily="34" charset="0"/>
                <a:ea typeface="Calibri" pitchFamily="34" charset="-122"/>
                <a:cs typeface="Calibri" pitchFamily="34" charset="-120"/>
              </a:rPr>
              <a:t>说明：依赖关系自底向上（底层不感知上层），事件/数据流自顶向下（用户操作触发，逐层传递处理）。</a:t>
            </a:r>
            <a:endParaRPr lang="en-US" sz="9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1.3 数据流全景</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Shape 2"/>
          <p:cNvSpPr/>
          <p:nvPr/>
        </p:nvSpPr>
        <p:spPr>
          <a:xfrm>
            <a:off x="457200" y="1188720"/>
            <a:ext cx="1298448" cy="1188720"/>
          </a:xfrm>
          <a:prstGeom prst="rect">
            <a:avLst/>
          </a:prstGeom>
          <a:solidFill>
            <a:srgbClr val="00A896"/>
          </a:solidFill>
          <a:ln w="6350">
            <a:solidFill>
              <a:srgbClr val="21295C"/>
            </a:solidFill>
            <a:prstDash val="solid"/>
          </a:ln>
        </p:spPr>
      </p:sp>
      <p:sp>
        <p:nvSpPr>
          <p:cNvPr id="5" name="Text 3"/>
          <p:cNvSpPr/>
          <p:nvPr/>
        </p:nvSpPr>
        <p:spPr>
          <a:xfrm>
            <a:off x="484632"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用户操作</a:t>
            </a:r>
            <a:endParaRPr lang="en-US" sz="900" dirty="0"/>
          </a:p>
          <a:p>
            <a:pPr algn="ctr" indent="0" marL="0">
              <a:buNone/>
            </a:pPr>
            <a:r>
              <a:rPr lang="en-US" sz="900" b="1" dirty="0">
                <a:solidFill>
                  <a:srgbClr val="FFFFFF"/>
                </a:solidFill>
              </a:rPr>
              <a:t>(点击/输入)</a:t>
            </a:r>
            <a:endParaRPr lang="en-US" sz="900" dirty="0"/>
          </a:p>
        </p:txBody>
      </p:sp>
      <p:sp>
        <p:nvSpPr>
          <p:cNvPr id="6" name="Shape 4"/>
          <p:cNvSpPr/>
          <p:nvPr/>
        </p:nvSpPr>
        <p:spPr>
          <a:xfrm>
            <a:off x="1764792" y="1600200"/>
            <a:ext cx="54864" cy="274320"/>
          </a:xfrm>
          <a:prstGeom prst="rightArrow">
            <a:avLst/>
          </a:prstGeom>
          <a:solidFill>
            <a:srgbClr val="6B7280"/>
          </a:solidFill>
          <a:ln/>
        </p:spPr>
      </p:sp>
      <p:sp>
        <p:nvSpPr>
          <p:cNvPr id="7" name="Shape 5"/>
          <p:cNvSpPr/>
          <p:nvPr/>
        </p:nvSpPr>
        <p:spPr>
          <a:xfrm>
            <a:off x="1847088" y="1188720"/>
            <a:ext cx="1298448" cy="1188720"/>
          </a:xfrm>
          <a:prstGeom prst="rect">
            <a:avLst/>
          </a:prstGeom>
          <a:solidFill>
            <a:srgbClr val="065A82"/>
          </a:solidFill>
          <a:ln w="6350">
            <a:solidFill>
              <a:srgbClr val="21295C"/>
            </a:solidFill>
            <a:prstDash val="solid"/>
          </a:ln>
        </p:spPr>
      </p:sp>
      <p:sp>
        <p:nvSpPr>
          <p:cNvPr id="8" name="Text 6"/>
          <p:cNvSpPr/>
          <p:nvPr/>
        </p:nvSpPr>
        <p:spPr>
          <a:xfrm>
            <a:off x="1874520"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WdUI</a:t>
            </a:r>
            <a:endParaRPr lang="en-US" sz="900" dirty="0"/>
          </a:p>
          <a:p>
            <a:pPr algn="ctr" indent="0" marL="0">
              <a:buNone/>
            </a:pPr>
            <a:r>
              <a:rPr lang="en-US" sz="900" b="1" dirty="0">
                <a:solidFill>
                  <a:srgbClr val="FFFFFF"/>
                </a:solidFill>
              </a:rPr>
              <a:t>控件事件</a:t>
            </a:r>
            <a:endParaRPr lang="en-US" sz="900" dirty="0"/>
          </a:p>
        </p:txBody>
      </p:sp>
      <p:sp>
        <p:nvSpPr>
          <p:cNvPr id="9" name="Shape 7"/>
          <p:cNvSpPr/>
          <p:nvPr/>
        </p:nvSpPr>
        <p:spPr>
          <a:xfrm>
            <a:off x="3154680" y="1600200"/>
            <a:ext cx="54864" cy="274320"/>
          </a:xfrm>
          <a:prstGeom prst="rightArrow">
            <a:avLst/>
          </a:prstGeom>
          <a:solidFill>
            <a:srgbClr val="6B7280"/>
          </a:solidFill>
          <a:ln/>
        </p:spPr>
      </p:sp>
      <p:sp>
        <p:nvSpPr>
          <p:cNvPr id="10" name="Shape 8"/>
          <p:cNvSpPr/>
          <p:nvPr/>
        </p:nvSpPr>
        <p:spPr>
          <a:xfrm>
            <a:off x="3236976" y="1188720"/>
            <a:ext cx="1298448" cy="1188720"/>
          </a:xfrm>
          <a:prstGeom prst="rect">
            <a:avLst/>
          </a:prstGeom>
          <a:solidFill>
            <a:srgbClr val="1C7293"/>
          </a:solidFill>
          <a:ln w="6350">
            <a:solidFill>
              <a:srgbClr val="21295C"/>
            </a:solidFill>
            <a:prstDash val="solid"/>
          </a:ln>
        </p:spPr>
      </p:sp>
      <p:sp>
        <p:nvSpPr>
          <p:cNvPr id="11" name="Text 9"/>
          <p:cNvSpPr/>
          <p:nvPr/>
        </p:nvSpPr>
        <p:spPr>
          <a:xfrm>
            <a:off x="3264408"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UIConnector</a:t>
            </a:r>
            <a:endParaRPr lang="en-US" sz="900" dirty="0"/>
          </a:p>
          <a:p>
            <a:pPr algn="ctr" indent="0" marL="0">
              <a:buNone/>
            </a:pPr>
            <a:r>
              <a:rPr lang="en-US" sz="900" b="1" dirty="0">
                <a:solidFill>
                  <a:srgbClr val="FFFFFF"/>
                </a:solidFill>
              </a:rPr>
              <a:t>(FunctionStorage)</a:t>
            </a:r>
            <a:endParaRPr lang="en-US" sz="900" dirty="0"/>
          </a:p>
          <a:p>
            <a:pPr algn="ctr" indent="0" marL="0">
              <a:buNone/>
            </a:pPr>
            <a:r>
              <a:rPr lang="en-US" sz="900" b="1" dirty="0">
                <a:solidFill>
                  <a:srgbClr val="FFFFFF"/>
                </a:solidFill>
              </a:rPr>
              <a:t>提取参数</a:t>
            </a:r>
            <a:endParaRPr lang="en-US" sz="900" dirty="0"/>
          </a:p>
        </p:txBody>
      </p:sp>
      <p:sp>
        <p:nvSpPr>
          <p:cNvPr id="12" name="Shape 10"/>
          <p:cNvSpPr/>
          <p:nvPr/>
        </p:nvSpPr>
        <p:spPr>
          <a:xfrm>
            <a:off x="4544568" y="1600200"/>
            <a:ext cx="54864" cy="274320"/>
          </a:xfrm>
          <a:prstGeom prst="rightArrow">
            <a:avLst/>
          </a:prstGeom>
          <a:solidFill>
            <a:srgbClr val="6B7280"/>
          </a:solidFill>
          <a:ln/>
        </p:spPr>
      </p:sp>
      <p:sp>
        <p:nvSpPr>
          <p:cNvPr id="13" name="Shape 11"/>
          <p:cNvSpPr/>
          <p:nvPr/>
        </p:nvSpPr>
        <p:spPr>
          <a:xfrm>
            <a:off x="4626864" y="1188720"/>
            <a:ext cx="1298448" cy="1188720"/>
          </a:xfrm>
          <a:prstGeom prst="rect">
            <a:avLst/>
          </a:prstGeom>
          <a:solidFill>
            <a:srgbClr val="0891B2"/>
          </a:solidFill>
          <a:ln w="6350">
            <a:solidFill>
              <a:srgbClr val="21295C"/>
            </a:solidFill>
            <a:prstDash val="solid"/>
          </a:ln>
        </p:spPr>
      </p:sp>
      <p:sp>
        <p:nvSpPr>
          <p:cNvPr id="14" name="Text 12"/>
          <p:cNvSpPr/>
          <p:nvPr/>
        </p:nvSpPr>
        <p:spPr>
          <a:xfrm>
            <a:off x="4654296"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FunctionExecution</a:t>
            </a:r>
            <a:endParaRPr lang="en-US" sz="900" dirty="0"/>
          </a:p>
          <a:p>
            <a:pPr algn="ctr" indent="0" marL="0">
              <a:buNone/>
            </a:pPr>
            <a:r>
              <a:rPr lang="en-US" sz="900" b="1" dirty="0">
                <a:solidFill>
                  <a:srgbClr val="FFFFFF"/>
                </a:solidFill>
              </a:rPr>
              <a:t>查找并执行函数</a:t>
            </a:r>
            <a:endParaRPr lang="en-US" sz="900" dirty="0"/>
          </a:p>
        </p:txBody>
      </p:sp>
      <p:sp>
        <p:nvSpPr>
          <p:cNvPr id="15" name="Shape 13"/>
          <p:cNvSpPr/>
          <p:nvPr/>
        </p:nvSpPr>
        <p:spPr>
          <a:xfrm>
            <a:off x="5934456" y="1600200"/>
            <a:ext cx="54864" cy="274320"/>
          </a:xfrm>
          <a:prstGeom prst="rightArrow">
            <a:avLst/>
          </a:prstGeom>
          <a:solidFill>
            <a:srgbClr val="6B7280"/>
          </a:solidFill>
          <a:ln/>
        </p:spPr>
      </p:sp>
      <p:sp>
        <p:nvSpPr>
          <p:cNvPr id="16" name="Shape 14"/>
          <p:cNvSpPr/>
          <p:nvPr/>
        </p:nvSpPr>
        <p:spPr>
          <a:xfrm>
            <a:off x="6016752" y="1188720"/>
            <a:ext cx="1298448" cy="1188720"/>
          </a:xfrm>
          <a:prstGeom prst="rect">
            <a:avLst/>
          </a:prstGeom>
          <a:solidFill>
            <a:srgbClr val="21295C"/>
          </a:solidFill>
          <a:ln w="6350">
            <a:solidFill>
              <a:srgbClr val="21295C"/>
            </a:solidFill>
            <a:prstDash val="solid"/>
          </a:ln>
        </p:spPr>
      </p:sp>
      <p:sp>
        <p:nvSpPr>
          <p:cNvPr id="17" name="Text 15"/>
          <p:cNvSpPr/>
          <p:nvPr/>
        </p:nvSpPr>
        <p:spPr>
          <a:xfrm>
            <a:off x="6044184"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WorkFlowMethod</a:t>
            </a:r>
            <a:endParaRPr lang="en-US" sz="900" dirty="0"/>
          </a:p>
          <a:p>
            <a:pPr algn="ctr" indent="0" marL="0">
              <a:buNone/>
            </a:pPr>
            <a:r>
              <a:rPr lang="en-US" sz="900" b="1" dirty="0">
                <a:solidFill>
                  <a:srgbClr val="FFFFFF"/>
                </a:solidFill>
              </a:rPr>
              <a:t>编排工作流管线</a:t>
            </a:r>
            <a:endParaRPr lang="en-US" sz="900" dirty="0"/>
          </a:p>
          <a:p>
            <a:pPr algn="ctr" indent="0" marL="0">
              <a:buNone/>
            </a:pPr>
            <a:r>
              <a:rPr lang="en-US" sz="900" b="1" dirty="0">
                <a:solidFill>
                  <a:srgbClr val="FFFFFF"/>
                </a:solidFill>
              </a:rPr>
              <a:t>(如需)</a:t>
            </a:r>
            <a:endParaRPr lang="en-US" sz="900" dirty="0"/>
          </a:p>
        </p:txBody>
      </p:sp>
      <p:sp>
        <p:nvSpPr>
          <p:cNvPr id="18" name="Shape 16"/>
          <p:cNvSpPr/>
          <p:nvPr/>
        </p:nvSpPr>
        <p:spPr>
          <a:xfrm>
            <a:off x="7324344" y="1600200"/>
            <a:ext cx="54864" cy="274320"/>
          </a:xfrm>
          <a:prstGeom prst="rightArrow">
            <a:avLst/>
          </a:prstGeom>
          <a:solidFill>
            <a:srgbClr val="6B7280"/>
          </a:solidFill>
          <a:ln/>
        </p:spPr>
      </p:sp>
      <p:sp>
        <p:nvSpPr>
          <p:cNvPr id="19" name="Shape 17"/>
          <p:cNvSpPr/>
          <p:nvPr/>
        </p:nvSpPr>
        <p:spPr>
          <a:xfrm>
            <a:off x="7406640" y="1188720"/>
            <a:ext cx="1298448" cy="1188720"/>
          </a:xfrm>
          <a:prstGeom prst="rect">
            <a:avLst/>
          </a:prstGeom>
          <a:solidFill>
            <a:srgbClr val="00A896"/>
          </a:solidFill>
          <a:ln w="6350">
            <a:solidFill>
              <a:srgbClr val="21295C"/>
            </a:solidFill>
            <a:prstDash val="solid"/>
          </a:ln>
        </p:spPr>
      </p:sp>
      <p:sp>
        <p:nvSpPr>
          <p:cNvPr id="20" name="Text 18"/>
          <p:cNvSpPr/>
          <p:nvPr/>
        </p:nvSpPr>
        <p:spPr>
          <a:xfrm>
            <a:off x="7434072" y="1280160"/>
            <a:ext cx="1243584" cy="1005840"/>
          </a:xfrm>
          <a:prstGeom prst="rect">
            <a:avLst/>
          </a:prstGeom>
          <a:noFill/>
          <a:ln/>
        </p:spPr>
        <p:txBody>
          <a:bodyPr wrap="square" rtlCol="0" anchor="ctr">
            <a:normAutofit/>
          </a:bodyPr>
          <a:lstStyle/>
          <a:p>
            <a:pPr algn="ctr" indent="0" marL="0">
              <a:buNone/>
            </a:pPr>
            <a:r>
              <a:rPr lang="en-US" sz="900" b="1" dirty="0">
                <a:solidFill>
                  <a:srgbClr val="FFFFFF"/>
                </a:solidFill>
              </a:rPr>
              <a:t>执行结果</a:t>
            </a:r>
            <a:endParaRPr lang="en-US" sz="900" dirty="0"/>
          </a:p>
          <a:p>
            <a:pPr algn="ctr" indent="0" marL="0">
              <a:buNone/>
            </a:pPr>
            <a:r>
              <a:rPr lang="en-US" sz="900" b="1" dirty="0">
                <a:solidFill>
                  <a:srgbClr val="FFFFFF"/>
                </a:solidFill>
              </a:rPr>
              <a:t>返回</a:t>
            </a:r>
            <a:endParaRPr lang="en-US" sz="900" dirty="0"/>
          </a:p>
        </p:txBody>
      </p:sp>
      <p:sp>
        <p:nvSpPr>
          <p:cNvPr id="21" name="Shape 19"/>
          <p:cNvSpPr/>
          <p:nvPr/>
        </p:nvSpPr>
        <p:spPr>
          <a:xfrm>
            <a:off x="8412480" y="2651760"/>
            <a:ext cx="-7680960" cy="0"/>
          </a:xfrm>
          <a:prstGeom prst="line">
            <a:avLst/>
          </a:prstGeom>
          <a:noFill/>
          <a:ln w="6350">
            <a:solidFill>
              <a:srgbClr val="6B7280"/>
            </a:solidFill>
            <a:prstDash val="dash"/>
          </a:ln>
        </p:spPr>
      </p:sp>
      <p:sp>
        <p:nvSpPr>
          <p:cNvPr id="22" name="Text 20"/>
          <p:cNvSpPr/>
          <p:nvPr/>
        </p:nvSpPr>
        <p:spPr>
          <a:xfrm>
            <a:off x="457200" y="2743200"/>
            <a:ext cx="8229600" cy="228600"/>
          </a:xfrm>
          <a:prstGeom prst="rect">
            <a:avLst/>
          </a:prstGeom>
          <a:noFill/>
          <a:ln/>
        </p:spPr>
        <p:txBody>
          <a:bodyPr wrap="square" rtlCol="0" anchor="ctr">
            <a:normAutofit/>
          </a:bodyPr>
          <a:lstStyle/>
          <a:p>
            <a:pPr algn="ctr" indent="0" marL="0">
              <a:buNone/>
            </a:pPr>
            <a:r>
              <a:rPr lang="en-US" sz="900" i="1" dirty="0">
                <a:solidFill>
                  <a:srgbClr val="6B7280"/>
                </a:solidFill>
              </a:rPr>
              <a:t>结果回写</a:t>
            </a:r>
            <a:endParaRPr lang="en-US" sz="900" dirty="0"/>
          </a:p>
        </p:txBody>
      </p:sp>
      <p:sp>
        <p:nvSpPr>
          <p:cNvPr id="23" name="Text 21"/>
          <p:cNvSpPr/>
          <p:nvPr/>
        </p:nvSpPr>
        <p:spPr>
          <a:xfrm>
            <a:off x="457200" y="2926080"/>
            <a:ext cx="8229600" cy="228600"/>
          </a:xfrm>
          <a:prstGeom prst="rect">
            <a:avLst/>
          </a:prstGeom>
          <a:noFill/>
          <a:ln/>
        </p:spPr>
        <p:txBody>
          <a:bodyPr wrap="square" rtlCol="0" anchor="ctr">
            <a:normAutofit/>
          </a:bodyPr>
          <a:lstStyle/>
          <a:p>
            <a:pPr algn="ctr" indent="0" marL="0">
              <a:buNone/>
            </a:pPr>
            <a:r>
              <a:rPr lang="en-US" sz="900" i="1" dirty="0">
                <a:solidFill>
                  <a:srgbClr val="6B7280"/>
                </a:solidFill>
              </a:rPr>
              <a:t>UIConnector 写回结果到 WdUI 控件 → 用户看到结果</a:t>
            </a:r>
            <a:endParaRPr lang="en-US" sz="900" dirty="0"/>
          </a:p>
        </p:txBody>
      </p:sp>
      <p:sp>
        <p:nvSpPr>
          <p:cNvPr id="24" name="Text 22"/>
          <p:cNvSpPr/>
          <p:nvPr/>
        </p:nvSpPr>
        <p:spPr>
          <a:xfrm>
            <a:off x="457200" y="3291840"/>
            <a:ext cx="8229600" cy="1645920"/>
          </a:xfrm>
          <a:prstGeom prst="rect">
            <a:avLst/>
          </a:prstGeom>
          <a:noFill/>
          <a:ln/>
        </p:spPr>
        <p:txBody>
          <a:bodyPr wrap="square" rtlCol="0" anchor="t"/>
          <a:lstStyle/>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用户操作 (点击/输入)</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WdUI 控件事件</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UIConnector (FunctionStorage) 提取参数</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FunctionExecution 查找并执行函数</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WorkFlowMethod 编排工作流管线 (如需)</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执行结果返回</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UIConnector 写回结果到 WdUI 控件</a:t>
            </a:r>
            <a:endParaRPr lang="en-US" sz="1000" dirty="0"/>
          </a:p>
          <a:p>
            <a:pPr algn="l" indent="0" marL="0">
              <a:lnSpc>
                <a:spcPct val="115000"/>
              </a:lnSpc>
              <a:buNone/>
            </a:pPr>
            <a:r>
              <a:rPr lang="en-US" sz="1000" dirty="0">
                <a:solidFill>
                  <a:srgbClr val="21295C"/>
                </a:solidFill>
                <a:latin typeface="Courier New" pitchFamily="34" charset="0"/>
                <a:ea typeface="Courier New" pitchFamily="34" charset="-122"/>
                <a:cs typeface="Courier New" pitchFamily="34" charset="-120"/>
              </a:rPr>
              <a:t>  → 用户看到结果</a:t>
            </a:r>
            <a:endParaRPr lang="en-US" sz="1000" dirty="0"/>
          </a:p>
        </p:txBody>
      </p:sp>
      <p:sp>
        <p:nvSpPr>
          <p:cNvPr id="2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WorkFlowMethod</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工作流引擎层 — 核心引擎详解</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2.1 WorkFlowMethod 概述</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7315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WorkFlowMethod 是 WorkFlow 体系的核心引擎层，提供从工作流定义、构建、执行到监控的全生命周期管理能力。它位于架构最底层，被 FunctionExecution 依赖，不直接感知上层组件。</a:t>
            </a:r>
            <a:endParaRPr lang="en-US" sz="1100" dirty="0"/>
          </a:p>
        </p:txBody>
      </p:sp>
      <p:sp>
        <p:nvSpPr>
          <p:cNvPr id="5" name="Text 3"/>
          <p:cNvSpPr/>
          <p:nvPr/>
        </p:nvSpPr>
        <p:spPr>
          <a:xfrm>
            <a:off x="457200" y="1737360"/>
            <a:ext cx="8229600" cy="7315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与传统的 BPMN 工作流框架（如 Camunda、Temporal）不同，WorkFlowMethod 的设计理念更接近 AI 驱动的智能工作流——通过 LLM 驱动的循环决策、运行时动态调整、配置即工作流等能力，实现高度灵活和自适应的业务流程编排。</a:t>
            </a:r>
            <a:endParaRPr lang="en-US" sz="1100" dirty="0"/>
          </a:p>
        </p:txBody>
      </p:sp>
      <p:sp>
        <p:nvSpPr>
          <p:cNvPr id="6" name="Text 4"/>
          <p:cNvSpPr/>
          <p:nvPr/>
        </p:nvSpPr>
        <p:spPr>
          <a:xfrm>
            <a:off x="457200" y="2651760"/>
            <a:ext cx="8229600" cy="27432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核心能力一览：</a:t>
            </a:r>
            <a:endParaRPr lang="en-US" sz="1100" dirty="0"/>
          </a:p>
        </p:txBody>
      </p:sp>
      <p:sp>
        <p:nvSpPr>
          <p:cNvPr id="7" name="Shape 5"/>
          <p:cNvSpPr/>
          <p:nvPr/>
        </p:nvSpPr>
        <p:spPr>
          <a:xfrm>
            <a:off x="548640" y="2971800"/>
            <a:ext cx="91440" cy="91440"/>
          </a:xfrm>
          <a:prstGeom prst="ellipse">
            <a:avLst/>
          </a:prstGeom>
          <a:solidFill>
            <a:srgbClr val="065A82"/>
          </a:solidFill>
          <a:ln/>
        </p:spPr>
      </p:sp>
      <p:sp>
        <p:nvSpPr>
          <p:cNvPr id="8" name="Text 6"/>
          <p:cNvSpPr/>
          <p:nvPr/>
        </p:nvSpPr>
        <p:spPr>
          <a:xfrm>
            <a:off x="731520" y="2926080"/>
            <a:ext cx="7315200" cy="228600"/>
          </a:xfrm>
          <a:prstGeom prst="rect">
            <a:avLst/>
          </a:prstGeom>
          <a:noFill/>
          <a:ln/>
        </p:spPr>
        <p:txBody>
          <a:bodyPr wrap="square" rtlCol="0" anchor="ctr">
            <a:normAutofit/>
          </a:bodyPr>
          <a:lstStyle/>
          <a:p>
            <a:pPr indent="0" marL="0">
              <a:buNone/>
            </a:pPr>
            <a:r>
              <a:rPr lang="en-US" sz="900" dirty="0">
                <a:solidFill>
                  <a:srgbClr val="21295C"/>
                </a:solidFill>
              </a:rPr>
              <a:t>工作流定义与构建（编程式 / JSON / 字符串）</a:t>
            </a:r>
            <a:endParaRPr lang="en-US" sz="900" dirty="0"/>
          </a:p>
        </p:txBody>
      </p:sp>
      <p:sp>
        <p:nvSpPr>
          <p:cNvPr id="9" name="Shape 7"/>
          <p:cNvSpPr/>
          <p:nvPr/>
        </p:nvSpPr>
        <p:spPr>
          <a:xfrm>
            <a:off x="548640" y="3218688"/>
            <a:ext cx="91440" cy="91440"/>
          </a:xfrm>
          <a:prstGeom prst="ellipse">
            <a:avLst/>
          </a:prstGeom>
          <a:solidFill>
            <a:srgbClr val="065A82"/>
          </a:solidFill>
          <a:ln/>
        </p:spPr>
      </p:sp>
      <p:sp>
        <p:nvSpPr>
          <p:cNvPr id="10" name="Text 8"/>
          <p:cNvSpPr/>
          <p:nvPr/>
        </p:nvSpPr>
        <p:spPr>
          <a:xfrm>
            <a:off x="731520" y="3172968"/>
            <a:ext cx="7315200" cy="228600"/>
          </a:xfrm>
          <a:prstGeom prst="rect">
            <a:avLst/>
          </a:prstGeom>
          <a:noFill/>
          <a:ln/>
        </p:spPr>
        <p:txBody>
          <a:bodyPr wrap="square" rtlCol="0" anchor="ctr">
            <a:normAutofit/>
          </a:bodyPr>
          <a:lstStyle/>
          <a:p>
            <a:pPr indent="0" marL="0">
              <a:buNone/>
            </a:pPr>
            <a:r>
              <a:rPr lang="en-US" sz="900" dirty="0">
                <a:solidFill>
                  <a:srgbClr val="21295C"/>
                </a:solidFill>
              </a:rPr>
              <a:t>管线化执行引擎（同步/异步、重试、超时）</a:t>
            </a:r>
            <a:endParaRPr lang="en-US" sz="900" dirty="0"/>
          </a:p>
        </p:txBody>
      </p:sp>
      <p:sp>
        <p:nvSpPr>
          <p:cNvPr id="11" name="Shape 9"/>
          <p:cNvSpPr/>
          <p:nvPr/>
        </p:nvSpPr>
        <p:spPr>
          <a:xfrm>
            <a:off x="548640" y="3465576"/>
            <a:ext cx="91440" cy="91440"/>
          </a:xfrm>
          <a:prstGeom prst="ellipse">
            <a:avLst/>
          </a:prstGeom>
          <a:solidFill>
            <a:srgbClr val="065A82"/>
          </a:solidFill>
          <a:ln/>
        </p:spPr>
      </p:sp>
      <p:sp>
        <p:nvSpPr>
          <p:cNvPr id="12" name="Text 10"/>
          <p:cNvSpPr/>
          <p:nvPr/>
        </p:nvSpPr>
        <p:spPr>
          <a:xfrm>
            <a:off x="731520" y="3419856"/>
            <a:ext cx="7315200" cy="228600"/>
          </a:xfrm>
          <a:prstGeom prst="rect">
            <a:avLst/>
          </a:prstGeom>
          <a:noFill/>
          <a:ln/>
        </p:spPr>
        <p:txBody>
          <a:bodyPr wrap="square" rtlCol="0" anchor="ctr">
            <a:normAutofit/>
          </a:bodyPr>
          <a:lstStyle/>
          <a:p>
            <a:pPr indent="0" marL="0">
              <a:buNone/>
            </a:pPr>
            <a:r>
              <a:rPr lang="en-US" sz="900" dirty="0">
                <a:solidFill>
                  <a:srgbClr val="21295C"/>
                </a:solidFill>
              </a:rPr>
              <a:t>文件驱动（配置即工作流）</a:t>
            </a:r>
            <a:endParaRPr lang="en-US" sz="900" dirty="0"/>
          </a:p>
        </p:txBody>
      </p:sp>
      <p:sp>
        <p:nvSpPr>
          <p:cNvPr id="13" name="Shape 11"/>
          <p:cNvSpPr/>
          <p:nvPr/>
        </p:nvSpPr>
        <p:spPr>
          <a:xfrm>
            <a:off x="548640" y="3712464"/>
            <a:ext cx="91440" cy="91440"/>
          </a:xfrm>
          <a:prstGeom prst="ellipse">
            <a:avLst/>
          </a:prstGeom>
          <a:solidFill>
            <a:srgbClr val="065A82"/>
          </a:solidFill>
          <a:ln/>
        </p:spPr>
      </p:sp>
      <p:sp>
        <p:nvSpPr>
          <p:cNvPr id="14" name="Text 12"/>
          <p:cNvSpPr/>
          <p:nvPr/>
        </p:nvSpPr>
        <p:spPr>
          <a:xfrm>
            <a:off x="731520" y="3666744"/>
            <a:ext cx="7315200" cy="228600"/>
          </a:xfrm>
          <a:prstGeom prst="rect">
            <a:avLst/>
          </a:prstGeom>
          <a:noFill/>
          <a:ln/>
        </p:spPr>
        <p:txBody>
          <a:bodyPr wrap="square" rtlCol="0" anchor="ctr">
            <a:normAutofit/>
          </a:bodyPr>
          <a:lstStyle/>
          <a:p>
            <a:pPr indent="0" marL="0">
              <a:buNone/>
            </a:pPr>
            <a:r>
              <a:rPr lang="en-US" sz="900" dirty="0">
                <a:solidFill>
                  <a:srgbClr val="21295C"/>
                </a:solidFill>
              </a:rPr>
              <a:t>运行时动态更新（插入/删除/替换/重定向）</a:t>
            </a:r>
            <a:endParaRPr lang="en-US" sz="900" dirty="0"/>
          </a:p>
        </p:txBody>
      </p:sp>
      <p:sp>
        <p:nvSpPr>
          <p:cNvPr id="15" name="Shape 13"/>
          <p:cNvSpPr/>
          <p:nvPr/>
        </p:nvSpPr>
        <p:spPr>
          <a:xfrm>
            <a:off x="548640" y="3959352"/>
            <a:ext cx="91440" cy="91440"/>
          </a:xfrm>
          <a:prstGeom prst="ellipse">
            <a:avLst/>
          </a:prstGeom>
          <a:solidFill>
            <a:srgbClr val="065A82"/>
          </a:solidFill>
          <a:ln/>
        </p:spPr>
      </p:sp>
      <p:sp>
        <p:nvSpPr>
          <p:cNvPr id="16" name="Text 14"/>
          <p:cNvSpPr/>
          <p:nvPr/>
        </p:nvSpPr>
        <p:spPr>
          <a:xfrm>
            <a:off x="731520" y="3913632"/>
            <a:ext cx="7315200" cy="228600"/>
          </a:xfrm>
          <a:prstGeom prst="rect">
            <a:avLst/>
          </a:prstGeom>
          <a:noFill/>
          <a:ln/>
        </p:spPr>
        <p:txBody>
          <a:bodyPr wrap="square" rtlCol="0" anchor="ctr">
            <a:normAutofit/>
          </a:bodyPr>
          <a:lstStyle/>
          <a:p>
            <a:pPr indent="0" marL="0">
              <a:buNone/>
            </a:pPr>
            <a:r>
              <a:rPr lang="en-US" sz="900" dirty="0">
                <a:solidFill>
                  <a:srgbClr val="21295C"/>
                </a:solidFill>
              </a:rPr>
              <a:t>图引擎统一（GraphFoundation 边体系）</a:t>
            </a:r>
            <a:endParaRPr lang="en-US" sz="900" dirty="0"/>
          </a:p>
        </p:txBody>
      </p:sp>
      <p:sp>
        <p:nvSpPr>
          <p:cNvPr id="17" name="Shape 15"/>
          <p:cNvSpPr/>
          <p:nvPr/>
        </p:nvSpPr>
        <p:spPr>
          <a:xfrm>
            <a:off x="548640" y="4206240"/>
            <a:ext cx="91440" cy="91440"/>
          </a:xfrm>
          <a:prstGeom prst="ellipse">
            <a:avLst/>
          </a:prstGeom>
          <a:solidFill>
            <a:srgbClr val="065A82"/>
          </a:solidFill>
          <a:ln/>
        </p:spPr>
      </p:sp>
      <p:sp>
        <p:nvSpPr>
          <p:cNvPr id="18" name="Text 16"/>
          <p:cNvSpPr/>
          <p:nvPr/>
        </p:nvSpPr>
        <p:spPr>
          <a:xfrm>
            <a:off x="731520" y="4160520"/>
            <a:ext cx="7315200" cy="228600"/>
          </a:xfrm>
          <a:prstGeom prst="rect">
            <a:avLst/>
          </a:prstGeom>
          <a:noFill/>
          <a:ln/>
        </p:spPr>
        <p:txBody>
          <a:bodyPr wrap="square" rtlCol="0" anchor="ctr">
            <a:normAutofit/>
          </a:bodyPr>
          <a:lstStyle/>
          <a:p>
            <a:pPr indent="0" marL="0">
              <a:buNone/>
            </a:pPr>
            <a:r>
              <a:rPr lang="en-US" sz="900" dirty="0">
                <a:solidFill>
                  <a:srgbClr val="21295C"/>
                </a:solidFill>
              </a:rPr>
              <a:t>预定义工作流模板（AI图像/代码/数据）</a:t>
            </a:r>
            <a:endParaRPr lang="en-US" sz="900" dirty="0"/>
          </a:p>
        </p:txBody>
      </p:sp>
      <p:sp>
        <p:nvSpPr>
          <p:cNvPr id="19" name="Shape 17"/>
          <p:cNvSpPr/>
          <p:nvPr/>
        </p:nvSpPr>
        <p:spPr>
          <a:xfrm>
            <a:off x="548640" y="4453128"/>
            <a:ext cx="91440" cy="91440"/>
          </a:xfrm>
          <a:prstGeom prst="ellipse">
            <a:avLst/>
          </a:prstGeom>
          <a:solidFill>
            <a:srgbClr val="065A82"/>
          </a:solidFill>
          <a:ln/>
        </p:spPr>
      </p:sp>
      <p:sp>
        <p:nvSpPr>
          <p:cNvPr id="20" name="Text 18"/>
          <p:cNvSpPr/>
          <p:nvPr/>
        </p:nvSpPr>
        <p:spPr>
          <a:xfrm>
            <a:off x="731520" y="4407408"/>
            <a:ext cx="7315200" cy="228600"/>
          </a:xfrm>
          <a:prstGeom prst="rect">
            <a:avLst/>
          </a:prstGeom>
          <a:noFill/>
          <a:ln/>
        </p:spPr>
        <p:txBody>
          <a:bodyPr wrap="square" rtlCol="0" anchor="ctr">
            <a:normAutofit/>
          </a:bodyPr>
          <a:lstStyle/>
          <a:p>
            <a:pPr indent="0" marL="0">
              <a:buNone/>
            </a:pPr>
            <a:r>
              <a:rPr lang="en-US" sz="900" dirty="0">
                <a:solidFill>
                  <a:srgbClr val="21295C"/>
                </a:solidFill>
              </a:rPr>
              <a:t>三层状态管理与上下文体系</a:t>
            </a:r>
            <a:endParaRPr lang="en-US" sz="900" dirty="0"/>
          </a:p>
        </p:txBody>
      </p:sp>
      <p:sp>
        <p:nvSpPr>
          <p:cNvPr id="21" name="Shape 19"/>
          <p:cNvSpPr/>
          <p:nvPr/>
        </p:nvSpPr>
        <p:spPr>
          <a:xfrm>
            <a:off x="548640" y="4700016"/>
            <a:ext cx="91440" cy="91440"/>
          </a:xfrm>
          <a:prstGeom prst="ellipse">
            <a:avLst/>
          </a:prstGeom>
          <a:solidFill>
            <a:srgbClr val="065A82"/>
          </a:solidFill>
          <a:ln/>
        </p:spPr>
      </p:sp>
      <p:sp>
        <p:nvSpPr>
          <p:cNvPr id="22" name="Text 20"/>
          <p:cNvSpPr/>
          <p:nvPr/>
        </p:nvSpPr>
        <p:spPr>
          <a:xfrm>
            <a:off x="731520" y="4654296"/>
            <a:ext cx="7315200" cy="228600"/>
          </a:xfrm>
          <a:prstGeom prst="rect">
            <a:avLst/>
          </a:prstGeom>
          <a:noFill/>
          <a:ln/>
        </p:spPr>
        <p:txBody>
          <a:bodyPr wrap="square" rtlCol="0" anchor="ctr">
            <a:normAutofit/>
          </a:bodyPr>
          <a:lstStyle/>
          <a:p>
            <a:pPr indent="0" marL="0">
              <a:buNone/>
            </a:pPr>
            <a:r>
              <a:rPr lang="en-US" sz="900" dirty="0">
                <a:solidFill>
                  <a:srgbClr val="21295C"/>
                </a:solidFill>
              </a:rPr>
              <a:t>LLM 驱动的循环工作流（LoopWorkflow）</a:t>
            </a:r>
            <a:endParaRPr lang="en-US" sz="900" dirty="0"/>
          </a:p>
        </p:txBody>
      </p:sp>
      <p:sp>
        <p:nvSpPr>
          <p:cNvPr id="2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2.2 工作流构建（三种方式）</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7432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WorkFlowMethod 提供了三种构建工作流的方式，分别对应不同的开发场景。</a:t>
            </a:r>
            <a:endParaRPr lang="en-US" sz="1000" dirty="0"/>
          </a:p>
        </p:txBody>
      </p:sp>
      <p:sp>
        <p:nvSpPr>
          <p:cNvPr id="5" name="Shape 3"/>
          <p:cNvSpPr/>
          <p:nvPr/>
        </p:nvSpPr>
        <p:spPr>
          <a:xfrm>
            <a:off x="457200" y="1280160"/>
            <a:ext cx="8229600" cy="320040"/>
          </a:xfrm>
          <a:prstGeom prst="rect">
            <a:avLst/>
          </a:prstGeom>
          <a:solidFill>
            <a:srgbClr val="065A82"/>
          </a:solidFill>
          <a:ln/>
        </p:spPr>
      </p:sp>
      <p:sp>
        <p:nvSpPr>
          <p:cNvPr id="6" name="Text 4"/>
          <p:cNvSpPr/>
          <p:nvPr/>
        </p:nvSpPr>
        <p:spPr>
          <a:xfrm>
            <a:off x="548640" y="1307592"/>
            <a:ext cx="8046720" cy="274320"/>
          </a:xfrm>
          <a:prstGeom prst="rect">
            <a:avLst/>
          </a:prstGeom>
          <a:noFill/>
          <a:ln/>
        </p:spPr>
        <p:txBody>
          <a:bodyPr wrap="square" rtlCol="0" anchor="ctr">
            <a:normAutofit/>
          </a:bodyPr>
          <a:lstStyle/>
          <a:p>
            <a:pPr indent="0" marL="0">
              <a:buNone/>
            </a:pPr>
            <a:r>
              <a:rPr lang="en-US" sz="1100" b="1" dirty="0">
                <a:solidFill>
                  <a:srgbClr val="FFFFFF"/>
                </a:solidFill>
              </a:rPr>
              <a:t>编程式构建 — 适用于复杂逻辑和需要编译期检查的场景</a:t>
            </a:r>
            <a:endParaRPr lang="en-US" sz="1100" dirty="0"/>
          </a:p>
        </p:txBody>
      </p:sp>
      <p:sp>
        <p:nvSpPr>
          <p:cNvPr id="7" name="Text 5"/>
          <p:cNvSpPr/>
          <p:nvPr/>
        </p:nvSpPr>
        <p:spPr>
          <a:xfrm>
            <a:off x="457200" y="1691640"/>
            <a:ext cx="8229600" cy="365760"/>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通过 WorkflowUseage.CreatePipeline() 创建管线构建器，链式调用 .AddStep() 添加步骤，最后 .Build() 完成构建：</a:t>
            </a:r>
            <a:endParaRPr lang="en-US" sz="900" dirty="0"/>
          </a:p>
        </p:txBody>
      </p:sp>
      <p:sp>
        <p:nvSpPr>
          <p:cNvPr id="8" name="Shape 6"/>
          <p:cNvSpPr/>
          <p:nvPr/>
        </p:nvSpPr>
        <p:spPr>
          <a:xfrm>
            <a:off x="457200" y="2103120"/>
            <a:ext cx="8229600" cy="640080"/>
          </a:xfrm>
          <a:prstGeom prst="rect">
            <a:avLst/>
          </a:prstGeom>
          <a:solidFill>
            <a:srgbClr val="1E293B"/>
          </a:solidFill>
          <a:ln/>
        </p:spPr>
      </p:sp>
      <p:sp>
        <p:nvSpPr>
          <p:cNvPr id="9" name="Text 7"/>
          <p:cNvSpPr/>
          <p:nvPr/>
        </p:nvSpPr>
        <p:spPr>
          <a:xfrm>
            <a:off x="548640" y="2176272"/>
            <a:ext cx="8046720" cy="49377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pipeline = WorkflowUseage.CreatePipeline("MyPipeline")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.AddStep("Step1", new Func&lt;int, int&gt;(x =&gt; x + 1))</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.AddStep("Step2", new Func&lt;int, int&gt;(x =&gt; x * 2))</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.Build();</a:t>
            </a:r>
            <a:endParaRPr lang="en-US" sz="800" dirty="0"/>
          </a:p>
        </p:txBody>
      </p:sp>
      <p:sp>
        <p:nvSpPr>
          <p:cNvPr id="10" name="Shape 8"/>
          <p:cNvSpPr/>
          <p:nvPr/>
        </p:nvSpPr>
        <p:spPr>
          <a:xfrm>
            <a:off x="457200" y="2880360"/>
            <a:ext cx="8229600" cy="320040"/>
          </a:xfrm>
          <a:prstGeom prst="rect">
            <a:avLst/>
          </a:prstGeom>
          <a:solidFill>
            <a:srgbClr val="1C7293"/>
          </a:solidFill>
          <a:ln/>
        </p:spPr>
      </p:sp>
      <p:sp>
        <p:nvSpPr>
          <p:cNvPr id="11" name="Text 9"/>
          <p:cNvSpPr/>
          <p:nvPr/>
        </p:nvSpPr>
        <p:spPr>
          <a:xfrm>
            <a:off x="548640" y="2907792"/>
            <a:ext cx="8046720" cy="274320"/>
          </a:xfrm>
          <a:prstGeom prst="rect">
            <a:avLst/>
          </a:prstGeom>
          <a:noFill/>
          <a:ln/>
        </p:spPr>
        <p:txBody>
          <a:bodyPr wrap="square" rtlCol="0" anchor="ctr">
            <a:normAutofit/>
          </a:bodyPr>
          <a:lstStyle/>
          <a:p>
            <a:pPr indent="0" marL="0">
              <a:buNone/>
            </a:pPr>
            <a:r>
              <a:rPr lang="en-US" sz="1100" b="1" dirty="0">
                <a:solidFill>
                  <a:srgbClr val="FFFFFF"/>
                </a:solidFill>
              </a:rPr>
              <a:t>JSON 文件加载 — 适用于配置驱动的场景，无需重新编译即可调整工作流</a:t>
            </a:r>
            <a:endParaRPr lang="en-US" sz="1100" dirty="0"/>
          </a:p>
        </p:txBody>
      </p:sp>
      <p:sp>
        <p:nvSpPr>
          <p:cNvPr id="12" name="Text 10"/>
          <p:cNvSpPr/>
          <p:nvPr/>
        </p:nvSpPr>
        <p:spPr>
          <a:xfrm>
            <a:off x="457200" y="3291840"/>
            <a:ext cx="8229600" cy="274320"/>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通过 WorkflowUseage.ExecuteFromFileAsync() 直接加载并执行 JSON 定义的管线：</a:t>
            </a:r>
            <a:endParaRPr lang="en-US" sz="900" dirty="0"/>
          </a:p>
        </p:txBody>
      </p:sp>
      <p:sp>
        <p:nvSpPr>
          <p:cNvPr id="13" name="Shape 11"/>
          <p:cNvSpPr/>
          <p:nvPr/>
        </p:nvSpPr>
        <p:spPr>
          <a:xfrm>
            <a:off x="457200" y="3611880"/>
            <a:ext cx="8229600" cy="320040"/>
          </a:xfrm>
          <a:prstGeom prst="rect">
            <a:avLst/>
          </a:prstGeom>
          <a:solidFill>
            <a:srgbClr val="1E293B"/>
          </a:solidFill>
          <a:ln/>
        </p:spPr>
      </p:sp>
      <p:sp>
        <p:nvSpPr>
          <p:cNvPr id="14" name="Text 12"/>
          <p:cNvSpPr/>
          <p:nvPr/>
        </p:nvSpPr>
        <p:spPr>
          <a:xfrm>
            <a:off x="548640" y="3685032"/>
            <a:ext cx="8046720" cy="17373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result = await WorkflowUseage.ExecuteFromFileAsync("workflow.json");</a:t>
            </a:r>
            <a:endParaRPr lang="en-US" sz="800" dirty="0"/>
          </a:p>
        </p:txBody>
      </p:sp>
      <p:sp>
        <p:nvSpPr>
          <p:cNvPr id="15" name="Shape 13"/>
          <p:cNvSpPr/>
          <p:nvPr/>
        </p:nvSpPr>
        <p:spPr>
          <a:xfrm>
            <a:off x="457200" y="4069080"/>
            <a:ext cx="8229600" cy="320040"/>
          </a:xfrm>
          <a:prstGeom prst="rect">
            <a:avLst/>
          </a:prstGeom>
          <a:solidFill>
            <a:srgbClr val="00A896"/>
          </a:solidFill>
          <a:ln/>
        </p:spPr>
      </p:sp>
      <p:sp>
        <p:nvSpPr>
          <p:cNvPr id="16" name="Text 14"/>
          <p:cNvSpPr/>
          <p:nvPr/>
        </p:nvSpPr>
        <p:spPr>
          <a:xfrm>
            <a:off x="548640" y="4096512"/>
            <a:ext cx="8046720" cy="274320"/>
          </a:xfrm>
          <a:prstGeom prst="rect">
            <a:avLst/>
          </a:prstGeom>
          <a:noFill/>
          <a:ln/>
        </p:spPr>
        <p:txBody>
          <a:bodyPr wrap="square" rtlCol="0" anchor="ctr">
            <a:normAutofit/>
          </a:bodyPr>
          <a:lstStyle/>
          <a:p>
            <a:pPr indent="0" marL="0">
              <a:buNone/>
            </a:pPr>
            <a:r>
              <a:rPr lang="en-US" sz="1100" b="1" dirty="0">
                <a:solidFill>
                  <a:srgbClr val="FFFFFF"/>
                </a:solidFill>
              </a:rPr>
              <a:t>简洁字符串定义 — 适用于快速原型和测试开发</a:t>
            </a:r>
            <a:endParaRPr lang="en-US" sz="1100" dirty="0"/>
          </a:p>
        </p:txBody>
      </p:sp>
      <p:sp>
        <p:nvSpPr>
          <p:cNvPr id="17" name="Text 15"/>
          <p:cNvSpPr/>
          <p:nvPr/>
        </p:nvSpPr>
        <p:spPr>
          <a:xfrm>
            <a:off x="457200" y="4480560"/>
            <a:ext cx="8229600" cy="457200"/>
          </a:xfrm>
          <a:prstGeom prst="rect">
            <a:avLst/>
          </a:prstGeom>
          <a:noFill/>
          <a:ln/>
        </p:spPr>
        <p:txBody>
          <a:bodyPr wrap="square" rtlCol="0" anchor="t"/>
          <a:lstStyle/>
          <a:p>
            <a:pPr algn="l" indent="0" marL="0">
              <a:lnSpc>
                <a:spcPct val="115000"/>
              </a:lnSpc>
              <a:buNone/>
            </a:pPr>
            <a:r>
              <a:rPr lang="en-US" sz="900" dirty="0">
                <a:solidFill>
                  <a:srgbClr val="6B7280"/>
                </a:solidFill>
                <a:latin typeface="Calibri" pitchFamily="34" charset="0"/>
                <a:ea typeface="Calibri" pitchFamily="34" charset="-122"/>
                <a:cs typeface="Calibri" pitchFamily="34" charset="-120"/>
              </a:rPr>
              <a:t>三种方式并非互斥，可以在同一个项目中混合使用：原型阶段用字符串快速验证，稳定后用 JSON 配置管理，核心逻辑用编程式构建确保类型安全。</a:t>
            </a:r>
            <a:endParaRPr lang="en-US" sz="9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2.3 管线化执行引擎</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36576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构建好的工作流通过 PipelineExecutor 执行。它支持同步/异步执行、异常重试和超时控制。</a:t>
            </a:r>
            <a:endParaRPr lang="en-US" sz="1100" dirty="0"/>
          </a:p>
        </p:txBody>
      </p:sp>
      <p:sp>
        <p:nvSpPr>
          <p:cNvPr id="5" name="Text 3"/>
          <p:cNvSpPr/>
          <p:nvPr/>
        </p:nvSpPr>
        <p:spPr>
          <a:xfrm>
            <a:off x="457200" y="137160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单步执行（适合快速验证某个函数）：</a:t>
            </a:r>
            <a:endParaRPr lang="en-US" sz="1000" dirty="0"/>
          </a:p>
        </p:txBody>
      </p:sp>
      <p:sp>
        <p:nvSpPr>
          <p:cNvPr id="6" name="Shape 4"/>
          <p:cNvSpPr/>
          <p:nvPr/>
        </p:nvSpPr>
        <p:spPr>
          <a:xfrm>
            <a:off x="457200" y="1645920"/>
            <a:ext cx="8229600" cy="502920"/>
          </a:xfrm>
          <a:prstGeom prst="rect">
            <a:avLst/>
          </a:prstGeom>
          <a:solidFill>
            <a:srgbClr val="1E293B"/>
          </a:solidFill>
          <a:ln/>
        </p:spPr>
      </p:sp>
      <p:sp>
        <p:nvSpPr>
          <p:cNvPr id="7" name="Text 5"/>
          <p:cNvSpPr/>
          <p:nvPr/>
        </p:nvSpPr>
        <p:spPr>
          <a:xfrm>
            <a:off x="548640" y="1719072"/>
            <a:ext cx="8046720" cy="35661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result = await WorkflowUseage.ExecuteStepAsync("Add",</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new Func&lt;int, int, int&gt;((a, b) =&gt; a + b), new object[] { 1, 2 });</a:t>
            </a:r>
            <a:endParaRPr lang="en-US" sz="800" dirty="0"/>
          </a:p>
        </p:txBody>
      </p:sp>
      <p:sp>
        <p:nvSpPr>
          <p:cNvPr id="8" name="Text 6"/>
          <p:cNvSpPr/>
          <p:nvPr/>
        </p:nvSpPr>
        <p:spPr>
          <a:xfrm>
            <a:off x="457200" y="228600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多步执行（适合批量处理多个步骤）：</a:t>
            </a:r>
            <a:endParaRPr lang="en-US" sz="1000" dirty="0"/>
          </a:p>
        </p:txBody>
      </p:sp>
      <p:sp>
        <p:nvSpPr>
          <p:cNvPr id="9" name="Shape 7"/>
          <p:cNvSpPr/>
          <p:nvPr/>
        </p:nvSpPr>
        <p:spPr>
          <a:xfrm>
            <a:off x="457200" y="2560320"/>
            <a:ext cx="8229600" cy="685800"/>
          </a:xfrm>
          <a:prstGeom prst="rect">
            <a:avLst/>
          </a:prstGeom>
          <a:solidFill>
            <a:srgbClr val="1E293B"/>
          </a:solidFill>
          <a:ln/>
        </p:spPr>
      </p:sp>
      <p:sp>
        <p:nvSpPr>
          <p:cNvPr id="10" name="Text 8"/>
          <p:cNvSpPr/>
          <p:nvPr/>
        </p:nvSpPr>
        <p:spPr>
          <a:xfrm>
            <a:off x="548640" y="2633472"/>
            <a:ext cx="8046720" cy="5394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multiResult = await WorkflowUseage.ExecuteStepsAsync(</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("Step1", new Func&lt;int, int&gt;(x =&gt; x + 1)),</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("Step2", new Func&lt;int, int&gt;(x =&gt; x * 2))</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11" name="Text 9"/>
          <p:cNvSpPr/>
          <p:nvPr/>
        </p:nvSpPr>
        <p:spPr>
          <a:xfrm>
            <a:off x="457200" y="3200400"/>
            <a:ext cx="8229600" cy="32004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PipelineExecutor 内部维护步骤间的数据传递，每个步骤的输出自动成为下一步的输入上下文的一部分。</a:t>
            </a:r>
            <a:endParaRPr lang="en-US" sz="1000" dirty="0"/>
          </a:p>
        </p:txBody>
      </p:sp>
      <p:sp>
        <p:nvSpPr>
          <p:cNvPr id="12" name="Text 10"/>
          <p:cNvSpPr/>
          <p:nvPr/>
        </p:nvSpPr>
        <p:spPr>
          <a:xfrm>
            <a:off x="457200" y="352044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2.4 文件驱动（配置即工作流）</a:t>
            </a:r>
            <a:endParaRPr lang="en-US" sz="1100" dirty="0"/>
          </a:p>
        </p:txBody>
      </p:sp>
      <p:sp>
        <p:nvSpPr>
          <p:cNvPr id="13" name="Text 11"/>
          <p:cNvSpPr/>
          <p:nvPr/>
        </p:nvSpPr>
        <p:spPr>
          <a:xfrm>
            <a:off x="457200" y="3794760"/>
            <a:ext cx="8229600" cy="137160"/>
          </a:xfrm>
          <a:prstGeom prst="rect">
            <a:avLst/>
          </a:prstGeom>
          <a:noFill/>
          <a:ln/>
        </p:spPr>
        <p:txBody>
          <a:bodyPr wrap="square" rtlCol="0" anchor="t"/>
          <a:lstStyle/>
          <a:p>
            <a:pPr algn="l" indent="0" marL="0">
              <a:lnSpc>
                <a:spcPct val="115000"/>
              </a:lnSpc>
              <a:buNone/>
            </a:pPr>
            <a:r>
              <a:rPr lang="en-US" sz="800" dirty="0">
                <a:solidFill>
                  <a:srgbClr val="21295C"/>
                </a:solidFill>
                <a:latin typeface="Calibri" pitchFamily="34" charset="0"/>
                <a:ea typeface="Calibri" pitchFamily="34" charset="-122"/>
                <a:cs typeface="Calibri" pitchFamily="34" charset="-120"/>
              </a:rPr>
              <a:t>WorkFlowMethod 支持从 JSON 文件加载管线定义并执行。此处的 JSON 格式是 WorkFlowMethod 自身的管线定义格式，与 FunctionStorage 的步骤式 JSON 工作流（见 §5.3）不同。</a:t>
            </a:r>
            <a:endParaRPr lang="en-US" sz="800" dirty="0"/>
          </a:p>
        </p:txBody>
      </p:sp>
      <p:sp>
        <p:nvSpPr>
          <p:cNvPr id="14" name="Shape 12"/>
          <p:cNvSpPr/>
          <p:nvPr/>
        </p:nvSpPr>
        <p:spPr>
          <a:xfrm>
            <a:off x="457200" y="3931920"/>
            <a:ext cx="8229600" cy="777240"/>
          </a:xfrm>
          <a:prstGeom prst="rect">
            <a:avLst/>
          </a:prstGeom>
          <a:solidFill>
            <a:srgbClr val="1E293B"/>
          </a:solidFill>
          <a:ln/>
        </p:spPr>
      </p:sp>
      <p:sp>
        <p:nvSpPr>
          <p:cNvPr id="15" name="Text 13"/>
          <p:cNvSpPr/>
          <p:nvPr/>
        </p:nvSpPr>
        <p:spPr>
          <a:xfrm>
            <a:off x="548640" y="4005072"/>
            <a:ext cx="8046720" cy="63093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"name": "MyPipeline",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"steps":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"name": "Step1", "useExplicitParameters": true, "parameters": [1, 2]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"name": "Step2", "useExplicitParameters": false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a:t>
            </a:r>
            <a:endParaRPr lang="en-US" sz="8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2.5 运行时动态更新</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3200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支持运行时动态调整工作流结构（插入、删除、替换、重定向节点），无需重启：</a:t>
            </a:r>
            <a:endParaRPr lang="en-US" sz="1100" dirty="0"/>
          </a:p>
        </p:txBody>
      </p:sp>
      <p:sp>
        <p:nvSpPr>
          <p:cNvPr id="5" name="Text 3"/>
          <p:cNvSpPr/>
          <p:nvPr/>
        </p:nvSpPr>
        <p:spPr>
          <a:xfrm>
            <a:off x="457200" y="132588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Symbol 定位插入子链（推荐方式）：</a:t>
            </a:r>
            <a:endParaRPr lang="en-US" sz="1000" dirty="0"/>
          </a:p>
        </p:txBody>
      </p:sp>
      <p:sp>
        <p:nvSpPr>
          <p:cNvPr id="6" name="Shape 4"/>
          <p:cNvSpPr/>
          <p:nvPr/>
        </p:nvSpPr>
        <p:spPr>
          <a:xfrm>
            <a:off x="457200" y="1600200"/>
            <a:ext cx="8229600" cy="1051560"/>
          </a:xfrm>
          <a:prstGeom prst="rect">
            <a:avLst/>
          </a:prstGeom>
          <a:solidFill>
            <a:srgbClr val="1E293B"/>
          </a:solidFill>
          <a:ln/>
        </p:spPr>
      </p:sp>
      <p:sp>
        <p:nvSpPr>
          <p:cNvPr id="7" name="Text 5"/>
          <p:cNvSpPr/>
          <p:nvPr/>
        </p:nvSpPr>
        <p:spPr>
          <a:xfrm>
            <a:off x="548640" y="1673352"/>
            <a:ext cx="8046720" cy="90525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directive = new InsertChainDirective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InsertAfterSymbol = "AIGenerateImage",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SymbolMatchMode = SymbolMatchMode.First,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ChainJsonConfigs = new List&lt;string&gt;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"[{\"Symbol\":\"ImagePostProcess\",...}]"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8" name="Text 6"/>
          <p:cNvSpPr/>
          <p:nvPr/>
        </p:nvSpPr>
        <p:spPr>
          <a:xfrm>
            <a:off x="457200" y="278892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复合更新：插入 + 删除</a:t>
            </a:r>
            <a:endParaRPr lang="en-US" sz="1000" dirty="0"/>
          </a:p>
        </p:txBody>
      </p:sp>
      <p:sp>
        <p:nvSpPr>
          <p:cNvPr id="9" name="Shape 7"/>
          <p:cNvSpPr/>
          <p:nvPr/>
        </p:nvSpPr>
        <p:spPr>
          <a:xfrm>
            <a:off x="457200" y="3063240"/>
            <a:ext cx="8229600" cy="1280160"/>
          </a:xfrm>
          <a:prstGeom prst="rect">
            <a:avLst/>
          </a:prstGeom>
          <a:solidFill>
            <a:srgbClr val="1E293B"/>
          </a:solidFill>
          <a:ln/>
        </p:spPr>
      </p:sp>
      <p:sp>
        <p:nvSpPr>
          <p:cNvPr id="10" name="Text 8"/>
          <p:cNvSpPr/>
          <p:nvPr/>
        </p:nvSpPr>
        <p:spPr>
          <a:xfrm>
            <a:off x="548640" y="3136392"/>
            <a:ext cx="8046720" cy="113385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composite = new CompositeDirective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Directives = new List&lt;GraphUpdateDirective&gt;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new InsertChainDirective { InsertAfterSymbol = "Setup", ...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new DeleteNodeDirective { NodeKey = "obsolete", ReconnectNeighbors = true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updatedChain = GraphWorkflowUpdater.ApplyGraphUpdate(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originalChain, new[] { composite });</a:t>
            </a:r>
            <a:endParaRPr lang="en-US" sz="800" dirty="0"/>
          </a:p>
        </p:txBody>
      </p:sp>
      <p:sp>
        <p:nvSpPr>
          <p:cNvPr id="11" name="Shape 9"/>
          <p:cNvSpPr/>
          <p:nvPr/>
        </p:nvSpPr>
        <p:spPr>
          <a:xfrm>
            <a:off x="457200" y="4480560"/>
            <a:ext cx="8229600" cy="365760"/>
          </a:xfrm>
          <a:prstGeom prst="rect">
            <a:avLst/>
          </a:prstGeom>
          <a:solidFill>
            <a:srgbClr val="00A896"/>
          </a:solidFill>
          <a:ln/>
        </p:spPr>
      </p:sp>
      <p:sp>
        <p:nvSpPr>
          <p:cNvPr id="12" name="Text 10"/>
          <p:cNvSpPr/>
          <p:nvPr/>
        </p:nvSpPr>
        <p:spPr>
          <a:xfrm>
            <a:off x="594360" y="4572000"/>
            <a:ext cx="7955280" cy="182880"/>
          </a:xfrm>
          <a:prstGeom prst="rect">
            <a:avLst/>
          </a:prstGeom>
          <a:noFill/>
          <a:ln/>
        </p:spPr>
        <p:txBody>
          <a:bodyPr wrap="square" rtlCol="0" anchor="ctr"/>
          <a:lstStyle/>
          <a:p>
            <a:pPr algn="ctr" indent="0" marL="0">
              <a:lnSpc>
                <a:spcPct val="115000"/>
              </a:lnSpc>
              <a:buNone/>
            </a:pPr>
            <a:r>
              <a:rPr lang="en-US" sz="1200" b="1" dirty="0">
                <a:solidFill>
                  <a:srgbClr val="21295C"/>
                </a:solidFill>
              </a:rPr>
              <a:t>无需重启 · 无需停服 · 无需手动同步平行数据结构</a:t>
            </a:r>
            <a:endParaRPr lang="en-US" sz="1200" dirty="0"/>
          </a:p>
        </p:txBody>
      </p:sp>
      <p:sp>
        <p:nvSpPr>
          <p:cNvPr id="1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2.6 图引擎统一</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36576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以 GraphFoundation 边体系作为节点连接关系的单一真实来源，消除平行指针系统：</a:t>
            </a:r>
            <a:endParaRPr lang="en-US" sz="1100" dirty="0"/>
          </a:p>
        </p:txBody>
      </p:sp>
      <p:sp>
        <p:nvSpPr>
          <p:cNvPr id="5" name="Shape 3"/>
          <p:cNvSpPr/>
          <p:nvPr/>
        </p:nvSpPr>
        <p:spPr>
          <a:xfrm>
            <a:off x="457200" y="1463040"/>
            <a:ext cx="3657600" cy="1371600"/>
          </a:xfrm>
          <a:prstGeom prst="rect">
            <a:avLst/>
          </a:prstGeom>
          <a:solidFill>
            <a:srgbClr val="FEE2E2"/>
          </a:solidFill>
          <a:ln w="12700">
            <a:solidFill>
              <a:srgbClr val="DC2626"/>
            </a:solidFill>
            <a:prstDash val="solid"/>
          </a:ln>
        </p:spPr>
      </p:sp>
      <p:sp>
        <p:nvSpPr>
          <p:cNvPr id="6" name="Text 4"/>
          <p:cNvSpPr/>
          <p:nvPr/>
        </p:nvSpPr>
        <p:spPr>
          <a:xfrm>
            <a:off x="640080" y="1508760"/>
            <a:ext cx="3200400" cy="274320"/>
          </a:xfrm>
          <a:prstGeom prst="rect">
            <a:avLst/>
          </a:prstGeom>
          <a:noFill/>
          <a:ln/>
        </p:spPr>
        <p:txBody>
          <a:bodyPr wrap="square" rtlCol="0" anchor="ctr">
            <a:normAutofit/>
          </a:bodyPr>
          <a:lstStyle/>
          <a:p>
            <a:pPr indent="0" marL="0">
              <a:buNone/>
            </a:pPr>
            <a:r>
              <a:rPr lang="en-US" sz="1200" b="1" dirty="0">
                <a:solidFill>
                  <a:srgbClr val="DC2626"/>
                </a:solidFill>
              </a:rPr>
              <a:t>旧架构</a:t>
            </a:r>
            <a:endParaRPr lang="en-US" sz="1200" dirty="0"/>
          </a:p>
        </p:txBody>
      </p:sp>
      <p:sp>
        <p:nvSpPr>
          <p:cNvPr id="7" name="Text 5"/>
          <p:cNvSpPr/>
          <p:nvPr/>
        </p:nvSpPr>
        <p:spPr>
          <a:xfrm>
            <a:off x="640080" y="1828800"/>
            <a:ext cx="3200400" cy="73152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NodeConfig.nextNodeConfig.NodeKey + Edge</a:t>
            </a:r>
            <a:endParaRPr lang="en-US" sz="1000" dirty="0"/>
          </a:p>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（两套系统，需手动同步）</a:t>
            </a:r>
            <a:endParaRPr lang="en-US" sz="1000" dirty="0"/>
          </a:p>
        </p:txBody>
      </p:sp>
      <p:sp>
        <p:nvSpPr>
          <p:cNvPr id="8" name="Shape 6"/>
          <p:cNvSpPr/>
          <p:nvPr/>
        </p:nvSpPr>
        <p:spPr>
          <a:xfrm>
            <a:off x="4343400" y="1920240"/>
            <a:ext cx="457200" cy="320040"/>
          </a:xfrm>
          <a:prstGeom prst="rightArrow">
            <a:avLst/>
          </a:prstGeom>
          <a:solidFill>
            <a:srgbClr val="065A82"/>
          </a:solidFill>
          <a:ln/>
        </p:spPr>
      </p:sp>
      <p:sp>
        <p:nvSpPr>
          <p:cNvPr id="9" name="Shape 7"/>
          <p:cNvSpPr/>
          <p:nvPr/>
        </p:nvSpPr>
        <p:spPr>
          <a:xfrm>
            <a:off x="5029200" y="1463040"/>
            <a:ext cx="3657600" cy="1371600"/>
          </a:xfrm>
          <a:prstGeom prst="rect">
            <a:avLst/>
          </a:prstGeom>
          <a:solidFill>
            <a:srgbClr val="D1FAE5"/>
          </a:solidFill>
          <a:ln w="12700">
            <a:solidFill>
              <a:srgbClr val="00A896"/>
            </a:solidFill>
            <a:prstDash val="solid"/>
          </a:ln>
        </p:spPr>
      </p:sp>
      <p:sp>
        <p:nvSpPr>
          <p:cNvPr id="10" name="Text 8"/>
          <p:cNvSpPr/>
          <p:nvPr/>
        </p:nvSpPr>
        <p:spPr>
          <a:xfrm>
            <a:off x="5212080" y="1508760"/>
            <a:ext cx="3200400" cy="274320"/>
          </a:xfrm>
          <a:prstGeom prst="rect">
            <a:avLst/>
          </a:prstGeom>
          <a:noFill/>
          <a:ln/>
        </p:spPr>
        <p:txBody>
          <a:bodyPr wrap="square" rtlCol="0" anchor="ctr">
            <a:normAutofit/>
          </a:bodyPr>
          <a:lstStyle/>
          <a:p>
            <a:pPr indent="0" marL="0">
              <a:buNone/>
            </a:pPr>
            <a:r>
              <a:rPr lang="en-US" sz="1200" b="1" dirty="0">
                <a:solidFill>
                  <a:srgbClr val="00A896"/>
                </a:solidFill>
              </a:rPr>
              <a:t>新架构</a:t>
            </a:r>
            <a:endParaRPr lang="en-US" sz="1200" dirty="0"/>
          </a:p>
        </p:txBody>
      </p:sp>
      <p:sp>
        <p:nvSpPr>
          <p:cNvPr id="11" name="Text 9"/>
          <p:cNvSpPr/>
          <p:nvPr/>
        </p:nvSpPr>
        <p:spPr>
          <a:xfrm>
            <a:off x="5212080" y="1828800"/>
            <a:ext cx="3200400" cy="73152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仅 Edge（GraphFoundation 边是唯一真实来源）</a:t>
            </a:r>
            <a:endParaRPr lang="en-US" sz="1000" dirty="0"/>
          </a:p>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NodeKey 标记为 [Obsolete]，仅作为序列化缓存</a:t>
            </a:r>
            <a:endParaRPr lang="en-US" sz="1000" dirty="0"/>
          </a:p>
        </p:txBody>
      </p:sp>
      <p:sp>
        <p:nvSpPr>
          <p:cNvPr id="12" name="Shape 10"/>
          <p:cNvSpPr/>
          <p:nvPr/>
        </p:nvSpPr>
        <p:spPr>
          <a:xfrm>
            <a:off x="457200" y="3108960"/>
            <a:ext cx="8229600" cy="640080"/>
          </a:xfrm>
          <a:prstGeom prst="rect">
            <a:avLst/>
          </a:prstGeom>
          <a:solidFill>
            <a:srgbClr val="21295C"/>
          </a:solidFill>
          <a:ln/>
        </p:spPr>
      </p:sp>
      <p:sp>
        <p:nvSpPr>
          <p:cNvPr id="13" name="Text 11"/>
          <p:cNvSpPr/>
          <p:nvPr/>
        </p:nvSpPr>
        <p:spPr>
          <a:xfrm>
            <a:off x="594360" y="3200400"/>
            <a:ext cx="7955280" cy="457200"/>
          </a:xfrm>
          <a:prstGeom prst="rect">
            <a:avLst/>
          </a:prstGeom>
          <a:noFill/>
          <a:ln/>
        </p:spPr>
        <p:txBody>
          <a:bodyPr wrap="square" rtlCol="0" anchor="ctr"/>
          <a:lstStyle/>
          <a:p>
            <a:pPr algn="l" indent="0" marL="0">
              <a:lnSpc>
                <a:spcPct val="115000"/>
              </a:lnSpc>
              <a:buNone/>
            </a:pPr>
            <a:r>
              <a:rPr lang="en-US" sz="1100" dirty="0">
                <a:solidFill>
                  <a:srgbClr val="FFFFFF"/>
                </a:solidFill>
              </a:rPr>
              <a:t>GraphFoundation 边体系作为节点连接关系的唯一真实来源，消除平行指针系统，成为脱离大模型也能独立运行的可靠操作基础。</a:t>
            </a:r>
            <a:endParaRPr lang="en-US" sz="11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2.7 预定义工作流模板</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743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内置丰富的预定义模板，覆盖多个 AI 应用场景：</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286000"/>
        </p:xfrm>
        <a:graphic>
          <a:graphicData uri="http://schemas.openxmlformats.org/drawingml/2006/table">
            <a:tbl>
              <a:tblPr/>
              <a:tblGrid>
                <a:gridCol w="1828800"/>
                <a:gridCol w="2743200"/>
                <a:gridCol w="3657600"/>
              </a:tblGrid>
              <a:tr h="381000">
                <a:tc>
                  <a:txBody>
                    <a:bodyPr/>
                    <a:lstStyle/>
                    <a:p>
                      <a:pPr indent="0" marL="0">
                        <a:buNone/>
                      </a:pPr>
                      <a:r>
                        <a:rPr lang="en-US" sz="1000" b="1" dirty="0">
                          <a:solidFill>
                            <a:srgbClr val="FFFFFF"/>
                          </a:solidFill>
                        </a:rPr>
                        <a:t>模板</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说明</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典型节点链</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381000">
                <a:tc>
                  <a:txBody>
                    <a:bodyPr/>
                    <a:lstStyle/>
                    <a:p>
                      <a:pPr indent="0" marL="0">
                        <a:buNone/>
                      </a:pPr>
                      <a:r>
                        <a:rPr lang="en-US" sz="900" b="1" dirty="0">
                          <a:solidFill>
                            <a:srgbClr val="000000"/>
                          </a:solidFill>
                        </a:rPr>
                        <a:t>AI 图像生成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从提示词生成图像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MergePrefix → WebInvoke → DonloadPhoto</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81000">
                <a:tc>
                  <a:txBody>
                    <a:bodyPr/>
                    <a:lstStyle/>
                    <a:p>
                      <a:pPr indent="0" marL="0">
                        <a:buNone/>
                      </a:pPr>
                      <a:r>
                        <a:rPr lang="en-US" sz="900" b="1" dirty="0">
                          <a:solidFill>
                            <a:srgbClr val="000000"/>
                          </a:solidFill>
                        </a:rPr>
                        <a:t>AI 代码生成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根据需求自动生成代码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PromptCommandParse → WebInvoke → CompileCheck → DynamicExcute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81000">
                <a:tc>
                  <a:txBody>
                    <a:bodyPr/>
                    <a:lstStyle/>
                    <a:p>
                      <a:pPr indent="0" marL="0">
                        <a:buNone/>
                      </a:pPr>
                      <a:r>
                        <a:rPr lang="en-US" sz="900" b="1" dirty="0">
                          <a:solidFill>
                            <a:srgbClr val="000000"/>
                          </a:solidFill>
                        </a:rPr>
                        <a:t>数据分析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数据处理和分析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MergePrefix → WebInvoke → DataAnalysis → DataConformity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81000">
                <a:tc>
                  <a:txBody>
                    <a:bodyPr/>
                    <a:lstStyle/>
                    <a:p>
                      <a:pPr indent="0" marL="0">
                        <a:buNone/>
                      </a:pPr>
                      <a:r>
                        <a:rPr lang="en-US" sz="900" b="1" dirty="0">
                          <a:solidFill>
                            <a:srgbClr val="000000"/>
                          </a:solidFill>
                        </a:rPr>
                        <a:t>数据存储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数据格式转换和持久化</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ToListDictionary → DataValueUpdate → DataValueRead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81000">
                <a:tc>
                  <a:txBody>
                    <a:bodyPr/>
                    <a:lstStyle/>
                    <a:p>
                      <a:pPr indent="0" marL="0">
                        <a:buNone/>
                      </a:pPr>
                      <a:r>
                        <a:rPr lang="en-US" sz="900" b="1" dirty="0">
                          <a:solidFill>
                            <a:srgbClr val="000000"/>
                          </a:solidFill>
                        </a:rPr>
                        <a:t>大模型调用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通用 LLM 调用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CodeInitial → WebInvoke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2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2.8 状态管理与上下文体系</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868680"/>
            <a:ext cx="8229600" cy="164592"/>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WorkFlow 体系包含三层执行上下文，分别服务于不同层级，形成清晰的继承链。</a:t>
            </a:r>
            <a:endParaRPr lang="en-US" sz="900" dirty="0"/>
          </a:p>
        </p:txBody>
      </p:sp>
      <p:sp>
        <p:nvSpPr>
          <p:cNvPr id="5" name="Shape 3"/>
          <p:cNvSpPr/>
          <p:nvPr/>
        </p:nvSpPr>
        <p:spPr>
          <a:xfrm>
            <a:off x="457200" y="1078992"/>
            <a:ext cx="8229600" cy="201168"/>
          </a:xfrm>
          <a:prstGeom prst="rect">
            <a:avLst/>
          </a:prstGeom>
          <a:solidFill>
            <a:srgbClr val="065A82"/>
          </a:solidFill>
          <a:ln/>
        </p:spPr>
      </p:sp>
      <p:sp>
        <p:nvSpPr>
          <p:cNvPr id="6" name="Text 4"/>
          <p:cNvSpPr/>
          <p:nvPr/>
        </p:nvSpPr>
        <p:spPr>
          <a:xfrm>
            <a:off x="548640" y="1088136"/>
            <a:ext cx="8046720" cy="182880"/>
          </a:xfrm>
          <a:prstGeom prst="rect">
            <a:avLst/>
          </a:prstGeom>
          <a:noFill/>
          <a:ln/>
        </p:spPr>
        <p:txBody>
          <a:bodyPr wrap="square" rtlCol="0" anchor="ctr">
            <a:normAutofit/>
          </a:bodyPr>
          <a:lstStyle/>
          <a:p>
            <a:pPr indent="0" marL="0">
              <a:buNone/>
            </a:pPr>
            <a:r>
              <a:rPr lang="en-US" sz="800" b="1" dirty="0">
                <a:solidFill>
                  <a:srgbClr val="FFFFFF"/>
                </a:solidFill>
              </a:rPr>
              <a:t>ExecutionContext — 最基础的上下文，位于 FunctionExecution 层</a:t>
            </a:r>
            <a:endParaRPr lang="en-US" sz="800" dirty="0"/>
          </a:p>
        </p:txBody>
      </p:sp>
      <p:sp>
        <p:nvSpPr>
          <p:cNvPr id="7" name="Shape 5"/>
          <p:cNvSpPr/>
          <p:nvPr/>
        </p:nvSpPr>
        <p:spPr>
          <a:xfrm>
            <a:off x="457200" y="1307592"/>
            <a:ext cx="8229600" cy="896112"/>
          </a:xfrm>
          <a:prstGeom prst="rect">
            <a:avLst/>
          </a:prstGeom>
          <a:solidFill>
            <a:srgbClr val="1E293B"/>
          </a:solidFill>
          <a:ln/>
        </p:spPr>
      </p:sp>
      <p:sp>
        <p:nvSpPr>
          <p:cNvPr id="8" name="Text 6"/>
          <p:cNvSpPr/>
          <p:nvPr/>
        </p:nvSpPr>
        <p:spPr>
          <a:xfrm>
            <a:off x="548640" y="1380744"/>
            <a:ext cx="8046720" cy="749808"/>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class ExecutionContext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string ExecutionId { get;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Dictionary&lt;string, object&gt; Items { get; }  // 共享数据</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CancellationToken CancellationToken { get;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9" name="Shape 7"/>
          <p:cNvSpPr/>
          <p:nvPr/>
        </p:nvSpPr>
        <p:spPr>
          <a:xfrm>
            <a:off x="457200" y="2249424"/>
            <a:ext cx="8229600" cy="201168"/>
          </a:xfrm>
          <a:prstGeom prst="rect">
            <a:avLst/>
          </a:prstGeom>
          <a:solidFill>
            <a:srgbClr val="1C7293"/>
          </a:solidFill>
          <a:ln/>
        </p:spPr>
      </p:sp>
      <p:sp>
        <p:nvSpPr>
          <p:cNvPr id="10" name="Text 8"/>
          <p:cNvSpPr/>
          <p:nvPr/>
        </p:nvSpPr>
        <p:spPr>
          <a:xfrm>
            <a:off x="548640" y="2258568"/>
            <a:ext cx="8046720" cy="182880"/>
          </a:xfrm>
          <a:prstGeom prst="rect">
            <a:avLst/>
          </a:prstGeom>
          <a:noFill/>
          <a:ln/>
        </p:spPr>
        <p:txBody>
          <a:bodyPr wrap="square" rtlCol="0" anchor="ctr">
            <a:normAutofit/>
          </a:bodyPr>
          <a:lstStyle/>
          <a:p>
            <a:pPr indent="0" marL="0">
              <a:buNone/>
            </a:pPr>
            <a:r>
              <a:rPr lang="en-US" sz="800" b="1" dirty="0">
                <a:solidFill>
                  <a:srgbClr val="FFFFFF"/>
                </a:solidFill>
              </a:rPr>
              <a:t>WorkflowContext — 继承 ExecutionContext，增加工作流相关的参数和节点信息</a:t>
            </a:r>
            <a:endParaRPr lang="en-US" sz="800" dirty="0"/>
          </a:p>
        </p:txBody>
      </p:sp>
      <p:sp>
        <p:nvSpPr>
          <p:cNvPr id="11" name="Shape 9"/>
          <p:cNvSpPr/>
          <p:nvPr/>
        </p:nvSpPr>
        <p:spPr>
          <a:xfrm>
            <a:off x="457200" y="2478024"/>
            <a:ext cx="8229600" cy="1170432"/>
          </a:xfrm>
          <a:prstGeom prst="rect">
            <a:avLst/>
          </a:prstGeom>
          <a:solidFill>
            <a:srgbClr val="1E293B"/>
          </a:solidFill>
          <a:ln/>
        </p:spPr>
      </p:sp>
      <p:sp>
        <p:nvSpPr>
          <p:cNvPr id="12" name="Text 10"/>
          <p:cNvSpPr/>
          <p:nvPr/>
        </p:nvSpPr>
        <p:spPr>
          <a:xfrm>
            <a:off x="548640" y="2551176"/>
            <a:ext cx="8046720" cy="1024128"/>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class WorkflowContext : ExecutionContext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Dictionary&lt;string, object&gt; Parameters { get;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string NodeKey { get; }       // 当前节点</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string WorkflowId { get; }    // 工作流标识</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T GetParameter&lt;T&gt;(int index);  T GetParameter&lt;T&gt;(string key);</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T GetData&lt;T&gt;(string key);  WorkflowContext CreateSubContext(string? nodeKey = null);</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13" name="Shape 11"/>
          <p:cNvSpPr/>
          <p:nvPr/>
        </p:nvSpPr>
        <p:spPr>
          <a:xfrm>
            <a:off x="457200" y="3675888"/>
            <a:ext cx="8229600" cy="201168"/>
          </a:xfrm>
          <a:prstGeom prst="rect">
            <a:avLst/>
          </a:prstGeom>
          <a:solidFill>
            <a:srgbClr val="00A896"/>
          </a:solidFill>
          <a:ln/>
        </p:spPr>
      </p:sp>
      <p:sp>
        <p:nvSpPr>
          <p:cNvPr id="14" name="Text 12"/>
          <p:cNvSpPr/>
          <p:nvPr/>
        </p:nvSpPr>
        <p:spPr>
          <a:xfrm>
            <a:off x="548640" y="3685032"/>
            <a:ext cx="8046720" cy="182880"/>
          </a:xfrm>
          <a:prstGeom prst="rect">
            <a:avLst/>
          </a:prstGeom>
          <a:noFill/>
          <a:ln/>
        </p:spPr>
        <p:txBody>
          <a:bodyPr wrap="square" rtlCol="0" anchor="ctr">
            <a:normAutofit/>
          </a:bodyPr>
          <a:lstStyle/>
          <a:p>
            <a:pPr indent="0" marL="0">
              <a:buNone/>
            </a:pPr>
            <a:r>
              <a:rPr lang="en-US" sz="800" b="1" dirty="0">
                <a:solidFill>
                  <a:srgbClr val="FFFFFF"/>
                </a:solidFill>
              </a:rPr>
              <a:t>TypedExecutionContext — 强类型版本，位于 WorkFlowMethod 层，支持断点续传与状态持久化</a:t>
            </a:r>
            <a:endParaRPr lang="en-US" sz="800" dirty="0"/>
          </a:p>
        </p:txBody>
      </p:sp>
      <p:sp>
        <p:nvSpPr>
          <p:cNvPr id="15" name="Shape 13"/>
          <p:cNvSpPr/>
          <p:nvPr/>
        </p:nvSpPr>
        <p:spPr>
          <a:xfrm>
            <a:off x="457200" y="3904488"/>
            <a:ext cx="8229600" cy="832104"/>
          </a:xfrm>
          <a:prstGeom prst="rect">
            <a:avLst/>
          </a:prstGeom>
          <a:solidFill>
            <a:srgbClr val="1E293B"/>
          </a:solidFill>
          <a:ln/>
        </p:spPr>
      </p:sp>
      <p:sp>
        <p:nvSpPr>
          <p:cNvPr id="16" name="Text 14"/>
          <p:cNvSpPr/>
          <p:nvPr/>
        </p:nvSpPr>
        <p:spPr>
          <a:xfrm>
            <a:off x="548640" y="3977640"/>
            <a:ext cx="8046720" cy="685800"/>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class TypedExecutionContext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T? Get&lt;T&gt;(string key) where T : class;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T GetRequired&lt;T&gt;(string key) where T : class;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void Set&lt;T&gt;(string key, T? value);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2.8 三层上下文关系</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743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三层上下文的关系可以这样理解：</a:t>
            </a:r>
            <a:endParaRPr lang="en-US" sz="1100" dirty="0"/>
          </a:p>
        </p:txBody>
      </p:sp>
      <p:sp>
        <p:nvSpPr>
          <p:cNvPr id="5" name="Shape 3"/>
          <p:cNvSpPr/>
          <p:nvPr/>
        </p:nvSpPr>
        <p:spPr>
          <a:xfrm>
            <a:off x="457200" y="1371600"/>
            <a:ext cx="2621280" cy="2926080"/>
          </a:xfrm>
          <a:prstGeom prst="rect">
            <a:avLst/>
          </a:prstGeom>
          <a:solidFill>
            <a:srgbClr val="F8FAFC"/>
          </a:solidFill>
          <a:ln w="19050">
            <a:solidFill>
              <a:srgbClr val="065A82"/>
            </a:solidFill>
            <a:prstDash val="solid"/>
          </a:ln>
        </p:spPr>
      </p:sp>
      <p:sp>
        <p:nvSpPr>
          <p:cNvPr id="6" name="Shape 4"/>
          <p:cNvSpPr/>
          <p:nvPr/>
        </p:nvSpPr>
        <p:spPr>
          <a:xfrm>
            <a:off x="457200" y="1371600"/>
            <a:ext cx="2621280" cy="411480"/>
          </a:xfrm>
          <a:prstGeom prst="rect">
            <a:avLst/>
          </a:prstGeom>
          <a:solidFill>
            <a:srgbClr val="065A82"/>
          </a:solidFill>
          <a:ln/>
        </p:spPr>
      </p:sp>
      <p:sp>
        <p:nvSpPr>
          <p:cNvPr id="7" name="Text 5"/>
          <p:cNvSpPr/>
          <p:nvPr/>
        </p:nvSpPr>
        <p:spPr>
          <a:xfrm>
            <a:off x="502920" y="1399032"/>
            <a:ext cx="2529840" cy="365760"/>
          </a:xfrm>
          <a:prstGeom prst="rect">
            <a:avLst/>
          </a:prstGeom>
          <a:noFill/>
          <a:ln/>
        </p:spPr>
        <p:txBody>
          <a:bodyPr wrap="square" rtlCol="0" anchor="ctr">
            <a:normAutofit/>
          </a:bodyPr>
          <a:lstStyle/>
          <a:p>
            <a:pPr indent="0" marL="0">
              <a:buNone/>
            </a:pPr>
            <a:r>
              <a:rPr lang="en-US" sz="1000" b="1" dirty="0">
                <a:solidFill>
                  <a:srgbClr val="FFFFFF"/>
                </a:solidFill>
              </a:rPr>
              <a:t>ExecutionContext</a:t>
            </a:r>
            <a:endParaRPr lang="en-US" sz="1000" dirty="0"/>
          </a:p>
        </p:txBody>
      </p:sp>
      <p:sp>
        <p:nvSpPr>
          <p:cNvPr id="8" name="Text 6"/>
          <p:cNvSpPr/>
          <p:nvPr/>
        </p:nvSpPr>
        <p:spPr>
          <a:xfrm>
            <a:off x="548640" y="1920240"/>
            <a:ext cx="2438400" cy="365760"/>
          </a:xfrm>
          <a:prstGeom prst="rect">
            <a:avLst/>
          </a:prstGeom>
          <a:noFill/>
          <a:ln/>
        </p:spPr>
        <p:txBody>
          <a:bodyPr wrap="square" rtlCol="0" anchor="ctr">
            <a:normAutofit/>
          </a:bodyPr>
          <a:lstStyle/>
          <a:p>
            <a:pPr algn="ctr" indent="0" marL="0">
              <a:buNone/>
            </a:pPr>
            <a:r>
              <a:rPr lang="en-US" sz="1200" b="1" dirty="0">
                <a:solidFill>
                  <a:srgbClr val="065A82"/>
                </a:solidFill>
              </a:rPr>
              <a:t>"基础工作台"</a:t>
            </a:r>
            <a:endParaRPr lang="en-US" sz="1200" dirty="0"/>
          </a:p>
        </p:txBody>
      </p:sp>
      <p:sp>
        <p:nvSpPr>
          <p:cNvPr id="9" name="Text 7"/>
          <p:cNvSpPr/>
          <p:nvPr/>
        </p:nvSpPr>
        <p:spPr>
          <a:xfrm>
            <a:off x="548640" y="2377440"/>
            <a:ext cx="2438400" cy="1645920"/>
          </a:xfrm>
          <a:prstGeom prst="rect">
            <a:avLst/>
          </a:prstGeom>
          <a:noFill/>
          <a:ln/>
        </p:spPr>
        <p:txBody>
          <a:bodyPr wrap="square" rtlCol="0" anchor="ctr">
            <a:normAutofit/>
          </a:bodyPr>
          <a:lstStyle/>
          <a:p>
            <a:pPr algn="ctr" indent="0" marL="0">
              <a:buNone/>
            </a:pPr>
            <a:r>
              <a:rPr lang="en-US" sz="900" dirty="0">
                <a:solidFill>
                  <a:srgbClr val="21295C"/>
                </a:solidFill>
              </a:rPr>
              <a:t>提供最通用的能力：执行标识、共享数据、取消令牌</a:t>
            </a:r>
            <a:endParaRPr lang="en-US" sz="900" dirty="0"/>
          </a:p>
        </p:txBody>
      </p:sp>
      <p:sp>
        <p:nvSpPr>
          <p:cNvPr id="10" name="Shape 8"/>
          <p:cNvSpPr/>
          <p:nvPr/>
        </p:nvSpPr>
        <p:spPr>
          <a:xfrm>
            <a:off x="3261360" y="1371600"/>
            <a:ext cx="2621280" cy="2926080"/>
          </a:xfrm>
          <a:prstGeom prst="rect">
            <a:avLst/>
          </a:prstGeom>
          <a:solidFill>
            <a:srgbClr val="F8FAFC"/>
          </a:solidFill>
          <a:ln w="19050">
            <a:solidFill>
              <a:srgbClr val="1C7293"/>
            </a:solidFill>
            <a:prstDash val="solid"/>
          </a:ln>
        </p:spPr>
      </p:sp>
      <p:sp>
        <p:nvSpPr>
          <p:cNvPr id="11" name="Shape 9"/>
          <p:cNvSpPr/>
          <p:nvPr/>
        </p:nvSpPr>
        <p:spPr>
          <a:xfrm>
            <a:off x="3261360" y="1371600"/>
            <a:ext cx="2621280" cy="411480"/>
          </a:xfrm>
          <a:prstGeom prst="rect">
            <a:avLst/>
          </a:prstGeom>
          <a:solidFill>
            <a:srgbClr val="1C7293"/>
          </a:solidFill>
          <a:ln/>
        </p:spPr>
      </p:sp>
      <p:sp>
        <p:nvSpPr>
          <p:cNvPr id="12" name="Text 10"/>
          <p:cNvSpPr/>
          <p:nvPr/>
        </p:nvSpPr>
        <p:spPr>
          <a:xfrm>
            <a:off x="3307080" y="1399032"/>
            <a:ext cx="2529840" cy="365760"/>
          </a:xfrm>
          <a:prstGeom prst="rect">
            <a:avLst/>
          </a:prstGeom>
          <a:noFill/>
          <a:ln/>
        </p:spPr>
        <p:txBody>
          <a:bodyPr wrap="square" rtlCol="0" anchor="ctr">
            <a:normAutofit/>
          </a:bodyPr>
          <a:lstStyle/>
          <a:p>
            <a:pPr indent="0" marL="0">
              <a:buNone/>
            </a:pPr>
            <a:r>
              <a:rPr lang="en-US" sz="1000" b="1" dirty="0">
                <a:solidFill>
                  <a:srgbClr val="FFFFFF"/>
                </a:solidFill>
              </a:rPr>
              <a:t>WorkflowContext</a:t>
            </a:r>
            <a:endParaRPr lang="en-US" sz="1000" dirty="0"/>
          </a:p>
        </p:txBody>
      </p:sp>
      <p:sp>
        <p:nvSpPr>
          <p:cNvPr id="13" name="Text 11"/>
          <p:cNvSpPr/>
          <p:nvPr/>
        </p:nvSpPr>
        <p:spPr>
          <a:xfrm>
            <a:off x="3352800" y="1920240"/>
            <a:ext cx="2438400" cy="365760"/>
          </a:xfrm>
          <a:prstGeom prst="rect">
            <a:avLst/>
          </a:prstGeom>
          <a:noFill/>
          <a:ln/>
        </p:spPr>
        <p:txBody>
          <a:bodyPr wrap="square" rtlCol="0" anchor="ctr">
            <a:normAutofit/>
          </a:bodyPr>
          <a:lstStyle/>
          <a:p>
            <a:pPr algn="ctr" indent="0" marL="0">
              <a:buNone/>
            </a:pPr>
            <a:r>
              <a:rPr lang="en-US" sz="1200" b="1" dirty="0">
                <a:solidFill>
                  <a:srgbClr val="1C7293"/>
                </a:solidFill>
              </a:rPr>
              <a:t>"工作流工位"</a:t>
            </a:r>
            <a:endParaRPr lang="en-US" sz="1200" dirty="0"/>
          </a:p>
        </p:txBody>
      </p:sp>
      <p:sp>
        <p:nvSpPr>
          <p:cNvPr id="14" name="Text 12"/>
          <p:cNvSpPr/>
          <p:nvPr/>
        </p:nvSpPr>
        <p:spPr>
          <a:xfrm>
            <a:off x="3352800" y="2377440"/>
            <a:ext cx="2438400" cy="1645920"/>
          </a:xfrm>
          <a:prstGeom prst="rect">
            <a:avLst/>
          </a:prstGeom>
          <a:noFill/>
          <a:ln/>
        </p:spPr>
        <p:txBody>
          <a:bodyPr wrap="square" rtlCol="0" anchor="ctr">
            <a:normAutofit/>
          </a:bodyPr>
          <a:lstStyle/>
          <a:p>
            <a:pPr algn="ctr" indent="0" marL="0">
              <a:buNone/>
            </a:pPr>
            <a:r>
              <a:rPr lang="en-US" sz="900" dirty="0">
                <a:solidFill>
                  <a:srgbClr val="21295C"/>
                </a:solidFill>
              </a:rPr>
              <a:t>在工作台基础上增加了工作流专属的工具：函数参数、节点信息、工作流标识</a:t>
            </a:r>
            <a:endParaRPr lang="en-US" sz="900" dirty="0"/>
          </a:p>
        </p:txBody>
      </p:sp>
      <p:sp>
        <p:nvSpPr>
          <p:cNvPr id="15" name="Shape 13"/>
          <p:cNvSpPr/>
          <p:nvPr/>
        </p:nvSpPr>
        <p:spPr>
          <a:xfrm>
            <a:off x="6065520" y="1371600"/>
            <a:ext cx="2621280" cy="2926080"/>
          </a:xfrm>
          <a:prstGeom prst="rect">
            <a:avLst/>
          </a:prstGeom>
          <a:solidFill>
            <a:srgbClr val="F8FAFC"/>
          </a:solidFill>
          <a:ln w="19050">
            <a:solidFill>
              <a:srgbClr val="00A896"/>
            </a:solidFill>
            <a:prstDash val="solid"/>
          </a:ln>
        </p:spPr>
      </p:sp>
      <p:sp>
        <p:nvSpPr>
          <p:cNvPr id="16" name="Shape 14"/>
          <p:cNvSpPr/>
          <p:nvPr/>
        </p:nvSpPr>
        <p:spPr>
          <a:xfrm>
            <a:off x="6065520" y="1371600"/>
            <a:ext cx="2621280" cy="411480"/>
          </a:xfrm>
          <a:prstGeom prst="rect">
            <a:avLst/>
          </a:prstGeom>
          <a:solidFill>
            <a:srgbClr val="00A896"/>
          </a:solidFill>
          <a:ln/>
        </p:spPr>
      </p:sp>
      <p:sp>
        <p:nvSpPr>
          <p:cNvPr id="17" name="Text 15"/>
          <p:cNvSpPr/>
          <p:nvPr/>
        </p:nvSpPr>
        <p:spPr>
          <a:xfrm>
            <a:off x="6111240" y="1399032"/>
            <a:ext cx="2529840" cy="365760"/>
          </a:xfrm>
          <a:prstGeom prst="rect">
            <a:avLst/>
          </a:prstGeom>
          <a:noFill/>
          <a:ln/>
        </p:spPr>
        <p:txBody>
          <a:bodyPr wrap="square" rtlCol="0" anchor="ctr">
            <a:normAutofit/>
          </a:bodyPr>
          <a:lstStyle/>
          <a:p>
            <a:pPr indent="0" marL="0">
              <a:buNone/>
            </a:pPr>
            <a:r>
              <a:rPr lang="en-US" sz="1000" b="1" dirty="0">
                <a:solidFill>
                  <a:srgbClr val="FFFFFF"/>
                </a:solidFill>
              </a:rPr>
              <a:t>TypedExecutionContext</a:t>
            </a:r>
            <a:endParaRPr lang="en-US" sz="1000" dirty="0"/>
          </a:p>
        </p:txBody>
      </p:sp>
      <p:sp>
        <p:nvSpPr>
          <p:cNvPr id="18" name="Text 16"/>
          <p:cNvSpPr/>
          <p:nvPr/>
        </p:nvSpPr>
        <p:spPr>
          <a:xfrm>
            <a:off x="6156960" y="1920240"/>
            <a:ext cx="2438400" cy="365760"/>
          </a:xfrm>
          <a:prstGeom prst="rect">
            <a:avLst/>
          </a:prstGeom>
          <a:noFill/>
          <a:ln/>
        </p:spPr>
        <p:txBody>
          <a:bodyPr wrap="square" rtlCol="0" anchor="ctr">
            <a:normAutofit/>
          </a:bodyPr>
          <a:lstStyle/>
          <a:p>
            <a:pPr algn="ctr" indent="0" marL="0">
              <a:buNone/>
            </a:pPr>
            <a:r>
              <a:rPr lang="en-US" sz="1200" b="1" dirty="0">
                <a:solidFill>
                  <a:srgbClr val="00A896"/>
                </a:solidFill>
              </a:rPr>
              <a:t>"精密仪器台"</a:t>
            </a:r>
            <a:endParaRPr lang="en-US" sz="1200" dirty="0"/>
          </a:p>
        </p:txBody>
      </p:sp>
      <p:sp>
        <p:nvSpPr>
          <p:cNvPr id="19" name="Text 17"/>
          <p:cNvSpPr/>
          <p:nvPr/>
        </p:nvSpPr>
        <p:spPr>
          <a:xfrm>
            <a:off x="6156960" y="2377440"/>
            <a:ext cx="2438400" cy="1645920"/>
          </a:xfrm>
          <a:prstGeom prst="rect">
            <a:avLst/>
          </a:prstGeom>
          <a:noFill/>
          <a:ln/>
        </p:spPr>
        <p:txBody>
          <a:bodyPr wrap="square" rtlCol="0" anchor="ctr">
            <a:normAutofit/>
          </a:bodyPr>
          <a:lstStyle/>
          <a:p>
            <a:pPr algn="ctr" indent="0" marL="0">
              <a:buNone/>
            </a:pPr>
            <a:r>
              <a:rPr lang="en-US" sz="900" dirty="0">
                <a:solidFill>
                  <a:srgbClr val="21295C"/>
                </a:solidFill>
              </a:rPr>
              <a:t>在工位基础上增加了类型安全和断点续传能力：泛型 Get/Set、状态持久化</a:t>
            </a:r>
            <a:endParaRPr lang="en-US" sz="900" dirty="0"/>
          </a:p>
        </p:txBody>
      </p:sp>
      <p:sp>
        <p:nvSpPr>
          <p:cNvPr id="2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2.9 LLM 驱动的循环工作流（LoopWorkflow）</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743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借鉴 Cline 的“主循环 + 工具调用”模式，设计了 LLM 驱动的循环工作流：</a:t>
            </a:r>
            <a:endParaRPr lang="en-US" sz="1100" dirty="0"/>
          </a:p>
        </p:txBody>
      </p:sp>
      <p:sp>
        <p:nvSpPr>
          <p:cNvPr id="5" name="Shape 3"/>
          <p:cNvSpPr/>
          <p:nvPr/>
        </p:nvSpPr>
        <p:spPr>
          <a:xfrm>
            <a:off x="457200" y="1371600"/>
            <a:ext cx="3657600" cy="640080"/>
          </a:xfrm>
          <a:prstGeom prst="rect">
            <a:avLst/>
          </a:prstGeom>
          <a:solidFill>
            <a:srgbClr val="E8F4F8"/>
          </a:solidFill>
          <a:ln w="6350">
            <a:solidFill>
              <a:srgbClr val="6B7280"/>
            </a:solidFill>
            <a:prstDash val="solid"/>
          </a:ln>
        </p:spPr>
      </p:sp>
      <p:sp>
        <p:nvSpPr>
          <p:cNvPr id="6" name="Text 4"/>
          <p:cNvSpPr/>
          <p:nvPr/>
        </p:nvSpPr>
        <p:spPr>
          <a:xfrm>
            <a:off x="548640" y="1389888"/>
            <a:ext cx="3474720" cy="228600"/>
          </a:xfrm>
          <a:prstGeom prst="rect">
            <a:avLst/>
          </a:prstGeom>
          <a:noFill/>
          <a:ln/>
        </p:spPr>
        <p:txBody>
          <a:bodyPr wrap="square" rtlCol="0" anchor="ctr">
            <a:normAutofit/>
          </a:bodyPr>
          <a:lstStyle/>
          <a:p>
            <a:pPr indent="0" marL="0">
              <a:buNone/>
            </a:pPr>
            <a:r>
              <a:rPr lang="en-US" sz="1000" b="1" dirty="0">
                <a:solidFill>
                  <a:srgbClr val="6B7280"/>
                </a:solidFill>
              </a:rPr>
              <a:t>Cline:</a:t>
            </a:r>
            <a:endParaRPr lang="en-US" sz="1000" dirty="0"/>
          </a:p>
        </p:txBody>
      </p:sp>
      <p:sp>
        <p:nvSpPr>
          <p:cNvPr id="7" name="Text 5"/>
          <p:cNvSpPr/>
          <p:nvPr/>
        </p:nvSpPr>
        <p:spPr>
          <a:xfrm>
            <a:off x="548640" y="1645920"/>
            <a:ext cx="3474720" cy="274320"/>
          </a:xfrm>
          <a:prstGeom prst="rect">
            <a:avLst/>
          </a:prstGeom>
          <a:noFill/>
          <a:ln/>
        </p:spPr>
        <p:txBody>
          <a:bodyPr wrap="square" rtlCol="0" anchor="ctr">
            <a:normAutofit/>
          </a:bodyPr>
          <a:lstStyle/>
          <a:p>
            <a:pPr indent="0" marL="0">
              <a:buNone/>
            </a:pPr>
            <a:r>
              <a:rPr lang="en-US" sz="900" dirty="0">
                <a:solidFill>
                  <a:srgbClr val="21295C"/>
                </a:solidFill>
              </a:rPr>
              <a:t>LLM 主循环 → 选择工具 → 执行工具 → 更新上下文 → 继续循环</a:t>
            </a:r>
            <a:endParaRPr lang="en-US" sz="900" dirty="0"/>
          </a:p>
        </p:txBody>
      </p:sp>
      <p:sp>
        <p:nvSpPr>
          <p:cNvPr id="8" name="Shape 6"/>
          <p:cNvSpPr/>
          <p:nvPr/>
        </p:nvSpPr>
        <p:spPr>
          <a:xfrm>
            <a:off x="5029200" y="1371600"/>
            <a:ext cx="3657600" cy="640080"/>
          </a:xfrm>
          <a:prstGeom prst="rect">
            <a:avLst/>
          </a:prstGeom>
          <a:solidFill>
            <a:srgbClr val="E8F4F8"/>
          </a:solidFill>
          <a:ln w="12700">
            <a:solidFill>
              <a:srgbClr val="065A82"/>
            </a:solidFill>
            <a:prstDash val="solid"/>
          </a:ln>
        </p:spPr>
      </p:sp>
      <p:sp>
        <p:nvSpPr>
          <p:cNvPr id="9" name="Text 7"/>
          <p:cNvSpPr/>
          <p:nvPr/>
        </p:nvSpPr>
        <p:spPr>
          <a:xfrm>
            <a:off x="5120640" y="1389888"/>
            <a:ext cx="3474720" cy="228600"/>
          </a:xfrm>
          <a:prstGeom prst="rect">
            <a:avLst/>
          </a:prstGeom>
          <a:noFill/>
          <a:ln/>
        </p:spPr>
        <p:txBody>
          <a:bodyPr wrap="square" rtlCol="0" anchor="ctr">
            <a:normAutofit/>
          </a:bodyPr>
          <a:lstStyle/>
          <a:p>
            <a:pPr indent="0" marL="0">
              <a:buNone/>
            </a:pPr>
            <a:r>
              <a:rPr lang="en-US" sz="1000" b="1" dirty="0">
                <a:solidFill>
                  <a:srgbClr val="065A82"/>
                </a:solidFill>
              </a:rPr>
              <a:t>WorkFlowMethod:</a:t>
            </a:r>
            <a:endParaRPr lang="en-US" sz="1000" dirty="0"/>
          </a:p>
        </p:txBody>
      </p:sp>
      <p:sp>
        <p:nvSpPr>
          <p:cNvPr id="10" name="Text 8"/>
          <p:cNvSpPr/>
          <p:nvPr/>
        </p:nvSpPr>
        <p:spPr>
          <a:xfrm>
            <a:off x="5120640" y="1645920"/>
            <a:ext cx="3474720" cy="274320"/>
          </a:xfrm>
          <a:prstGeom prst="rect">
            <a:avLst/>
          </a:prstGeom>
          <a:noFill/>
          <a:ln/>
        </p:spPr>
        <p:txBody>
          <a:bodyPr wrap="square" rtlCol="0" anchor="ctr">
            <a:normAutofit/>
          </a:bodyPr>
          <a:lstStyle/>
          <a:p>
            <a:pPr indent="0" marL="0">
              <a:buNone/>
            </a:pPr>
            <a:r>
              <a:rPr lang="en-US" sz="900" dirty="0">
                <a:solidFill>
                  <a:srgbClr val="21295C"/>
                </a:solidFill>
              </a:rPr>
              <a:t>LoopWorkflow → 选择子工作流 → 执行子工作流 → 更新上下文 → 继续循环</a:t>
            </a:r>
            <a:endParaRPr lang="en-US" sz="900" dirty="0"/>
          </a:p>
        </p:txBody>
      </p:sp>
      <p:sp>
        <p:nvSpPr>
          <p:cNvPr id="11" name="Shape 9"/>
          <p:cNvSpPr/>
          <p:nvPr/>
        </p:nvSpPr>
        <p:spPr>
          <a:xfrm>
            <a:off x="457200" y="2286000"/>
            <a:ext cx="8229600" cy="457200"/>
          </a:xfrm>
          <a:prstGeom prst="rect">
            <a:avLst/>
          </a:prstGeom>
          <a:solidFill>
            <a:srgbClr val="21295C"/>
          </a:solidFill>
          <a:ln/>
        </p:spPr>
      </p:sp>
      <p:sp>
        <p:nvSpPr>
          <p:cNvPr id="12" name="Text 10"/>
          <p:cNvSpPr/>
          <p:nvPr/>
        </p:nvSpPr>
        <p:spPr>
          <a:xfrm>
            <a:off x="457200" y="2313432"/>
            <a:ext cx="8229600" cy="411480"/>
          </a:xfrm>
          <a:prstGeom prst="rect">
            <a:avLst/>
          </a:prstGeom>
          <a:noFill/>
          <a:ln/>
        </p:spPr>
        <p:txBody>
          <a:bodyPr wrap="square" rtlCol="0" anchor="ctr">
            <a:normAutofit/>
          </a:bodyPr>
          <a:lstStyle/>
          <a:p>
            <a:pPr algn="ctr" indent="0" marL="0">
              <a:buNone/>
            </a:pPr>
            <a:r>
              <a:rPr lang="en-US" sz="1200" b="1" dirty="0">
                <a:solidFill>
                  <a:srgbClr val="FFFFFF"/>
                </a:solidFill>
              </a:rPr>
              <a:t>循环工作流 (LoopWorkflow) — 主循环 (Main Loop)</a:t>
            </a:r>
            <a:endParaRPr lang="en-US" sz="1200" dirty="0"/>
          </a:p>
        </p:txBody>
      </p:sp>
      <p:sp>
        <p:nvSpPr>
          <p:cNvPr id="13" name="Shape 11"/>
          <p:cNvSpPr/>
          <p:nvPr/>
        </p:nvSpPr>
        <p:spPr>
          <a:xfrm>
            <a:off x="914400" y="2880360"/>
            <a:ext cx="1714500" cy="731520"/>
          </a:xfrm>
          <a:prstGeom prst="rect">
            <a:avLst/>
          </a:prstGeom>
          <a:solidFill>
            <a:srgbClr val="065A82"/>
          </a:solidFill>
          <a:ln/>
        </p:spPr>
      </p:sp>
      <p:sp>
        <p:nvSpPr>
          <p:cNvPr id="14" name="Text 12"/>
          <p:cNvSpPr/>
          <p:nvPr/>
        </p:nvSpPr>
        <p:spPr>
          <a:xfrm>
            <a:off x="914400" y="2926080"/>
            <a:ext cx="1714500" cy="640080"/>
          </a:xfrm>
          <a:prstGeom prst="rect">
            <a:avLst/>
          </a:prstGeom>
          <a:noFill/>
          <a:ln/>
        </p:spPr>
        <p:txBody>
          <a:bodyPr wrap="square" rtlCol="0" anchor="ctr">
            <a:normAutofit/>
          </a:bodyPr>
          <a:lstStyle/>
          <a:p>
            <a:pPr algn="ctr" indent="0" marL="0">
              <a:buNone/>
            </a:pPr>
            <a:r>
              <a:rPr lang="en-US" sz="1000" b="1" dirty="0">
                <a:solidFill>
                  <a:srgbClr val="FFFFFF"/>
                </a:solidFill>
              </a:rPr>
              <a:t>① 检查</a:t>
            </a:r>
            <a:endParaRPr lang="en-US" sz="1000" dirty="0"/>
          </a:p>
          <a:p>
            <a:pPr algn="ctr" indent="0" marL="0">
              <a:buNone/>
            </a:pPr>
            <a:r>
              <a:rPr lang="en-US" sz="1000" b="1" dirty="0">
                <a:solidFill>
                  <a:srgbClr val="FFFFFF"/>
                </a:solidFill>
              </a:rPr>
              <a:t>完成条件</a:t>
            </a:r>
            <a:endParaRPr lang="en-US" sz="1000" dirty="0"/>
          </a:p>
        </p:txBody>
      </p:sp>
      <p:sp>
        <p:nvSpPr>
          <p:cNvPr id="15" name="Shape 13"/>
          <p:cNvSpPr/>
          <p:nvPr/>
        </p:nvSpPr>
        <p:spPr>
          <a:xfrm>
            <a:off x="2656332" y="3063240"/>
            <a:ext cx="109728" cy="228600"/>
          </a:xfrm>
          <a:prstGeom prst="rightArrow">
            <a:avLst/>
          </a:prstGeom>
          <a:solidFill>
            <a:srgbClr val="6B7280"/>
          </a:solidFill>
          <a:ln/>
        </p:spPr>
      </p:sp>
      <p:sp>
        <p:nvSpPr>
          <p:cNvPr id="16" name="Shape 14"/>
          <p:cNvSpPr/>
          <p:nvPr/>
        </p:nvSpPr>
        <p:spPr>
          <a:xfrm>
            <a:off x="2811780" y="2880360"/>
            <a:ext cx="1714500" cy="731520"/>
          </a:xfrm>
          <a:prstGeom prst="rect">
            <a:avLst/>
          </a:prstGeom>
          <a:solidFill>
            <a:srgbClr val="1C7293"/>
          </a:solidFill>
          <a:ln/>
        </p:spPr>
      </p:sp>
      <p:sp>
        <p:nvSpPr>
          <p:cNvPr id="17" name="Text 15"/>
          <p:cNvSpPr/>
          <p:nvPr/>
        </p:nvSpPr>
        <p:spPr>
          <a:xfrm>
            <a:off x="2811780" y="2926080"/>
            <a:ext cx="1714500" cy="640080"/>
          </a:xfrm>
          <a:prstGeom prst="rect">
            <a:avLst/>
          </a:prstGeom>
          <a:noFill/>
          <a:ln/>
        </p:spPr>
        <p:txBody>
          <a:bodyPr wrap="square" rtlCol="0" anchor="ctr">
            <a:normAutofit/>
          </a:bodyPr>
          <a:lstStyle/>
          <a:p>
            <a:pPr algn="ctr" indent="0" marL="0">
              <a:buNone/>
            </a:pPr>
            <a:r>
              <a:rPr lang="en-US" sz="1000" b="1" dirty="0">
                <a:solidFill>
                  <a:srgbClr val="FFFFFF"/>
                </a:solidFill>
              </a:rPr>
              <a:t>② 选择</a:t>
            </a:r>
            <a:endParaRPr lang="en-US" sz="1000" dirty="0"/>
          </a:p>
          <a:p>
            <a:pPr algn="ctr" indent="0" marL="0">
              <a:buNone/>
            </a:pPr>
            <a:r>
              <a:rPr lang="en-US" sz="1000" b="1" dirty="0">
                <a:solidFill>
                  <a:srgbClr val="FFFFFF"/>
                </a:solidFill>
              </a:rPr>
              <a:t>子工作流</a:t>
            </a:r>
            <a:endParaRPr lang="en-US" sz="1000" dirty="0"/>
          </a:p>
        </p:txBody>
      </p:sp>
      <p:sp>
        <p:nvSpPr>
          <p:cNvPr id="18" name="Shape 16"/>
          <p:cNvSpPr/>
          <p:nvPr/>
        </p:nvSpPr>
        <p:spPr>
          <a:xfrm>
            <a:off x="4553712" y="3063240"/>
            <a:ext cx="109728" cy="228600"/>
          </a:xfrm>
          <a:prstGeom prst="rightArrow">
            <a:avLst/>
          </a:prstGeom>
          <a:solidFill>
            <a:srgbClr val="6B7280"/>
          </a:solidFill>
          <a:ln/>
        </p:spPr>
      </p:sp>
      <p:sp>
        <p:nvSpPr>
          <p:cNvPr id="19" name="Shape 17"/>
          <p:cNvSpPr/>
          <p:nvPr/>
        </p:nvSpPr>
        <p:spPr>
          <a:xfrm>
            <a:off x="4709160" y="2880360"/>
            <a:ext cx="1714500" cy="731520"/>
          </a:xfrm>
          <a:prstGeom prst="rect">
            <a:avLst/>
          </a:prstGeom>
          <a:solidFill>
            <a:srgbClr val="0891B2"/>
          </a:solidFill>
          <a:ln/>
        </p:spPr>
      </p:sp>
      <p:sp>
        <p:nvSpPr>
          <p:cNvPr id="20" name="Text 18"/>
          <p:cNvSpPr/>
          <p:nvPr/>
        </p:nvSpPr>
        <p:spPr>
          <a:xfrm>
            <a:off x="4709160" y="2926080"/>
            <a:ext cx="1714500" cy="640080"/>
          </a:xfrm>
          <a:prstGeom prst="rect">
            <a:avLst/>
          </a:prstGeom>
          <a:noFill/>
          <a:ln/>
        </p:spPr>
        <p:txBody>
          <a:bodyPr wrap="square" rtlCol="0" anchor="ctr">
            <a:normAutofit/>
          </a:bodyPr>
          <a:lstStyle/>
          <a:p>
            <a:pPr algn="ctr" indent="0" marL="0">
              <a:buNone/>
            </a:pPr>
            <a:r>
              <a:rPr lang="en-US" sz="1000" b="1" dirty="0">
                <a:solidFill>
                  <a:srgbClr val="FFFFFF"/>
                </a:solidFill>
              </a:rPr>
              <a:t>③ 执行</a:t>
            </a:r>
            <a:endParaRPr lang="en-US" sz="1000" dirty="0"/>
          </a:p>
          <a:p>
            <a:pPr algn="ctr" indent="0" marL="0">
              <a:buNone/>
            </a:pPr>
            <a:r>
              <a:rPr lang="en-US" sz="1000" b="1" dirty="0">
                <a:solidFill>
                  <a:srgbClr val="FFFFFF"/>
                </a:solidFill>
              </a:rPr>
              <a:t>子工作流</a:t>
            </a:r>
            <a:endParaRPr lang="en-US" sz="1000" dirty="0"/>
          </a:p>
        </p:txBody>
      </p:sp>
      <p:sp>
        <p:nvSpPr>
          <p:cNvPr id="21" name="Shape 19"/>
          <p:cNvSpPr/>
          <p:nvPr/>
        </p:nvSpPr>
        <p:spPr>
          <a:xfrm>
            <a:off x="6451092" y="3063240"/>
            <a:ext cx="109728" cy="228600"/>
          </a:xfrm>
          <a:prstGeom prst="rightArrow">
            <a:avLst/>
          </a:prstGeom>
          <a:solidFill>
            <a:srgbClr val="6B7280"/>
          </a:solidFill>
          <a:ln/>
        </p:spPr>
      </p:sp>
      <p:sp>
        <p:nvSpPr>
          <p:cNvPr id="22" name="Shape 20"/>
          <p:cNvSpPr/>
          <p:nvPr/>
        </p:nvSpPr>
        <p:spPr>
          <a:xfrm>
            <a:off x="6606540" y="2880360"/>
            <a:ext cx="1714500" cy="731520"/>
          </a:xfrm>
          <a:prstGeom prst="rect">
            <a:avLst/>
          </a:prstGeom>
          <a:solidFill>
            <a:srgbClr val="00A896"/>
          </a:solidFill>
          <a:ln/>
        </p:spPr>
      </p:sp>
      <p:sp>
        <p:nvSpPr>
          <p:cNvPr id="23" name="Text 21"/>
          <p:cNvSpPr/>
          <p:nvPr/>
        </p:nvSpPr>
        <p:spPr>
          <a:xfrm>
            <a:off x="6606540" y="2926080"/>
            <a:ext cx="1714500" cy="640080"/>
          </a:xfrm>
          <a:prstGeom prst="rect">
            <a:avLst/>
          </a:prstGeom>
          <a:noFill/>
          <a:ln/>
        </p:spPr>
        <p:txBody>
          <a:bodyPr wrap="square" rtlCol="0" anchor="ctr">
            <a:normAutofit/>
          </a:bodyPr>
          <a:lstStyle/>
          <a:p>
            <a:pPr algn="ctr" indent="0" marL="0">
              <a:buNone/>
            </a:pPr>
            <a:r>
              <a:rPr lang="en-US" sz="1000" b="1" dirty="0">
                <a:solidFill>
                  <a:srgbClr val="FFFFFF"/>
                </a:solidFill>
              </a:rPr>
              <a:t>④ 更新</a:t>
            </a:r>
            <a:endParaRPr lang="en-US" sz="1000" dirty="0"/>
          </a:p>
          <a:p>
            <a:pPr algn="ctr" indent="0" marL="0">
              <a:buNone/>
            </a:pPr>
            <a:r>
              <a:rPr lang="en-US" sz="1000" b="1" dirty="0">
                <a:solidFill>
                  <a:srgbClr val="FFFFFF"/>
                </a:solidFill>
              </a:rPr>
              <a:t>上下文</a:t>
            </a:r>
            <a:endParaRPr lang="en-US" sz="1000" dirty="0"/>
          </a:p>
        </p:txBody>
      </p:sp>
      <p:sp>
        <p:nvSpPr>
          <p:cNvPr id="24" name="Text 22"/>
          <p:cNvSpPr/>
          <p:nvPr/>
        </p:nvSpPr>
        <p:spPr>
          <a:xfrm>
            <a:off x="457200" y="3703320"/>
            <a:ext cx="8229600" cy="228600"/>
          </a:xfrm>
          <a:prstGeom prst="rect">
            <a:avLst/>
          </a:prstGeom>
          <a:noFill/>
          <a:ln/>
        </p:spPr>
        <p:txBody>
          <a:bodyPr wrap="square" rtlCol="0" anchor="ctr">
            <a:normAutofit/>
          </a:bodyPr>
          <a:lstStyle/>
          <a:p>
            <a:pPr algn="ctr" indent="0" marL="0">
              <a:buNone/>
            </a:pPr>
            <a:r>
              <a:rPr lang="en-US" sz="900" i="1" dirty="0">
                <a:solidFill>
                  <a:srgbClr val="6B7280"/>
                </a:solidFill>
              </a:rPr>
              <a:t>循环直到完成</a:t>
            </a:r>
            <a:endParaRPr lang="en-US" sz="900" dirty="0"/>
          </a:p>
        </p:txBody>
      </p:sp>
      <p:sp>
        <p:nvSpPr>
          <p:cNvPr id="2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2.9 三种选择策略</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645920"/>
        </p:xfrm>
        <a:graphic>
          <a:graphicData uri="http://schemas.openxmlformats.org/drawingml/2006/table">
            <a:tbl>
              <a:tblPr/>
              <a:tblGrid>
                <a:gridCol w="1371600"/>
                <a:gridCol w="1828800"/>
                <a:gridCol w="1188720"/>
                <a:gridCol w="1371600"/>
                <a:gridCol w="2468880"/>
              </a:tblGrid>
              <a:tr h="411480">
                <a:tc>
                  <a:txBody>
                    <a:bodyPr/>
                    <a:lstStyle/>
                    <a:p>
                      <a:pPr indent="0" marL="0">
                        <a:buNone/>
                      </a:pPr>
                      <a:r>
                        <a:rPr lang="en-US" sz="1000" b="1" dirty="0">
                          <a:solidFill>
                            <a:srgbClr val="FFFFFF"/>
                          </a:solidFill>
                        </a:rPr>
                        <a:t>策略</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决策方式</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确定性</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性能</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适用场景</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411480">
                <a:tc>
                  <a:txBody>
                    <a:bodyPr/>
                    <a:lstStyle/>
                    <a:p>
                      <a:pPr indent="0" marL="0">
                        <a:buNone/>
                      </a:pPr>
                      <a:r>
                        <a:rPr lang="en-US" sz="900" b="1" dirty="0">
                          <a:solidFill>
                            <a:srgbClr val="000000"/>
                          </a:solidFill>
                        </a:rPr>
                        <a:t>RuleBased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预定义条件匹配</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100%</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毫秒级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标准审批、定时任务、简单 ETL</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411480">
                <a:tc>
                  <a:txBody>
                    <a:bodyPr/>
                    <a:lstStyle/>
                    <a:p>
                      <a:pPr indent="0" marL="0">
                        <a:buNone/>
                      </a:pPr>
                      <a:r>
                        <a:rPr lang="en-US" sz="900" b="1" dirty="0">
                          <a:solidFill>
                            <a:srgbClr val="000000"/>
                          </a:solidFill>
                        </a:rPr>
                        <a:t>LLMBased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LLM 实时推理</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不确定</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秒级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AI 客服、智能文档处理、代码分析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411480">
                <a:tc>
                  <a:txBody>
                    <a:bodyPr/>
                    <a:lstStyle/>
                    <a:p>
                      <a:pPr indent="0" marL="0">
                        <a:buNone/>
                      </a:pPr>
                      <a:r>
                        <a:rPr lang="en-US" sz="900" b="1" dirty="0">
                          <a:solidFill>
                            <a:srgbClr val="000000"/>
                          </a:solidFill>
                        </a:rPr>
                        <a:t>Hybrid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规则优先 + LLM 兜底</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关键路径确定</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大部分毫秒级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自动化测试、数据处理、运维自动化</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5" name="Shape 2"/>
          <p:cNvSpPr/>
          <p:nvPr/>
        </p:nvSpPr>
        <p:spPr>
          <a:xfrm>
            <a:off x="457200" y="2834640"/>
            <a:ext cx="8229600" cy="320040"/>
          </a:xfrm>
          <a:prstGeom prst="rect">
            <a:avLst/>
          </a:prstGeom>
          <a:solidFill>
            <a:srgbClr val="21295C"/>
          </a:solidFill>
          <a:ln/>
        </p:spPr>
      </p:sp>
      <p:sp>
        <p:nvSpPr>
          <p:cNvPr id="6" name="Text 3"/>
          <p:cNvSpPr/>
          <p:nvPr/>
        </p:nvSpPr>
        <p:spPr>
          <a:xfrm>
            <a:off x="548640" y="2852928"/>
            <a:ext cx="8046720" cy="274320"/>
          </a:xfrm>
          <a:prstGeom prst="rect">
            <a:avLst/>
          </a:prstGeom>
          <a:noFill/>
          <a:ln/>
        </p:spPr>
        <p:txBody>
          <a:bodyPr wrap="square" rtlCol="0" anchor="ctr">
            <a:normAutofit/>
          </a:bodyPr>
          <a:lstStyle/>
          <a:p>
            <a:pPr indent="0" marL="0">
              <a:buNone/>
            </a:pPr>
            <a:r>
              <a:rPr lang="en-US" sz="1100" b="1" dirty="0">
                <a:solidFill>
                  <a:srgbClr val="FFFFFF"/>
                </a:solidFill>
              </a:rPr>
              <a:t>子工作流（可独立定义、测试、复用）</a:t>
            </a:r>
            <a:endParaRPr lang="en-US" sz="1100" dirty="0"/>
          </a:p>
        </p:txBody>
      </p:sp>
      <p:sp>
        <p:nvSpPr>
          <p:cNvPr id="7" name="Shape 4"/>
          <p:cNvSpPr/>
          <p:nvPr/>
        </p:nvSpPr>
        <p:spPr>
          <a:xfrm>
            <a:off x="457200" y="3291840"/>
            <a:ext cx="1965960" cy="457200"/>
          </a:xfrm>
          <a:prstGeom prst="rect">
            <a:avLst/>
          </a:prstGeom>
          <a:solidFill>
            <a:srgbClr val="E8F4F8"/>
          </a:solidFill>
          <a:ln w="6350">
            <a:solidFill>
              <a:srgbClr val="065A82"/>
            </a:solidFill>
            <a:prstDash val="solid"/>
          </a:ln>
        </p:spPr>
      </p:sp>
      <p:sp>
        <p:nvSpPr>
          <p:cNvPr id="8" name="Text 5"/>
          <p:cNvSpPr/>
          <p:nvPr/>
        </p:nvSpPr>
        <p:spPr>
          <a:xfrm>
            <a:off x="502920" y="3337560"/>
            <a:ext cx="1874520" cy="365760"/>
          </a:xfrm>
          <a:prstGeom prst="rect">
            <a:avLst/>
          </a:prstGeom>
          <a:noFill/>
          <a:ln/>
        </p:spPr>
        <p:txBody>
          <a:bodyPr wrap="square" rtlCol="0" anchor="ctr">
            <a:normAutofit/>
          </a:bodyPr>
          <a:lstStyle/>
          <a:p>
            <a:pPr algn="ctr" indent="0" marL="0">
              <a:buNone/>
            </a:pPr>
            <a:r>
              <a:rPr lang="en-US" sz="800" dirty="0">
                <a:solidFill>
                  <a:srgbClr val="21295C"/>
                </a:solidFill>
              </a:rPr>
              <a:t>子工作流 A (数据收集)</a:t>
            </a:r>
            <a:endParaRPr lang="en-US" sz="800" dirty="0"/>
          </a:p>
        </p:txBody>
      </p:sp>
      <p:sp>
        <p:nvSpPr>
          <p:cNvPr id="9" name="Shape 6"/>
          <p:cNvSpPr/>
          <p:nvPr/>
        </p:nvSpPr>
        <p:spPr>
          <a:xfrm>
            <a:off x="2542032" y="3291840"/>
            <a:ext cx="1965960" cy="457200"/>
          </a:xfrm>
          <a:prstGeom prst="rect">
            <a:avLst/>
          </a:prstGeom>
          <a:solidFill>
            <a:srgbClr val="E8F4F8"/>
          </a:solidFill>
          <a:ln w="6350">
            <a:solidFill>
              <a:srgbClr val="065A82"/>
            </a:solidFill>
            <a:prstDash val="solid"/>
          </a:ln>
        </p:spPr>
      </p:sp>
      <p:sp>
        <p:nvSpPr>
          <p:cNvPr id="10" name="Text 7"/>
          <p:cNvSpPr/>
          <p:nvPr/>
        </p:nvSpPr>
        <p:spPr>
          <a:xfrm>
            <a:off x="2587752" y="3337560"/>
            <a:ext cx="1874520" cy="365760"/>
          </a:xfrm>
          <a:prstGeom prst="rect">
            <a:avLst/>
          </a:prstGeom>
          <a:noFill/>
          <a:ln/>
        </p:spPr>
        <p:txBody>
          <a:bodyPr wrap="square" rtlCol="0" anchor="ctr">
            <a:normAutofit/>
          </a:bodyPr>
          <a:lstStyle/>
          <a:p>
            <a:pPr algn="ctr" indent="0" marL="0">
              <a:buNone/>
            </a:pPr>
            <a:r>
              <a:rPr lang="en-US" sz="800" dirty="0">
                <a:solidFill>
                  <a:srgbClr val="21295C"/>
                </a:solidFill>
              </a:rPr>
              <a:t>子工作流 B (数据分析)</a:t>
            </a:r>
            <a:endParaRPr lang="en-US" sz="800" dirty="0"/>
          </a:p>
        </p:txBody>
      </p:sp>
      <p:sp>
        <p:nvSpPr>
          <p:cNvPr id="11" name="Shape 8"/>
          <p:cNvSpPr/>
          <p:nvPr/>
        </p:nvSpPr>
        <p:spPr>
          <a:xfrm>
            <a:off x="4626864" y="3291840"/>
            <a:ext cx="1965960" cy="457200"/>
          </a:xfrm>
          <a:prstGeom prst="rect">
            <a:avLst/>
          </a:prstGeom>
          <a:solidFill>
            <a:srgbClr val="E8F4F8"/>
          </a:solidFill>
          <a:ln w="6350">
            <a:solidFill>
              <a:srgbClr val="065A82"/>
            </a:solidFill>
            <a:prstDash val="solid"/>
          </a:ln>
        </p:spPr>
      </p:sp>
      <p:sp>
        <p:nvSpPr>
          <p:cNvPr id="12" name="Text 9"/>
          <p:cNvSpPr/>
          <p:nvPr/>
        </p:nvSpPr>
        <p:spPr>
          <a:xfrm>
            <a:off x="4672584" y="3337560"/>
            <a:ext cx="1874520" cy="365760"/>
          </a:xfrm>
          <a:prstGeom prst="rect">
            <a:avLst/>
          </a:prstGeom>
          <a:noFill/>
          <a:ln/>
        </p:spPr>
        <p:txBody>
          <a:bodyPr wrap="square" rtlCol="0" anchor="ctr">
            <a:normAutofit/>
          </a:bodyPr>
          <a:lstStyle/>
          <a:p>
            <a:pPr algn="ctr" indent="0" marL="0">
              <a:buNone/>
            </a:pPr>
            <a:r>
              <a:rPr lang="en-US" sz="800" dirty="0">
                <a:solidFill>
                  <a:srgbClr val="21295C"/>
                </a:solidFill>
              </a:rPr>
              <a:t>子工作流 C (结果生成)</a:t>
            </a:r>
            <a:endParaRPr lang="en-US" sz="800" dirty="0"/>
          </a:p>
        </p:txBody>
      </p:sp>
      <p:sp>
        <p:nvSpPr>
          <p:cNvPr id="13" name="Shape 10"/>
          <p:cNvSpPr/>
          <p:nvPr/>
        </p:nvSpPr>
        <p:spPr>
          <a:xfrm>
            <a:off x="6711696" y="3291840"/>
            <a:ext cx="1965960" cy="457200"/>
          </a:xfrm>
          <a:prstGeom prst="rect">
            <a:avLst/>
          </a:prstGeom>
          <a:solidFill>
            <a:srgbClr val="E8F4F8"/>
          </a:solidFill>
          <a:ln w="6350">
            <a:solidFill>
              <a:srgbClr val="065A82"/>
            </a:solidFill>
            <a:prstDash val="solid"/>
          </a:ln>
        </p:spPr>
      </p:sp>
      <p:sp>
        <p:nvSpPr>
          <p:cNvPr id="14" name="Text 11"/>
          <p:cNvSpPr/>
          <p:nvPr/>
        </p:nvSpPr>
        <p:spPr>
          <a:xfrm>
            <a:off x="6757416" y="3337560"/>
            <a:ext cx="1874520" cy="365760"/>
          </a:xfrm>
          <a:prstGeom prst="rect">
            <a:avLst/>
          </a:prstGeom>
          <a:noFill/>
          <a:ln/>
        </p:spPr>
        <p:txBody>
          <a:bodyPr wrap="square" rtlCol="0" anchor="ctr">
            <a:normAutofit/>
          </a:bodyPr>
          <a:lstStyle/>
          <a:p>
            <a:pPr algn="ctr" indent="0" marL="0">
              <a:buNone/>
            </a:pPr>
            <a:r>
              <a:rPr lang="en-US" sz="800" dirty="0">
                <a:solidFill>
                  <a:srgbClr val="21295C"/>
                </a:solidFill>
              </a:rPr>
              <a:t>子工作流 D (错误恢复)</a:t>
            </a:r>
            <a:endParaRPr lang="en-US" sz="800" dirty="0"/>
          </a:p>
        </p:txBody>
      </p:sp>
      <p:sp>
        <p:nvSpPr>
          <p:cNvPr id="2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2.9 智能上下文（SmartContext）</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36576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类似 Cline 的对话上下文，SmartContext 维护所有执行历史和数据，为 LLM 提供结构化的上下文摘要：</a:t>
            </a:r>
            <a:endParaRPr lang="en-US" sz="1100" dirty="0"/>
          </a:p>
        </p:txBody>
      </p:sp>
      <p:sp>
        <p:nvSpPr>
          <p:cNvPr id="5" name="Shape 3"/>
          <p:cNvSpPr/>
          <p:nvPr/>
        </p:nvSpPr>
        <p:spPr>
          <a:xfrm>
            <a:off x="457200" y="1371600"/>
            <a:ext cx="8229600" cy="1828800"/>
          </a:xfrm>
          <a:prstGeom prst="rect">
            <a:avLst/>
          </a:prstGeom>
          <a:solidFill>
            <a:srgbClr val="1E293B"/>
          </a:solidFill>
          <a:ln/>
        </p:spPr>
      </p:sp>
      <p:sp>
        <p:nvSpPr>
          <p:cNvPr id="6" name="Text 4"/>
          <p:cNvSpPr/>
          <p:nvPr/>
        </p:nvSpPr>
        <p:spPr>
          <a:xfrm>
            <a:off x="548640" y="1444752"/>
            <a:ext cx="8046720" cy="16824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class SmartContext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string Goal { get; set; }                    // 任务目标</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List&lt;string&gt; CompletedSteps { get; }          // 已完成步骤</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List&lt;ExecutionRecord&gt; History { get; }        // 执行历史（滑动窗口）</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int MaxHistoryLength { get; set; } = 100;     // 最大历史记录数</a:t>
            </a:r>
            <a:endParaRPr lang="en-US" sz="800" dirty="0"/>
          </a:p>
          <a:p>
            <a:pPr algn="l" indent="0" marL="0">
              <a:lnSpc>
                <a:spcPct val="100000"/>
              </a:lnSpc>
              <a:buNone/>
            </a:pP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T Get&lt;T&gt;(string key);                         // 数据读取</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void Set(string key, object value);           // 数据写入</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string ToLLMContext();                        // 构建 LLM 可理解的上下文摘要</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2.10 与 AI 工作流框架对比 — 设计理念</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560320"/>
        </p:xfrm>
        <a:graphic>
          <a:graphicData uri="http://schemas.openxmlformats.org/drawingml/2006/table">
            <a:tbl>
              <a:tblPr/>
              <a:tblGrid>
                <a:gridCol w="1828800"/>
                <a:gridCol w="3200400"/>
                <a:gridCol w="3200400"/>
              </a:tblGrid>
              <a:tr h="365760">
                <a:tc>
                  <a:txBody>
                    <a:bodyPr/>
                    <a:lstStyle/>
                    <a:p>
                      <a:pPr indent="0" marL="0">
                        <a:buNone/>
                      </a:pPr>
                      <a:r>
                        <a:rPr lang="en-US" sz="900" b="1" dirty="0">
                          <a:solidFill>
                            <a:srgbClr val="FFFFFF"/>
                          </a:solidFill>
                        </a:rPr>
                        <a:t>维度</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Cline / Trae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WorkFlowMethod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065A82"/>
                    </a:solidFill>
                  </a:tcPr>
                </a:tc>
              </a:tr>
              <a:tr h="365760">
                <a:tc>
                  <a:txBody>
                    <a:bodyPr/>
                    <a:lstStyle/>
                    <a:p>
                      <a:pPr indent="0" marL="0">
                        <a:buNone/>
                      </a:pPr>
                      <a:r>
                        <a:rPr lang="en-US" sz="900" dirty="0">
                          <a:solidFill>
                            <a:srgbClr val="000000"/>
                          </a:solidFill>
                        </a:rPr>
                        <a:t>核心驱动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LLM 实时推理驱动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配置驱动 + LLM 可选增强</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65760">
                <a:tc>
                  <a:txBody>
                    <a:bodyPr/>
                    <a:lstStyle/>
                    <a:p>
                      <a:pPr indent="0" marL="0">
                        <a:buNone/>
                      </a:pPr>
                      <a:r>
                        <a:rPr lang="en-US" sz="900" dirty="0">
                          <a:solidFill>
                            <a:srgbClr val="000000"/>
                          </a:solidFill>
                        </a:rPr>
                        <a:t>决策方式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LLM 自主选择工具</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规则选择 / LLM 选择 / 混合选择</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000000"/>
                          </a:solidFill>
                        </a:rPr>
                        <a:t>工作流定义</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隐式（LLM 动态生成）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显式（JSON/代码预定义）</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65760">
                <a:tc>
                  <a:txBody>
                    <a:bodyPr/>
                    <a:lstStyle/>
                    <a:p>
                      <a:pPr indent="0" marL="0">
                        <a:buNone/>
                      </a:pPr>
                      <a:r>
                        <a:rPr lang="en-US" sz="900" dirty="0">
                          <a:solidFill>
                            <a:srgbClr val="000000"/>
                          </a:solidFill>
                        </a:rPr>
                        <a:t>确定性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低（依赖 LLM 输出）</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高（规则优先，LLM 兜底）</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000000"/>
                          </a:solidFill>
                        </a:rPr>
                        <a:t>可调试性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困难（黑盒推理）</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容易（规则明确、日志完整）</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65760">
                <a:tc>
                  <a:txBody>
                    <a:bodyPr/>
                    <a:lstStyle/>
                    <a:p>
                      <a:pPr indent="0" marL="0">
                        <a:buNone/>
                      </a:pPr>
                      <a:r>
                        <a:rPr lang="en-US" sz="900" dirty="0">
                          <a:solidFill>
                            <a:srgbClr val="000000"/>
                          </a:solidFill>
                        </a:rPr>
                        <a:t>复用性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低（每次重新推理）</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高（模板可复用、可组合）</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3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2.10 与 Trae 的对应关系</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011680"/>
        </p:xfrm>
        <a:graphic>
          <a:graphicData uri="http://schemas.openxmlformats.org/drawingml/2006/table">
            <a:tbl>
              <a:tblPr/>
              <a:tblGrid>
                <a:gridCol w="3657600"/>
                <a:gridCol w="4572000"/>
              </a:tblGrid>
              <a:tr h="335280">
                <a:tc>
                  <a:txBody>
                    <a:bodyPr/>
                    <a:lstStyle/>
                    <a:p>
                      <a:pPr indent="0" marL="0">
                        <a:buNone/>
                      </a:pPr>
                      <a:r>
                        <a:rPr lang="en-US" sz="1000" b="1" dirty="0">
                          <a:solidFill>
                            <a:srgbClr val="FFFFFF"/>
                          </a:solidFill>
                        </a:rPr>
                        <a:t>Trae 能力</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WorkFlowMethod 对应</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065A82"/>
                    </a:solidFill>
                  </a:tcPr>
                </a:tc>
              </a:tr>
              <a:tr h="335280">
                <a:tc>
                  <a:txBody>
                    <a:bodyPr/>
                    <a:lstStyle/>
                    <a:p>
                      <a:pPr indent="0" marL="0">
                        <a:buNone/>
                      </a:pPr>
                      <a:r>
                        <a:rPr lang="en-US" sz="1000" dirty="0">
                          <a:solidFill>
                            <a:srgbClr val="000000"/>
                          </a:solidFill>
                        </a:rPr>
                        <a:t>理解用户意图</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LoopWorkflow.Goal + CompletionCondition</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35280">
                <a:tc>
                  <a:txBody>
                    <a:bodyPr/>
                    <a:lstStyle/>
                    <a:p>
                      <a:pPr indent="0" marL="0">
                        <a:buNone/>
                      </a:pPr>
                      <a:r>
                        <a:rPr lang="en-US" sz="1000" dirty="0">
                          <a:solidFill>
                            <a:srgbClr val="000000"/>
                          </a:solidFill>
                        </a:rPr>
                        <a:t>规划任务步骤</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SelectionStrategy 选择子工作流</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35280">
                <a:tc>
                  <a:txBody>
                    <a:bodyPr/>
                    <a:lstStyle/>
                    <a:p>
                      <a:pPr indent="0" marL="0">
                        <a:buNone/>
                      </a:pPr>
                      <a:r>
                        <a:rPr lang="en-US" sz="1000" dirty="0">
                          <a:solidFill>
                            <a:srgbClr val="000000"/>
                          </a:solidFill>
                        </a:rPr>
                        <a:t>执行代码/工具</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SubWorkflowDefinition 执行 ChainInfo 管线</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35280">
                <a:tc>
                  <a:txBody>
                    <a:bodyPr/>
                    <a:lstStyle/>
                    <a:p>
                      <a:pPr indent="0" marL="0">
                        <a:buNone/>
                      </a:pPr>
                      <a:r>
                        <a:rPr lang="en-US" sz="1000" dirty="0">
                          <a:solidFill>
                            <a:srgbClr val="000000"/>
                          </a:solidFill>
                        </a:rPr>
                        <a:t>验证结果</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完成条件检查 + SmartContext 状态更新</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35280">
                <a:tc>
                  <a:txBody>
                    <a:bodyPr/>
                    <a:lstStyle/>
                    <a:p>
                      <a:pPr indent="0" marL="0">
                        <a:buNone/>
                      </a:pPr>
                      <a:r>
                        <a:rPr lang="en-US" sz="1000" dirty="0">
                          <a:solidFill>
                            <a:srgbClr val="000000"/>
                          </a:solidFill>
                        </a:rPr>
                        <a:t>迭代优化</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循环机制（Loop）自动迭代</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5" name="Text 2"/>
          <p:cNvSpPr/>
          <p:nvPr/>
        </p:nvSpPr>
        <p:spPr>
          <a:xfrm>
            <a:off x="457200" y="3200400"/>
            <a:ext cx="8229600" cy="274320"/>
          </a:xfrm>
          <a:prstGeom prst="rect">
            <a:avLst/>
          </a:prstGeom>
          <a:noFill/>
          <a:ln/>
        </p:spPr>
        <p:txBody>
          <a:bodyPr wrap="square" rtlCol="0" anchor="t"/>
          <a:lstStyle/>
          <a:p>
            <a:pPr algn="l" indent="0" marL="0">
              <a:lnSpc>
                <a:spcPct val="115000"/>
              </a:lnSpc>
              <a:buNone/>
            </a:pPr>
            <a:r>
              <a:rPr lang="en-US" sz="1200" b="1" dirty="0">
                <a:solidFill>
                  <a:srgbClr val="21295C"/>
                </a:solidFill>
                <a:latin typeface="Calibri" pitchFamily="34" charset="0"/>
                <a:ea typeface="Calibri" pitchFamily="34" charset="-122"/>
                <a:cs typeface="Calibri" pitchFamily="34" charset="-120"/>
              </a:rPr>
              <a:t>差异化优势：</a:t>
            </a:r>
            <a:endParaRPr lang="en-US" sz="120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57200" y="3474720"/>
          <a:ext cx="8229600" cy="1371600"/>
        </p:xfrm>
        <a:graphic>
          <a:graphicData uri="http://schemas.openxmlformats.org/drawingml/2006/table">
            <a:tbl>
              <a:tblPr/>
              <a:tblGrid>
                <a:gridCol w="2286000"/>
                <a:gridCol w="5943600"/>
              </a:tblGrid>
              <a:tr h="228600">
                <a:tc>
                  <a:txBody>
                    <a:bodyPr/>
                    <a:lstStyle/>
                    <a:p>
                      <a:pPr indent="0" marL="0">
                        <a:buNone/>
                      </a:pPr>
                      <a:r>
                        <a:rPr lang="en-US" sz="900" b="1" dirty="0">
                          <a:solidFill>
                            <a:srgbClr val="FFFFFF"/>
                          </a:solidFill>
                        </a:rPr>
                        <a:t>优势</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说明</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28600">
                <a:tc>
                  <a:txBody>
                    <a:bodyPr/>
                    <a:lstStyle/>
                    <a:p>
                      <a:pPr indent="0" marL="0">
                        <a:buNone/>
                      </a:pPr>
                      <a:r>
                        <a:rPr lang="en-US" sz="900" dirty="0">
                          <a:solidFill>
                            <a:srgbClr val="000000"/>
                          </a:solidFill>
                        </a:rPr>
                        <a:t>确定性 + 灵活性平衡</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Hybrid 策略：规则覆盖标准路径，LLM 处理异常，兼顾可靠与灵活</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28600">
                <a:tc>
                  <a:txBody>
                    <a:bodyPr/>
                    <a:lstStyle/>
                    <a:p>
                      <a:pPr indent="0" marL="0">
                        <a:buNone/>
                      </a:pPr>
                      <a:r>
                        <a:rPr lang="en-US" sz="900" dirty="0">
                          <a:solidFill>
                            <a:srgbClr val="000000"/>
                          </a:solidFill>
                        </a:rPr>
                        <a:t>可组合性</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子工作流可独立定义、测试、复用，不同循环工作流可引用同一子工作流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28600">
                <a:tc>
                  <a:txBody>
                    <a:bodyPr/>
                    <a:lstStyle/>
                    <a:p>
                      <a:pPr indent="0" marL="0">
                        <a:buNone/>
                      </a:pPr>
                      <a:r>
                        <a:rPr lang="en-US" sz="900" dirty="0">
                          <a:solidFill>
                            <a:srgbClr val="000000"/>
                          </a:solidFill>
                        </a:rPr>
                        <a:t>安全边界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MaxIterations、CancellationToken、重试策略、超时控制等多层保护</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28600">
                <a:tc>
                  <a:txBody>
                    <a:bodyPr/>
                    <a:lstStyle/>
                    <a:p>
                      <a:pPr indent="0" marL="0">
                        <a:buNone/>
                      </a:pPr>
                      <a:r>
                        <a:rPr lang="en-US" sz="900" dirty="0">
                          <a:solidFill>
                            <a:srgbClr val="000000"/>
                          </a:solidFill>
                        </a:rPr>
                        <a:t>渐进增强</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从纯规则 → 规则+LLM → 纯LLM，可按需逐步引入 AI 能力</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28600">
                <a:tc>
                  <a:txBody>
                    <a:bodyPr/>
                    <a:lstStyle/>
                    <a:p>
                      <a:pPr indent="0" marL="0">
                        <a:buNone/>
                      </a:pPr>
                      <a:r>
                        <a:rPr lang="en-US" sz="900" dirty="0">
                          <a:solidFill>
                            <a:srgbClr val="000000"/>
                          </a:solidFill>
                        </a:rPr>
                        <a:t>与现有架构兼容</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完全复用 ChainInfo、CoreGraph、PipelineExecutor 等现有组件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6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FunctionExecution</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基础函数执行层</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3.1 核心架构</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5486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FunctionExecution 是 WorkFlow 体系的基础函数执行框架，提供函数注册、参数解析、委托调用等核心能力，是所有业务函数执行的底层引擎。它依赖 WorkFlowMethod 提供的工作流编排能力，同时被 FunctionStorage 依赖。</a:t>
            </a:r>
            <a:endParaRPr lang="en-US" sz="1100" dirty="0"/>
          </a:p>
        </p:txBody>
      </p:sp>
      <p:sp>
        <p:nvSpPr>
          <p:cNvPr id="5" name="Text 3"/>
          <p:cNvSpPr/>
          <p:nvPr/>
        </p:nvSpPr>
        <p:spPr>
          <a:xfrm>
            <a:off x="457200" y="155448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围绕四个核心概念构建：</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8229600" cy="1645920"/>
        </p:xfrm>
        <a:graphic>
          <a:graphicData uri="http://schemas.openxmlformats.org/drawingml/2006/table">
            <a:tbl>
              <a:tblPr/>
              <a:tblGrid>
                <a:gridCol w="2743200"/>
                <a:gridCol w="5486400"/>
              </a:tblGrid>
              <a:tr h="329184">
                <a:tc>
                  <a:txBody>
                    <a:bodyPr/>
                    <a:lstStyle/>
                    <a:p>
                      <a:pPr indent="0" marL="0">
                        <a:buNone/>
                      </a:pPr>
                      <a:r>
                        <a:rPr lang="en-US" sz="1000" b="1" dirty="0">
                          <a:solidFill>
                            <a:srgbClr val="FFFFFF"/>
                          </a:solidFill>
                        </a:rPr>
                        <a:t>组件</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说明</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329184">
                <a:tc>
                  <a:txBody>
                    <a:bodyPr/>
                    <a:lstStyle/>
                    <a:p>
                      <a:pPr indent="0" marL="0">
                        <a:buNone/>
                      </a:pPr>
                      <a:r>
                        <a:rPr lang="en-US" sz="900" b="1" dirty="0">
                          <a:solidFill>
                            <a:srgbClr val="000000"/>
                          </a:solidFill>
                        </a:rPr>
                        <a:t>IFunctionRegistry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函数注册表接口，支持 Register / Unregister / Contains / Call</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29184">
                <a:tc>
                  <a:txBody>
                    <a:bodyPr/>
                    <a:lstStyle/>
                    <a:p>
                      <a:pPr indent="0" marL="0">
                        <a:buNone/>
                      </a:pPr>
                      <a:r>
                        <a:rPr lang="en-US" sz="900" b="1" dirty="0">
                          <a:solidFill>
                            <a:srgbClr val="000000"/>
                          </a:solidFill>
                        </a:rPr>
                        <a:t>FunctionDescriptor</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函数元数据：名称、参数列表、返回值类型、异步标记、编译后执行器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000000"/>
                          </a:solidFill>
                        </a:rPr>
                        <a:t>ExecutionResult</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统一执行结果：IsSuccess / Value / ErrorMessage / Duration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29184">
                <a:tc>
                  <a:txBody>
                    <a:bodyPr/>
                    <a:lstStyle/>
                    <a:p>
                      <a:pPr indent="0" marL="0">
                        <a:buNone/>
                      </a:pPr>
                      <a:r>
                        <a:rPr lang="en-US" sz="900" b="1" dirty="0">
                          <a:solidFill>
                            <a:srgbClr val="000000"/>
                          </a:solidFill>
                        </a:rPr>
                        <a:t>ExecutionContext</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基础执行上下文：ExecutionId / Items(共享数据) / CancellationToken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3657600"/>
            <a:ext cx="8229600" cy="109728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两种注册表实现：</a:t>
            </a:r>
            <a:endParaRPr lang="en-US" sz="1000" dirty="0"/>
          </a:p>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 FunctionRegistry — 通用委托注册表，基于 ConcurrentDictionary 存储委托和 IFunctionUnit</a:t>
            </a:r>
            <a:endParaRPr lang="en-US" sz="1000" dirty="0"/>
          </a:p>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 DefaultWorkflowRegistry — 工作流函数注册表，继承 IFunctionRegistry，额外支持 Func&lt;WorkflowContext, object&gt; 签名</a:t>
            </a:r>
            <a:endParaRPr lang="en-US" sz="1000" dirty="0"/>
          </a:p>
        </p:txBody>
      </p:sp>
      <p:sp>
        <p:nvSpPr>
          <p:cNvPr id="3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3.2 函数注册</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两种注册方式：</a:t>
            </a:r>
            <a:endParaRPr lang="en-US" sz="1100" dirty="0"/>
          </a:p>
        </p:txBody>
      </p:sp>
      <p:sp>
        <p:nvSpPr>
          <p:cNvPr id="5" name="Text 3"/>
          <p:cNvSpPr/>
          <p:nvPr/>
        </p:nvSpPr>
        <p:spPr>
          <a:xfrm>
            <a:off x="457200" y="1234440"/>
            <a:ext cx="8229600" cy="182880"/>
          </a:xfrm>
          <a:prstGeom prst="rect">
            <a:avLst/>
          </a:prstGeom>
          <a:noFill/>
          <a:ln/>
        </p:spPr>
        <p:txBody>
          <a:bodyPr wrap="square" rtlCol="0" anchor="t"/>
          <a:lstStyle/>
          <a:p>
            <a:pPr algn="l" indent="0" marL="0">
              <a:lnSpc>
                <a:spcPct val="115000"/>
              </a:lnSpc>
              <a:buNone/>
            </a:pPr>
            <a:r>
              <a:rPr lang="en-US" sz="1000" b="1" dirty="0">
                <a:solidFill>
                  <a:srgbClr val="065A82"/>
                </a:solidFill>
                <a:latin typeface="Calibri" pitchFamily="34" charset="0"/>
                <a:ea typeface="Calibri" pitchFamily="34" charset="-122"/>
                <a:cs typeface="Calibri" pitchFamily="34" charset="-120"/>
              </a:rPr>
              <a:t>方式一：委托注册（灵活轻量）</a:t>
            </a:r>
            <a:endParaRPr lang="en-US" sz="1000" dirty="0"/>
          </a:p>
        </p:txBody>
      </p:sp>
      <p:sp>
        <p:nvSpPr>
          <p:cNvPr id="6" name="Shape 4"/>
          <p:cNvSpPr/>
          <p:nvPr/>
        </p:nvSpPr>
        <p:spPr>
          <a:xfrm>
            <a:off x="457200" y="1463040"/>
            <a:ext cx="8229600" cy="502920"/>
          </a:xfrm>
          <a:prstGeom prst="rect">
            <a:avLst/>
          </a:prstGeom>
          <a:solidFill>
            <a:srgbClr val="1E293B"/>
          </a:solidFill>
          <a:ln/>
        </p:spPr>
      </p:sp>
      <p:sp>
        <p:nvSpPr>
          <p:cNvPr id="7" name="Text 5"/>
          <p:cNvSpPr/>
          <p:nvPr/>
        </p:nvSpPr>
        <p:spPr>
          <a:xfrm>
            <a:off x="548640" y="1536192"/>
            <a:ext cx="8046720" cy="35661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FunctionExecutionFramework.Register("Add", (Func&lt;double, double, double&gt;)Add, "Addition: a + b");</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FunctionExecutionFramework.RegisterAction&lt;string&gt;("SetApiKey", key =&gt; SetKey(key));</a:t>
            </a:r>
            <a:endParaRPr lang="en-US" sz="800" dirty="0"/>
          </a:p>
        </p:txBody>
      </p:sp>
      <p:sp>
        <p:nvSpPr>
          <p:cNvPr id="8" name="Text 6"/>
          <p:cNvSpPr/>
          <p:nvPr/>
        </p:nvSpPr>
        <p:spPr>
          <a:xfrm>
            <a:off x="457200" y="2103120"/>
            <a:ext cx="8229600" cy="182880"/>
          </a:xfrm>
          <a:prstGeom prst="rect">
            <a:avLst/>
          </a:prstGeom>
          <a:noFill/>
          <a:ln/>
        </p:spPr>
        <p:txBody>
          <a:bodyPr wrap="square" rtlCol="0" anchor="t"/>
          <a:lstStyle/>
          <a:p>
            <a:pPr algn="l" indent="0" marL="0">
              <a:lnSpc>
                <a:spcPct val="115000"/>
              </a:lnSpc>
              <a:buNone/>
            </a:pPr>
            <a:r>
              <a:rPr lang="en-US" sz="1000" b="1" dirty="0">
                <a:solidFill>
                  <a:srgbClr val="065A82"/>
                </a:solidFill>
                <a:latin typeface="Calibri" pitchFamily="34" charset="0"/>
                <a:ea typeface="Calibri" pitchFamily="34" charset="-122"/>
                <a:cs typeface="Calibri" pitchFamily="34" charset="-120"/>
              </a:rPr>
              <a:t>方式二：IFunctionUnit 注册（强类型可扩展）</a:t>
            </a:r>
            <a:endParaRPr lang="en-US" sz="1000" dirty="0"/>
          </a:p>
        </p:txBody>
      </p:sp>
      <p:sp>
        <p:nvSpPr>
          <p:cNvPr id="9" name="Shape 7"/>
          <p:cNvSpPr/>
          <p:nvPr/>
        </p:nvSpPr>
        <p:spPr>
          <a:xfrm>
            <a:off x="457200" y="2331720"/>
            <a:ext cx="8229600" cy="914400"/>
          </a:xfrm>
          <a:prstGeom prst="rect">
            <a:avLst/>
          </a:prstGeom>
          <a:solidFill>
            <a:srgbClr val="1E293B"/>
          </a:solidFill>
          <a:ln/>
        </p:spPr>
      </p:sp>
      <p:sp>
        <p:nvSpPr>
          <p:cNvPr id="10" name="Text 8"/>
          <p:cNvSpPr/>
          <p:nvPr/>
        </p:nvSpPr>
        <p:spPr>
          <a:xfrm>
            <a:off x="548640" y="2404872"/>
            <a:ext cx="8046720" cy="7680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class AddFunction : FunctionUnitBase&lt;(double a, double b), double&gt;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override string Name =&gt; "Add";</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public override double Execute((double a, double b) input, ExecutionContext? 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=&gt; input.a + input.b;</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11" name="Text 9"/>
          <p:cNvSpPr/>
          <p:nvPr/>
        </p:nvSpPr>
        <p:spPr>
          <a:xfrm>
            <a:off x="457200" y="3246120"/>
            <a:ext cx="8229600" cy="274320"/>
          </a:xfrm>
          <a:prstGeom prst="rect">
            <a:avLst/>
          </a:prstGeom>
          <a:noFill/>
          <a:ln/>
        </p:spPr>
        <p:txBody>
          <a:bodyPr wrap="square" rtlCol="0" anchor="t"/>
          <a:lstStyle/>
          <a:p>
            <a:pPr algn="l" indent="0" marL="0">
              <a:lnSpc>
                <a:spcPct val="115000"/>
              </a:lnSpc>
              <a:buNone/>
            </a:pPr>
            <a:r>
              <a:rPr lang="en-US" sz="1200" b="1" dirty="0">
                <a:solidFill>
                  <a:srgbClr val="21295C"/>
                </a:solidFill>
                <a:latin typeface="Calibri" pitchFamily="34" charset="0"/>
                <a:ea typeface="Calibri" pitchFamily="34" charset="-122"/>
                <a:cs typeface="Calibri" pitchFamily="34" charset="-120"/>
              </a:rPr>
              <a:t>3.3 执行流程</a:t>
            </a:r>
            <a:endParaRPr lang="en-US" sz="1200" dirty="0"/>
          </a:p>
        </p:txBody>
      </p:sp>
      <p:sp>
        <p:nvSpPr>
          <p:cNvPr id="12" name="Shape 10"/>
          <p:cNvSpPr/>
          <p:nvPr/>
        </p:nvSpPr>
        <p:spPr>
          <a:xfrm>
            <a:off x="457200" y="3566160"/>
            <a:ext cx="8229600" cy="914400"/>
          </a:xfrm>
          <a:prstGeom prst="rect">
            <a:avLst/>
          </a:prstGeom>
          <a:solidFill>
            <a:srgbClr val="1E293B"/>
          </a:solidFill>
          <a:ln/>
        </p:spPr>
      </p:sp>
      <p:sp>
        <p:nvSpPr>
          <p:cNvPr id="13" name="Text 11"/>
          <p:cNvSpPr/>
          <p:nvPr/>
        </p:nvSpPr>
        <p:spPr>
          <a:xfrm>
            <a:off x="548640" y="3639312"/>
            <a:ext cx="8046720" cy="7680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ExecuteAsync(funcName, parameters)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TryGetDescriptor(funcName)          // 查找函数</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DefaultParameterProcessor.Process() // 类型转换（如 "3.14" → 3.14）</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CompiledExecutor / DynamicInvoke    // 执行</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ExecutionResult                     // 返回结果</a:t>
            </a:r>
            <a:endParaRPr lang="en-US" sz="8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3.4 工作流函数注册表 &amp; 3.5 桥接机制</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45720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IWorkflowRegistry 继承 IFunctionRegistry，提供基于 WorkflowContext 的注册与调用。它属于 FunctionExecution 层，但被上层（FunctionStorage 的 WorkflowLibrary）用于注册工作流函数：</a:t>
            </a:r>
            <a:endParaRPr lang="en-US" sz="1000" dirty="0"/>
          </a:p>
        </p:txBody>
      </p:sp>
      <p:sp>
        <p:nvSpPr>
          <p:cNvPr id="5" name="Shape 3"/>
          <p:cNvSpPr/>
          <p:nvPr/>
        </p:nvSpPr>
        <p:spPr>
          <a:xfrm>
            <a:off x="457200" y="1463040"/>
            <a:ext cx="8229600" cy="777240"/>
          </a:xfrm>
          <a:prstGeom prst="rect">
            <a:avLst/>
          </a:prstGeom>
          <a:solidFill>
            <a:srgbClr val="1E293B"/>
          </a:solidFill>
          <a:ln/>
        </p:spPr>
      </p:sp>
      <p:sp>
        <p:nvSpPr>
          <p:cNvPr id="6" name="Text 4"/>
          <p:cNvSpPr/>
          <p:nvPr/>
        </p:nvSpPr>
        <p:spPr>
          <a:xfrm>
            <a:off x="548640" y="1536192"/>
            <a:ext cx="8046720" cy="63093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public interface IWorkflowRegistry : IFunctionRegistry</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void Register(string name, Func&lt;WorkflowContext, object&gt; func);</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object Call(string name, WorkflowContext 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7" name="Text 5"/>
          <p:cNvSpPr/>
          <p:nvPr/>
        </p:nvSpPr>
        <p:spPr>
          <a:xfrm>
            <a:off x="457200" y="2286000"/>
            <a:ext cx="8229600" cy="274320"/>
          </a:xfrm>
          <a:prstGeom prst="rect">
            <a:avLst/>
          </a:prstGeom>
          <a:noFill/>
          <a:ln/>
        </p:spPr>
        <p:txBody>
          <a:bodyPr wrap="square" rtlCol="0" anchor="t"/>
          <a:lstStyle/>
          <a:p>
            <a:pPr algn="l" indent="0" marL="0">
              <a:lnSpc>
                <a:spcPct val="115000"/>
              </a:lnSpc>
              <a:buNone/>
            </a:pPr>
            <a:r>
              <a:rPr lang="en-US" sz="1200" b="1" dirty="0">
                <a:solidFill>
                  <a:srgbClr val="21295C"/>
                </a:solidFill>
                <a:latin typeface="Calibri" pitchFamily="34" charset="0"/>
                <a:ea typeface="Calibri" pitchFamily="34" charset="-122"/>
                <a:cs typeface="Calibri" pitchFamily="34" charset="-120"/>
              </a:rPr>
              <a:t>3.5 桥接机制（WorkflowBridge）</a:t>
            </a:r>
            <a:endParaRPr lang="en-US" sz="1200" dirty="0"/>
          </a:p>
        </p:txBody>
      </p:sp>
      <p:sp>
        <p:nvSpPr>
          <p:cNvPr id="8" name="Text 6"/>
          <p:cNvSpPr/>
          <p:nvPr/>
        </p:nvSpPr>
        <p:spPr>
          <a:xfrm>
            <a:off x="457200" y="2606040"/>
            <a:ext cx="8229600" cy="45720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WorkflowBridge 实现 IWorkflowRegistry（工作流函数体系）与 IFunctionRegistry（通用委托体系）的双向桥接，使两个注册体系可以互相调用：</a:t>
            </a:r>
            <a:endParaRPr lang="en-US" sz="1000" dirty="0"/>
          </a:p>
        </p:txBody>
      </p:sp>
      <p:sp>
        <p:nvSpPr>
          <p:cNvPr id="9" name="Shape 7"/>
          <p:cNvSpPr/>
          <p:nvPr/>
        </p:nvSpPr>
        <p:spPr>
          <a:xfrm>
            <a:off x="457200" y="3108960"/>
            <a:ext cx="8229600" cy="274320"/>
          </a:xfrm>
          <a:prstGeom prst="rect">
            <a:avLst/>
          </a:prstGeom>
          <a:solidFill>
            <a:srgbClr val="1E293B"/>
          </a:solidFill>
          <a:ln/>
        </p:spPr>
      </p:sp>
      <p:sp>
        <p:nvSpPr>
          <p:cNvPr id="10" name="Text 8"/>
          <p:cNvSpPr/>
          <p:nvPr/>
        </p:nvSpPr>
        <p:spPr>
          <a:xfrm>
            <a:off x="548640" y="3182112"/>
            <a:ext cx="8046720" cy="12801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IWorkflowRegistry → WorkflowFunctionUnitAdapter → IFunctionUnit (通用函数单元)</a:t>
            </a:r>
            <a:endParaRPr lang="en-US" sz="800" dirty="0"/>
          </a:p>
        </p:txBody>
      </p:sp>
      <p:sp>
        <p:nvSpPr>
          <p:cNvPr id="11" name="Shape 9"/>
          <p:cNvSpPr/>
          <p:nvPr/>
        </p:nvSpPr>
        <p:spPr>
          <a:xfrm>
            <a:off x="457200" y="3520440"/>
            <a:ext cx="8229600" cy="731520"/>
          </a:xfrm>
          <a:prstGeom prst="rect">
            <a:avLst/>
          </a:prstGeom>
          <a:solidFill>
            <a:srgbClr val="E8F4F8"/>
          </a:solidFill>
          <a:ln/>
        </p:spPr>
      </p:sp>
      <p:sp>
        <p:nvSpPr>
          <p:cNvPr id="12" name="Text 10"/>
          <p:cNvSpPr/>
          <p:nvPr/>
        </p:nvSpPr>
        <p:spPr>
          <a:xfrm>
            <a:off x="594360" y="3611880"/>
            <a:ext cx="7955280" cy="548640"/>
          </a:xfrm>
          <a:prstGeom prst="rect">
            <a:avLst/>
          </a:prstGeom>
          <a:noFill/>
          <a:ln/>
        </p:spPr>
        <p:txBody>
          <a:bodyPr wrap="square" rtlCol="0" anchor="ctr"/>
          <a:lstStyle/>
          <a:p>
            <a:pPr algn="l" indent="0" marL="0">
              <a:lnSpc>
                <a:spcPct val="115000"/>
              </a:lnSpc>
              <a:buNone/>
            </a:pPr>
            <a:r>
              <a:rPr lang="en-US" sz="900" dirty="0">
                <a:solidFill>
                  <a:srgbClr val="21295C"/>
                </a:solidFill>
              </a:rPr>
              <a:t>注意：WorkFlowMethod 层的 WorkflowUseage 也提供了类似的桥接方法（RegisterFunction / RegisterDelegate / CallBridgedFunction），它是对 FunctionExecution 层桥接机制的上层封装，提供更便捷的调用入口。</a:t>
            </a:r>
            <a:endParaRPr lang="en-US" sz="900" dirty="0"/>
          </a:p>
        </p:txBody>
      </p:sp>
      <p:sp>
        <p:nvSpPr>
          <p:cNvPr id="1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05</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两种执行方式对比</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工作流执行函数 vs 直接运行函数</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4.1 用 AI 工具类比理解</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36576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理解这两种执行方式的区别，是正确使用 WorkFlow 框架的关键。我们可以用三个用户熟悉的 AI 工具来类比。</a:t>
            </a:r>
            <a:endParaRPr lang="en-US" sz="1100" dirty="0"/>
          </a:p>
        </p:txBody>
      </p:sp>
      <p:sp>
        <p:nvSpPr>
          <p:cNvPr id="5" name="Shape 3"/>
          <p:cNvSpPr/>
          <p:nvPr/>
        </p:nvSpPr>
        <p:spPr>
          <a:xfrm>
            <a:off x="457200" y="1463040"/>
            <a:ext cx="3657600" cy="2286000"/>
          </a:xfrm>
          <a:prstGeom prst="rect">
            <a:avLst/>
          </a:prstGeom>
          <a:solidFill>
            <a:srgbClr val="E8F4F8"/>
          </a:solidFill>
          <a:ln w="19050">
            <a:solidFill>
              <a:srgbClr val="1C7293"/>
            </a:solidFill>
            <a:prstDash val="solid"/>
          </a:ln>
        </p:spPr>
      </p:sp>
      <p:sp>
        <p:nvSpPr>
          <p:cNvPr id="6" name="Shape 4"/>
          <p:cNvSpPr/>
          <p:nvPr/>
        </p:nvSpPr>
        <p:spPr>
          <a:xfrm>
            <a:off x="457200" y="1463040"/>
            <a:ext cx="3657600" cy="320040"/>
          </a:xfrm>
          <a:prstGeom prst="rect">
            <a:avLst/>
          </a:prstGeom>
          <a:solidFill>
            <a:srgbClr val="1C7293"/>
          </a:solidFill>
          <a:ln/>
        </p:spPr>
      </p:sp>
      <p:sp>
        <p:nvSpPr>
          <p:cNvPr id="7" name="Text 5"/>
          <p:cNvSpPr/>
          <p:nvPr/>
        </p:nvSpPr>
        <p:spPr>
          <a:xfrm>
            <a:off x="548640" y="1481328"/>
            <a:ext cx="3474720" cy="274320"/>
          </a:xfrm>
          <a:prstGeom prst="rect">
            <a:avLst/>
          </a:prstGeom>
          <a:noFill/>
          <a:ln/>
        </p:spPr>
        <p:txBody>
          <a:bodyPr wrap="square" rtlCol="0" anchor="ctr">
            <a:normAutofit/>
          </a:bodyPr>
          <a:lstStyle/>
          <a:p>
            <a:pPr indent="0" marL="0">
              <a:buNone/>
            </a:pPr>
            <a:r>
              <a:rPr lang="en-US" sz="1100" b="1" dirty="0">
                <a:solidFill>
                  <a:srgbClr val="FFFFFF"/>
                </a:solidFill>
              </a:rPr>
              <a:t>直接运行函数 ≈ 网页版大模型</a:t>
            </a:r>
            <a:endParaRPr lang="en-US" sz="1100" dirty="0"/>
          </a:p>
        </p:txBody>
      </p:sp>
      <p:sp>
        <p:nvSpPr>
          <p:cNvPr id="8" name="Text 6"/>
          <p:cNvSpPr/>
          <p:nvPr/>
        </p:nvSpPr>
        <p:spPr>
          <a:xfrm>
            <a:off x="548640" y="1874520"/>
            <a:ext cx="3474720" cy="914400"/>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就像在 DeepSeek 网页版中提问：你输入一个问题，模型直接返回答案。每次对话都是独立的，没有上下文记忆，没有多步骤编排，没有工具调用。简单直接，适合一次性查询。</a:t>
            </a:r>
            <a:endParaRPr lang="en-US" sz="900" dirty="0"/>
          </a:p>
        </p:txBody>
      </p:sp>
      <p:sp>
        <p:nvSpPr>
          <p:cNvPr id="9" name="Shape 7"/>
          <p:cNvSpPr/>
          <p:nvPr/>
        </p:nvSpPr>
        <p:spPr>
          <a:xfrm>
            <a:off x="548640" y="2926080"/>
            <a:ext cx="3474720" cy="457200"/>
          </a:xfrm>
          <a:prstGeom prst="rect">
            <a:avLst/>
          </a:prstGeom>
          <a:solidFill>
            <a:srgbClr val="1E293B"/>
          </a:solidFill>
          <a:ln/>
        </p:spPr>
      </p:sp>
      <p:sp>
        <p:nvSpPr>
          <p:cNvPr id="10" name="Text 8"/>
          <p:cNvSpPr/>
          <p:nvPr/>
        </p:nvSpPr>
        <p:spPr>
          <a:xfrm>
            <a:off x="640080" y="2999232"/>
            <a:ext cx="3291840" cy="3108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result = FunctionExecutionFramework</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.ExecuteAsync("Add", new object[] { 1, 2 });</a:t>
            </a:r>
            <a:endParaRPr lang="en-US" sz="800" dirty="0"/>
          </a:p>
        </p:txBody>
      </p:sp>
      <p:sp>
        <p:nvSpPr>
          <p:cNvPr id="11" name="Shape 9"/>
          <p:cNvSpPr/>
          <p:nvPr/>
        </p:nvSpPr>
        <p:spPr>
          <a:xfrm>
            <a:off x="5029200" y="1463040"/>
            <a:ext cx="3657600" cy="2560320"/>
          </a:xfrm>
          <a:prstGeom prst="rect">
            <a:avLst/>
          </a:prstGeom>
          <a:solidFill>
            <a:srgbClr val="E8F4F8"/>
          </a:solidFill>
          <a:ln w="19050">
            <a:solidFill>
              <a:srgbClr val="065A82"/>
            </a:solidFill>
            <a:prstDash val="solid"/>
          </a:ln>
        </p:spPr>
      </p:sp>
      <p:sp>
        <p:nvSpPr>
          <p:cNvPr id="12" name="Shape 10"/>
          <p:cNvSpPr/>
          <p:nvPr/>
        </p:nvSpPr>
        <p:spPr>
          <a:xfrm>
            <a:off x="5029200" y="1463040"/>
            <a:ext cx="3657600" cy="320040"/>
          </a:xfrm>
          <a:prstGeom prst="rect">
            <a:avLst/>
          </a:prstGeom>
          <a:solidFill>
            <a:srgbClr val="065A82"/>
          </a:solidFill>
          <a:ln/>
        </p:spPr>
      </p:sp>
      <p:sp>
        <p:nvSpPr>
          <p:cNvPr id="13" name="Text 11"/>
          <p:cNvSpPr/>
          <p:nvPr/>
        </p:nvSpPr>
        <p:spPr>
          <a:xfrm>
            <a:off x="5120640" y="1481328"/>
            <a:ext cx="3474720" cy="274320"/>
          </a:xfrm>
          <a:prstGeom prst="rect">
            <a:avLst/>
          </a:prstGeom>
          <a:noFill/>
          <a:ln/>
        </p:spPr>
        <p:txBody>
          <a:bodyPr wrap="square" rtlCol="0" anchor="ctr">
            <a:normAutofit/>
          </a:bodyPr>
          <a:lstStyle/>
          <a:p>
            <a:pPr indent="0" marL="0">
              <a:buNone/>
            </a:pPr>
            <a:r>
              <a:rPr lang="en-US" sz="1100" b="1" dirty="0">
                <a:solidFill>
                  <a:srgbClr val="FFFFFF"/>
                </a:solidFill>
              </a:rPr>
              <a:t>工作流执行函数 ≈ Cline / Trae</a:t>
            </a:r>
            <a:endParaRPr lang="en-US" sz="1100" dirty="0"/>
          </a:p>
        </p:txBody>
      </p:sp>
      <p:sp>
        <p:nvSpPr>
          <p:cNvPr id="14" name="Text 12"/>
          <p:cNvSpPr/>
          <p:nvPr/>
        </p:nvSpPr>
        <p:spPr>
          <a:xfrm>
            <a:off x="5120640" y="1874520"/>
            <a:ext cx="3474720" cy="1097280"/>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就像 Cline 或 Trae 的工作模式：它们有一个主循环（Main Loop），维护完整的对话上下文（SmartContext），能够自主选择工具（SelectionStrategy），按步骤执行任务（子工作流），并在执行过程中不断更新上下文。这不是一次性的问答，而是一个有状态、有编排、可迭代的完整流程。</a:t>
            </a:r>
            <a:endParaRPr lang="en-US" sz="900" dirty="0"/>
          </a:p>
        </p:txBody>
      </p:sp>
      <p:sp>
        <p:nvSpPr>
          <p:cNvPr id="15" name="Shape 13"/>
          <p:cNvSpPr/>
          <p:nvPr/>
        </p:nvSpPr>
        <p:spPr>
          <a:xfrm>
            <a:off x="5120640" y="3017520"/>
            <a:ext cx="3474720" cy="914400"/>
          </a:xfrm>
          <a:prstGeom prst="rect">
            <a:avLst/>
          </a:prstGeom>
          <a:solidFill>
            <a:srgbClr val="1E293B"/>
          </a:solidFill>
          <a:ln/>
        </p:spPr>
      </p:sp>
      <p:sp>
        <p:nvSpPr>
          <p:cNvPr id="16" name="Text 14"/>
          <p:cNvSpPr/>
          <p:nvPr/>
        </p:nvSpPr>
        <p:spPr>
          <a:xfrm>
            <a:off x="5212080" y="3090672"/>
            <a:ext cx="3291840" cy="7680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context = new WorkflowContext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NodeKey = "Step1",</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WorkflowId = "CodeReview"</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result = WorkflowUseage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.CallBridgedFunction("ChatComplete", context);</a:t>
            </a:r>
            <a:endParaRPr lang="en-US" sz="8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4.2 技术对比</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200400"/>
        </p:xfrm>
        <a:graphic>
          <a:graphicData uri="http://schemas.openxmlformats.org/drawingml/2006/table">
            <a:tbl>
              <a:tblPr/>
              <a:tblGrid>
                <a:gridCol w="1371600"/>
                <a:gridCol w="3429000"/>
                <a:gridCol w="3429000"/>
              </a:tblGrid>
              <a:tr h="355600">
                <a:tc>
                  <a:txBody>
                    <a:bodyPr/>
                    <a:lstStyle/>
                    <a:p>
                      <a:pPr indent="0" marL="0">
                        <a:buNone/>
                      </a:pPr>
                      <a:r>
                        <a:rPr lang="en-US" sz="900" b="1" dirty="0">
                          <a:solidFill>
                            <a:srgbClr val="FFFFFF"/>
                          </a:solidFill>
                        </a:rPr>
                        <a:t>对比维度</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网页版大模型（直接运行函数）</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1C7293"/>
                    </a:solidFill>
                  </a:tcPr>
                </a:tc>
                <a:tc>
                  <a:txBody>
                    <a:bodyPr/>
                    <a:lstStyle/>
                    <a:p>
                      <a:pPr indent="0" marL="0">
                        <a:buNone/>
                      </a:pPr>
                      <a:r>
                        <a:rPr lang="en-US" sz="900" b="1" dirty="0">
                          <a:solidFill>
                            <a:srgbClr val="FFFFFF"/>
                          </a:solidFill>
                        </a:rPr>
                        <a:t>Cline/Trae（工作流执行函数）</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065A82"/>
                    </a:solidFill>
                  </a:tcPr>
                </a:tc>
              </a:tr>
              <a:tr h="355600">
                <a:tc>
                  <a:txBody>
                    <a:bodyPr/>
                    <a:lstStyle/>
                    <a:p>
                      <a:pPr indent="0" marL="0">
                        <a:buNone/>
                      </a:pPr>
                      <a:r>
                        <a:rPr lang="en-US" sz="900" dirty="0">
                          <a:solidFill>
                            <a:srgbClr val="000000"/>
                          </a:solidFill>
                        </a:rPr>
                        <a:t>调用方式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FunctionExecutionFramework.ExecuteAsync()</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WorkflowUseage.CallBridgedFunction()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55600">
                <a:tc>
                  <a:txBody>
                    <a:bodyPr/>
                    <a:lstStyle/>
                    <a:p>
                      <a:pPr indent="0" marL="0">
                        <a:buNone/>
                      </a:pPr>
                      <a:r>
                        <a:rPr lang="en-US" sz="900" dirty="0">
                          <a:solidFill>
                            <a:srgbClr val="000000"/>
                          </a:solidFill>
                        </a:rPr>
                        <a:t>执行引擎</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FunctionExecution 直接执行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WorkFlowMethod 编排后执行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55600">
                <a:tc>
                  <a:txBody>
                    <a:bodyPr/>
                    <a:lstStyle/>
                    <a:p>
                      <a:pPr indent="0" marL="0">
                        <a:buNone/>
                      </a:pPr>
                      <a:r>
                        <a:rPr lang="en-US" sz="900" dirty="0">
                          <a:solidFill>
                            <a:srgbClr val="000000"/>
                          </a:solidFill>
                        </a:rPr>
                        <a:t>上下文</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ExecutionContext（基础）</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WorkflowContext（含 NodeKey、WorkflowId）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55600">
                <a:tc>
                  <a:txBody>
                    <a:bodyPr/>
                    <a:lstStyle/>
                    <a:p>
                      <a:pPr indent="0" marL="0">
                        <a:buNone/>
                      </a:pPr>
                      <a:r>
                        <a:rPr lang="en-US" sz="900" dirty="0">
                          <a:solidFill>
                            <a:srgbClr val="000000"/>
                          </a:solidFill>
                        </a:rPr>
                        <a:t>注册体系</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IFunctionRegistry（通用委托）</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IWorkflowRegistry（工作流函数）</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55600">
                <a:tc>
                  <a:txBody>
                    <a:bodyPr/>
                    <a:lstStyle/>
                    <a:p>
                      <a:pPr indent="0" marL="0">
                        <a:buNone/>
                      </a:pPr>
                      <a:r>
                        <a:rPr lang="en-US" sz="900" dirty="0">
                          <a:solidFill>
                            <a:srgbClr val="000000"/>
                          </a:solidFill>
                        </a:rPr>
                        <a:t>交互模式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一次问答</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主循环 + 多步骤</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55600">
                <a:tc>
                  <a:txBody>
                    <a:bodyPr/>
                    <a:lstStyle/>
                    <a:p>
                      <a:pPr indent="0" marL="0">
                        <a:buNone/>
                      </a:pPr>
                      <a:r>
                        <a:rPr lang="en-US" sz="900" dirty="0">
                          <a:solidFill>
                            <a:srgbClr val="000000"/>
                          </a:solidFill>
                        </a:rPr>
                        <a:t>状态管理</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无状态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有状态（上下文链）</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55600">
                <a:tc>
                  <a:txBody>
                    <a:bodyPr/>
                    <a:lstStyle/>
                    <a:p>
                      <a:pPr indent="0" marL="0">
                        <a:buNone/>
                      </a:pPr>
                      <a:r>
                        <a:rPr lang="en-US" sz="900" dirty="0">
                          <a:solidFill>
                            <a:srgbClr val="000000"/>
                          </a:solidFill>
                        </a:rPr>
                        <a:t>动态调整</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不支持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支持运行时插入/删除节点</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55600">
                <a:tc>
                  <a:txBody>
                    <a:bodyPr/>
                    <a:lstStyle/>
                    <a:p>
                      <a:pPr indent="0" marL="0">
                        <a:buNone/>
                      </a:pPr>
                      <a:r>
                        <a:rPr lang="en-US" sz="900" dirty="0">
                          <a:solidFill>
                            <a:srgbClr val="000000"/>
                          </a:solidFill>
                        </a:rPr>
                        <a:t>适用场景</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简单查询、独立计算</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复杂任务、多步骤编排、AI 驱动流程</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3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4.3 执行流程对比 &amp; 4.4 桥接机制</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直接运行函数的执行流程：</a:t>
            </a:r>
            <a:endParaRPr lang="en-US" sz="1000" dirty="0"/>
          </a:p>
        </p:txBody>
      </p:sp>
      <p:sp>
        <p:nvSpPr>
          <p:cNvPr id="5" name="Shape 3"/>
          <p:cNvSpPr/>
          <p:nvPr/>
        </p:nvSpPr>
        <p:spPr>
          <a:xfrm>
            <a:off x="457200" y="1143000"/>
            <a:ext cx="8229600" cy="777240"/>
          </a:xfrm>
          <a:prstGeom prst="rect">
            <a:avLst/>
          </a:prstGeom>
          <a:solidFill>
            <a:srgbClr val="1E293B"/>
          </a:solidFill>
          <a:ln/>
        </p:spPr>
      </p:sp>
      <p:sp>
        <p:nvSpPr>
          <p:cNvPr id="6" name="Text 4"/>
          <p:cNvSpPr/>
          <p:nvPr/>
        </p:nvSpPr>
        <p:spPr>
          <a:xfrm>
            <a:off x="548640" y="1216152"/>
            <a:ext cx="8046720" cy="63093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ExecuteAsync(funcName, parameters)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TryGetDescriptor(funcName)          // 查找函数</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DefaultParameterProcessor.Process() // 类型转换（如 "3.14" → 3.14）</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CompiledExecutor / DynamicInvoke    // 执行</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ExecutionResult                     // 返回结果</a:t>
            </a:r>
            <a:endParaRPr lang="en-US" sz="800" dirty="0"/>
          </a:p>
        </p:txBody>
      </p:sp>
      <p:sp>
        <p:nvSpPr>
          <p:cNvPr id="7" name="Text 5"/>
          <p:cNvSpPr/>
          <p:nvPr/>
        </p:nvSpPr>
        <p:spPr>
          <a:xfrm>
            <a:off x="457200" y="201168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工作流执行函数的执行流程：</a:t>
            </a:r>
            <a:endParaRPr lang="en-US" sz="1000" dirty="0"/>
          </a:p>
        </p:txBody>
      </p:sp>
      <p:sp>
        <p:nvSpPr>
          <p:cNvPr id="8" name="Shape 6"/>
          <p:cNvSpPr/>
          <p:nvPr/>
        </p:nvSpPr>
        <p:spPr>
          <a:xfrm>
            <a:off x="457200" y="2240280"/>
            <a:ext cx="8229600" cy="1097280"/>
          </a:xfrm>
          <a:prstGeom prst="rect">
            <a:avLst/>
          </a:prstGeom>
          <a:solidFill>
            <a:srgbClr val="1E293B"/>
          </a:solidFill>
          <a:ln/>
        </p:spPr>
      </p:sp>
      <p:sp>
        <p:nvSpPr>
          <p:cNvPr id="9" name="Text 7"/>
          <p:cNvSpPr/>
          <p:nvPr/>
        </p:nvSpPr>
        <p:spPr>
          <a:xfrm>
            <a:off x="548640" y="2313432"/>
            <a:ext cx="8046720" cy="95097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ExecuteWorkflow(def, input)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初始化上下文（合并 input + 注入 apiKey）</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遍历 steps：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解析参数（${key} 变量替换）</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FunctionExecutionFramework.ExecuteAsync() [优先]</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失败回退 WorkflowUseage.CallBridgedFunction() [回退]</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存储结果到 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outputMapping 映射返回</a:t>
            </a:r>
            <a:endParaRPr lang="en-US" sz="800" dirty="0"/>
          </a:p>
        </p:txBody>
      </p:sp>
      <p:sp>
        <p:nvSpPr>
          <p:cNvPr id="10" name="Text 8"/>
          <p:cNvSpPr/>
          <p:nvPr/>
        </p:nvSpPr>
        <p:spPr>
          <a:xfrm>
            <a:off x="457200" y="347472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4.4 桥接机制：两个体系的互通</a:t>
            </a:r>
            <a:endParaRPr lang="en-US" sz="1100" dirty="0"/>
          </a:p>
        </p:txBody>
      </p:sp>
      <p:sp>
        <p:nvSpPr>
          <p:cNvPr id="11" name="Text 9"/>
          <p:cNvSpPr/>
          <p:nvPr/>
        </p:nvSpPr>
        <p:spPr>
          <a:xfrm>
            <a:off x="457200" y="3749040"/>
            <a:ext cx="8229600" cy="365760"/>
          </a:xfrm>
          <a:prstGeom prst="rect">
            <a:avLst/>
          </a:prstGeom>
          <a:noFill/>
          <a:ln/>
        </p:spPr>
        <p:txBody>
          <a:bodyPr wrap="square" rtlCol="0" anchor="t"/>
          <a:lstStyle/>
          <a:p>
            <a:pPr algn="l" indent="0" marL="0">
              <a:lnSpc>
                <a:spcPct val="115000"/>
              </a:lnSpc>
              <a:buNone/>
            </a:pPr>
            <a:r>
              <a:rPr lang="en-US" sz="900" dirty="0">
                <a:solidFill>
                  <a:srgbClr val="21295C"/>
                </a:solidFill>
                <a:latin typeface="Calibri" pitchFamily="34" charset="0"/>
                <a:ea typeface="Calibri" pitchFamily="34" charset="-122"/>
                <a:cs typeface="Calibri" pitchFamily="34" charset="-120"/>
              </a:rPr>
              <a:t>两种执行方式并非完全隔离。WorkflowBridge 实现了 IWorkflowRegistry（工作流函数体系）与 IFunctionRegistry（通用委托体系）的双向桥接：</a:t>
            </a:r>
            <a:endParaRPr lang="en-US" sz="900" dirty="0"/>
          </a:p>
        </p:txBody>
      </p:sp>
      <p:sp>
        <p:nvSpPr>
          <p:cNvPr id="12" name="Shape 10"/>
          <p:cNvSpPr/>
          <p:nvPr/>
        </p:nvSpPr>
        <p:spPr>
          <a:xfrm>
            <a:off x="457200" y="4160520"/>
            <a:ext cx="8229600" cy="228600"/>
          </a:xfrm>
          <a:prstGeom prst="rect">
            <a:avLst/>
          </a:prstGeom>
          <a:solidFill>
            <a:srgbClr val="1E293B"/>
          </a:solidFill>
          <a:ln/>
        </p:spPr>
      </p:sp>
      <p:sp>
        <p:nvSpPr>
          <p:cNvPr id="13" name="Text 11"/>
          <p:cNvSpPr/>
          <p:nvPr/>
        </p:nvSpPr>
        <p:spPr>
          <a:xfrm>
            <a:off x="548640" y="4233672"/>
            <a:ext cx="8046720" cy="822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IWorkflowRegistry → WorkflowFunctionUnitAdapter → IFunctionUnit (通用函数单元)</a:t>
            </a:r>
            <a:endParaRPr lang="en-US" sz="8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4.4 桥接代码 &amp; 4.5 选择建议</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2860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WorkflowUseage 在此基础上提供了更便捷的上层封装：</a:t>
            </a:r>
            <a:endParaRPr lang="en-US" sz="1000" dirty="0"/>
          </a:p>
        </p:txBody>
      </p:sp>
      <p:sp>
        <p:nvSpPr>
          <p:cNvPr id="5" name="Shape 3"/>
          <p:cNvSpPr/>
          <p:nvPr/>
        </p:nvSpPr>
        <p:spPr>
          <a:xfrm>
            <a:off x="457200" y="1188720"/>
            <a:ext cx="8229600" cy="1554480"/>
          </a:xfrm>
          <a:prstGeom prst="rect">
            <a:avLst/>
          </a:prstGeom>
          <a:solidFill>
            <a:srgbClr val="1E293B"/>
          </a:solidFill>
          <a:ln/>
        </p:spPr>
      </p:sp>
      <p:sp>
        <p:nvSpPr>
          <p:cNvPr id="6" name="Text 4"/>
          <p:cNvSpPr/>
          <p:nvPr/>
        </p:nvSpPr>
        <p:spPr>
          <a:xfrm>
            <a:off x="548640" y="1261872"/>
            <a:ext cx="8046720" cy="140817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工作流函数注册（带 WorkflowContext）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WorkflowUseage.RegisterFunction("Add", ctx =&gt;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var a = ctx.GetParameter&lt;int&gt;("0");</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var b = ctx.GetParameter&lt;int&gt;("1");</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return a + b;</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通用委托注册（任意签名）</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WorkflowUseage.RegisterDelegate("Multiply",</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new Func&lt;int, int, int&gt;((a, b) =&gt; a * b));</a:t>
            </a:r>
            <a:endParaRPr lang="en-US" sz="800" dirty="0"/>
          </a:p>
          <a:p>
            <a:pPr algn="l" indent="0" marL="0">
              <a:lnSpc>
                <a:spcPct val="100000"/>
              </a:lnSpc>
              <a:buNone/>
            </a:pP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桥接调用（自动选择注册表）</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var result = WorkflowUseage.CallBridgedFunction("Add", context);</a:t>
            </a:r>
            <a:endParaRPr lang="en-US" sz="800" dirty="0"/>
          </a:p>
        </p:txBody>
      </p:sp>
      <p:sp>
        <p:nvSpPr>
          <p:cNvPr id="7" name="Text 5"/>
          <p:cNvSpPr/>
          <p:nvPr/>
        </p:nvSpPr>
        <p:spPr>
          <a:xfrm>
            <a:off x="457200" y="2880360"/>
            <a:ext cx="8229600" cy="274320"/>
          </a:xfrm>
          <a:prstGeom prst="rect">
            <a:avLst/>
          </a:prstGeom>
          <a:noFill/>
          <a:ln/>
        </p:spPr>
        <p:txBody>
          <a:bodyPr wrap="square" rtlCol="0" anchor="t"/>
          <a:lstStyle/>
          <a:p>
            <a:pPr algn="l" indent="0" marL="0">
              <a:lnSpc>
                <a:spcPct val="115000"/>
              </a:lnSpc>
              <a:buNone/>
            </a:pPr>
            <a:r>
              <a:rPr lang="en-US" sz="1200" b="1" dirty="0">
                <a:solidFill>
                  <a:srgbClr val="21295C"/>
                </a:solidFill>
                <a:latin typeface="Calibri" pitchFamily="34" charset="0"/>
                <a:ea typeface="Calibri" pitchFamily="34" charset="-122"/>
                <a:cs typeface="Calibri" pitchFamily="34" charset="-120"/>
              </a:rPr>
              <a:t>4.5 选择建议</a:t>
            </a:r>
            <a:endParaRPr lang="en-US" sz="1200" dirty="0"/>
          </a:p>
        </p:txBody>
      </p:sp>
      <p:sp>
        <p:nvSpPr>
          <p:cNvPr id="8" name="Text 6"/>
          <p:cNvSpPr/>
          <p:nvPr/>
        </p:nvSpPr>
        <p:spPr>
          <a:xfrm>
            <a:off x="457200" y="3200400"/>
            <a:ext cx="8229600" cy="109728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如果只是执行一个独立的计算或操作——就像在网页版大模型中问一个简单问题——直接运行函数就足够了。如果需要多个步骤的编排、状态管理、运行时动态调整，或者需要与 UI 事件联动——就像 Cline 或 Trae 处理一个复杂任务——就应该使用工作流执行函数。</a:t>
            </a:r>
            <a:endParaRPr lang="en-US" sz="11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06</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FunctionStorage</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函数存储与 UI 执行桥接层</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5.1 概述 &amp; 5.2 函数库注册</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45720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FunctionStorage 位于 FunctionExecution 之上，承担三项职责：函数库注册、JSON 工作流执行、UI 事件桥接。它是连接 UI 层（WdUI）与执行层（FunctionExecution）的关键桥梁。</a:t>
            </a:r>
            <a:endParaRPr lang="en-US" sz="1100" dirty="0"/>
          </a:p>
        </p:txBody>
      </p:sp>
      <p:sp>
        <p:nvSpPr>
          <p:cNvPr id="5" name="Text 3"/>
          <p:cNvSpPr/>
          <p:nvPr/>
        </p:nvSpPr>
        <p:spPr>
          <a:xfrm>
            <a:off x="457200" y="146304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将多领域函数集中注册到 FunctionExecutionFramework：</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1645920"/>
        </p:xfrm>
        <a:graphic>
          <a:graphicData uri="http://schemas.openxmlformats.org/drawingml/2006/table">
            <a:tbl>
              <a:tblPr/>
              <a:tblGrid>
                <a:gridCol w="1828800"/>
                <a:gridCol w="3657600"/>
                <a:gridCol w="2743200"/>
              </a:tblGrid>
              <a:tr h="329184">
                <a:tc>
                  <a:txBody>
                    <a:bodyPr/>
                    <a:lstStyle/>
                    <a:p>
                      <a:pPr indent="0" marL="0">
                        <a:buNone/>
                      </a:pPr>
                      <a:r>
                        <a:rPr lang="en-US" sz="1000" b="1" dirty="0">
                          <a:solidFill>
                            <a:srgbClr val="FFFFFF"/>
                          </a:solidFill>
                        </a:rPr>
                        <a:t>函数库</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注册函数</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说明</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329184">
                <a:tc>
                  <a:txBody>
                    <a:bodyPr/>
                    <a:lstStyle/>
                    <a:p>
                      <a:pPr indent="0" marL="0">
                        <a:buNone/>
                      </a:pPr>
                      <a:r>
                        <a:rPr lang="en-US" sz="900" dirty="0">
                          <a:solidFill>
                            <a:srgbClr val="000000"/>
                          </a:solidFill>
                        </a:rPr>
                        <a:t>MathLibrary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Add/Subtract/Multiply/Divide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基础数学运算（含别名 Plus/Minus）</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29184">
                <a:tc>
                  <a:txBody>
                    <a:bodyPr/>
                    <a:lstStyle/>
                    <a:p>
                      <a:pPr indent="0" marL="0">
                        <a:buNone/>
                      </a:pPr>
                      <a:r>
                        <a:rPr lang="en-US" sz="900" dirty="0">
                          <a:solidFill>
                            <a:srgbClr val="000000"/>
                          </a:solidFill>
                        </a:rPr>
                        <a:t>ModelLibrary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ChatComplete/ChatCompleteAsync/ChatCompleteRaw</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DeepSeek 模型调用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29184">
                <a:tc>
                  <a:txBody>
                    <a:bodyPr/>
                    <a:lstStyle/>
                    <a:p>
                      <a:pPr indent="0" marL="0">
                        <a:buNone/>
                      </a:pPr>
                      <a:r>
                        <a:rPr lang="en-US" sz="900" dirty="0">
                          <a:solidFill>
                            <a:srgbClr val="000000"/>
                          </a:solidFill>
                        </a:rPr>
                        <a:t>ModelLibrary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ExecuteWorkflow/LoadWorkflowDetails/SaveResultToFile</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WorkflowRunner 界面函数</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29184">
                <a:tc>
                  <a:txBody>
                    <a:bodyPr/>
                    <a:lstStyle/>
                    <a:p>
                      <a:pPr indent="0" marL="0">
                        <a:buNone/>
                      </a:pPr>
                      <a:r>
                        <a:rPr lang="en-US" sz="900" dirty="0">
                          <a:solidFill>
                            <a:srgbClr val="000000"/>
                          </a:solidFill>
                        </a:rPr>
                        <a:t>WorkflowLibrary</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动态注册所有 JSON 工作流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将 JSON 工作流注册为可调用函数</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3566160"/>
            <a:ext cx="8229600" cy="22860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WorkflowLibrary 的核心逻辑——将 JSON 工作流同时注册到两个函数体系：</a:t>
            </a:r>
            <a:endParaRPr lang="en-US" sz="1000" dirty="0"/>
          </a:p>
        </p:txBody>
      </p:sp>
      <p:sp>
        <p:nvSpPr>
          <p:cNvPr id="8" name="Shape 5"/>
          <p:cNvSpPr/>
          <p:nvPr/>
        </p:nvSpPr>
        <p:spPr>
          <a:xfrm>
            <a:off x="457200" y="3840480"/>
            <a:ext cx="8229600" cy="914400"/>
          </a:xfrm>
          <a:prstGeom prst="rect">
            <a:avLst/>
          </a:prstGeom>
          <a:solidFill>
            <a:srgbClr val="1E293B"/>
          </a:solidFill>
          <a:ln/>
        </p:spPr>
      </p:sp>
      <p:sp>
        <p:nvSpPr>
          <p:cNvPr id="9" name="Text 6"/>
          <p:cNvSpPr/>
          <p:nvPr/>
        </p:nvSpPr>
        <p:spPr>
          <a:xfrm>
            <a:off x="548640" y="3913632"/>
            <a:ext cx="8046720" cy="7680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遍历 JSON 工作流，同时注册到两个体系</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WorkflowUseage.RegisterFunction(name,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context =&gt; ExecuteWorkflow(def, input));  // 工作流函数</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WorkflowUseage.RegisterDelegate(name,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(Func&lt;string, string&gt;)(input =&gt; ...));    // 委托函数</a:t>
            </a:r>
            <a:endParaRPr lang="en-US" sz="800" dirty="0"/>
          </a:p>
        </p:txBody>
      </p:sp>
      <p:sp>
        <p:nvSpPr>
          <p:cNvPr id="4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5.3 JSON 驱动的工作流执行（WorkflowExecutionLayer）</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457200"/>
          </a:xfrm>
          <a:prstGeom prst="rect">
            <a:avLst/>
          </a:prstGeom>
          <a:noFill/>
          <a:ln/>
        </p:spPr>
        <p:txBody>
          <a:bodyPr wrap="square" rtlCol="0" anchor="t"/>
          <a:lstStyle/>
          <a:p>
            <a:pPr algn="l" indent="0" marL="0">
              <a:lnSpc>
                <a:spcPct val="115000"/>
              </a:lnSpc>
              <a:buNone/>
            </a:pPr>
            <a:r>
              <a:rPr lang="en-US" sz="1000" dirty="0">
                <a:solidFill>
                  <a:srgbClr val="21295C"/>
                </a:solidFill>
                <a:latin typeface="Calibri" pitchFamily="34" charset="0"/>
                <a:ea typeface="Calibri" pitchFamily="34" charset="-122"/>
                <a:cs typeface="Calibri" pitchFamily="34" charset="-120"/>
              </a:rPr>
              <a:t>从 FileDriven/DrivenConfig/WorkFlow/ 加载 JSON 定义并执行。此处的 JSON 是步骤式工作流定义，与 WorkFlowMethod 的管线定义 JSON（§2.4）格式不同、执行机制不同：</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1645920"/>
        </p:xfrm>
        <a:graphic>
          <a:graphicData uri="http://schemas.openxmlformats.org/drawingml/2006/table">
            <a:tbl>
              <a:tblPr/>
              <a:tblGrid>
                <a:gridCol w="1371600"/>
                <a:gridCol w="3429000"/>
                <a:gridCol w="3429000"/>
              </a:tblGrid>
              <a:tr h="274320">
                <a:tc>
                  <a:txBody>
                    <a:bodyPr/>
                    <a:lstStyle/>
                    <a:p>
                      <a:pPr indent="0" marL="0">
                        <a:buNone/>
                      </a:pPr>
                      <a:r>
                        <a:rPr lang="en-US" sz="900" b="1" dirty="0">
                          <a:solidFill>
                            <a:srgbClr val="FFFFFF"/>
                          </a:solidFill>
                        </a:rPr>
                        <a:t>对比维度</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WorkFlowMethod 管线 JSON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FunctionStorage 步骤式 JSON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065A82"/>
                    </a:solidFill>
                  </a:tcPr>
                </a:tc>
              </a:tr>
              <a:tr h="274320">
                <a:tc>
                  <a:txBody>
                    <a:bodyPr/>
                    <a:lstStyle/>
                    <a:p>
                      <a:pPr indent="0" marL="0">
                        <a:buNone/>
                      </a:pPr>
                      <a:r>
                        <a:rPr lang="en-US" sz="900" dirty="0">
                          <a:solidFill>
                            <a:srgbClr val="000000"/>
                          </a:solidFill>
                        </a:rPr>
                        <a:t>定位</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引擎层原生管线定义</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桥接层的工作流配置</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74320">
                <a:tc>
                  <a:txBody>
                    <a:bodyPr/>
                    <a:lstStyle/>
                    <a:p>
                      <a:pPr indent="0" marL="0">
                        <a:buNone/>
                      </a:pPr>
                      <a:r>
                        <a:rPr lang="en-US" sz="900" dirty="0">
                          <a:solidFill>
                            <a:srgbClr val="000000"/>
                          </a:solidFill>
                        </a:rPr>
                        <a:t>执行机制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PipelineExecutor 直接执行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遍历 steps，调用 FunctionExecution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000000"/>
                          </a:solidFill>
                        </a:rPr>
                        <a:t>变量替换</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不支持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支持 ${key} 模板替换</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74320">
                <a:tc>
                  <a:txBody>
                    <a:bodyPr/>
                    <a:lstStyle/>
                    <a:p>
                      <a:pPr indent="0" marL="0">
                        <a:buNone/>
                      </a:pPr>
                      <a:r>
                        <a:rPr lang="en-US" sz="900" dirty="0">
                          <a:solidFill>
                            <a:srgbClr val="000000"/>
                          </a:solidFill>
                        </a:rPr>
                        <a:t>输出映射</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步骤间隐式传递</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显式 outputMapping</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000000"/>
                          </a:solidFill>
                        </a:rPr>
                        <a:t>适用场景</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后端工作流编排</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UI 驱动的轻量工作流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4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5.3 JSON 格式与执行流程</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JSON 格式示例：</a:t>
            </a:r>
            <a:endParaRPr lang="en-US" sz="1000" dirty="0"/>
          </a:p>
        </p:txBody>
      </p:sp>
      <p:sp>
        <p:nvSpPr>
          <p:cNvPr id="5" name="Shape 3"/>
          <p:cNvSpPr/>
          <p:nvPr/>
        </p:nvSpPr>
        <p:spPr>
          <a:xfrm>
            <a:off x="457200" y="1143000"/>
            <a:ext cx="8229600" cy="1828800"/>
          </a:xfrm>
          <a:prstGeom prst="rect">
            <a:avLst/>
          </a:prstGeom>
          <a:solidFill>
            <a:srgbClr val="1E293B"/>
          </a:solidFill>
          <a:ln/>
        </p:spPr>
      </p:sp>
      <p:sp>
        <p:nvSpPr>
          <p:cNvPr id="6" name="Text 4"/>
          <p:cNvSpPr/>
          <p:nvPr/>
        </p:nvSpPr>
        <p:spPr>
          <a:xfrm>
            <a:off x="548640" y="1216152"/>
            <a:ext cx="8046720" cy="16824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"workflowName": "CodeReviewWorkflow",</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"displayName": "代码审查工作流",</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"steps":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"stepName": "分析代码",</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"funcName": "ChatComplete",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"outputKey": "reviewResult",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"parameters":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"你是一个代码审查专家，请分析以下代码：\n${userInput}",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"${userInput}"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"outputMapping": { "response": "reviewResult"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7" name="Text 5"/>
          <p:cNvSpPr/>
          <p:nvPr/>
        </p:nvSpPr>
        <p:spPr>
          <a:xfrm>
            <a:off x="457200" y="310896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执行流程：</a:t>
            </a:r>
            <a:endParaRPr lang="en-US" sz="1000" dirty="0"/>
          </a:p>
        </p:txBody>
      </p:sp>
      <p:sp>
        <p:nvSpPr>
          <p:cNvPr id="8" name="Shape 6"/>
          <p:cNvSpPr/>
          <p:nvPr/>
        </p:nvSpPr>
        <p:spPr>
          <a:xfrm>
            <a:off x="457200" y="3337560"/>
            <a:ext cx="8229600" cy="1554480"/>
          </a:xfrm>
          <a:prstGeom prst="rect">
            <a:avLst/>
          </a:prstGeom>
          <a:solidFill>
            <a:srgbClr val="1E293B"/>
          </a:solidFill>
          <a:ln/>
        </p:spPr>
      </p:sp>
      <p:sp>
        <p:nvSpPr>
          <p:cNvPr id="9" name="Text 7"/>
          <p:cNvSpPr/>
          <p:nvPr/>
        </p:nvSpPr>
        <p:spPr>
          <a:xfrm>
            <a:off x="548640" y="3410712"/>
            <a:ext cx="8046720" cy="140817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ExecuteWorkflow(def, input)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初始化上下文（合并 input + 注入 apiKey）</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遍历 steps：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解析参数（${key} 变量替换）</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FunctionExecutionFramework.ExecuteAsync() [优先]</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失败回退 WorkflowUseage.CallBridgedFunction() [回退]</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存储结果到 context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outputMapping 映射返回</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有 "response" 字段 → 直接返回文本</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单字段 → 直接返回值</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多字段 → 返回 JSON</a:t>
            </a:r>
            <a:endParaRPr lang="en-US" sz="800" dirty="0"/>
          </a:p>
        </p:txBody>
      </p:sp>
      <p:sp>
        <p:nvSpPr>
          <p:cNvPr id="1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5.3 变量替换</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1097280"/>
        </p:xfrm>
        <a:graphic>
          <a:graphicData uri="http://schemas.openxmlformats.org/drawingml/2006/table">
            <a:tbl>
              <a:tblPr/>
              <a:tblGrid>
                <a:gridCol w="2286000"/>
                <a:gridCol w="2743200"/>
                <a:gridCol w="3200400"/>
              </a:tblGrid>
              <a:tr h="274320">
                <a:tc>
                  <a:txBody>
                    <a:bodyPr/>
                    <a:lstStyle/>
                    <a:p>
                      <a:pPr indent="0" marL="0">
                        <a:buNone/>
                      </a:pPr>
                      <a:r>
                        <a:rPr lang="en-US" sz="1000" b="1" dirty="0">
                          <a:solidFill>
                            <a:srgbClr val="FFFFFF"/>
                          </a:solidFill>
                        </a:rPr>
                        <a:t>语法</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示例</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1000" b="1" dirty="0">
                          <a:solidFill>
                            <a:srgbClr val="FFFFFF"/>
                          </a:solidFill>
                        </a:rPr>
                        <a:t>说明</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74320">
                <a:tc>
                  <a:txBody>
                    <a:bodyPr/>
                    <a:lstStyle/>
                    <a:p>
                      <a:pPr indent="0" marL="0">
                        <a:buNone/>
                      </a:pPr>
                      <a:r>
                        <a:rPr lang="en-US" sz="1000" dirty="0">
                          <a:solidFill>
                            <a:srgbClr val="000000"/>
                          </a:solidFill>
                        </a:rPr>
                        <a:t>${key}</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${userInput}</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替换为 context 中的值</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74320">
                <a:tc>
                  <a:txBody>
                    <a:bodyPr/>
                    <a:lstStyle/>
                    <a:p>
                      <a:pPr indent="0" marL="0">
                        <a:buNone/>
                      </a:pPr>
                      <a:r>
                        <a:rPr lang="en-US" sz="1000" dirty="0">
                          <a:solidFill>
                            <a:srgbClr val="000000"/>
                          </a:solidFill>
                        </a:rPr>
                        <a:t>文本${key}文本</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请分析：${userInput}</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rPr>
                        <a:t>字符串中嵌入变量</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000000"/>
                          </a:solidFill>
                        </a:rPr>
                        <a:t>${apiKey}</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自动注入</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1000" dirty="0">
                          <a:solidFill>
                            <a:srgbClr val="000000"/>
                          </a:solidFill>
                        </a:rPr>
                        <a:t>从环境变量读取 DeepSeekAPI</a:t>
                      </a:r>
                      <a:endParaRPr lang="en-US" sz="10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4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5.4 UI 事件桥接（UIConnector）</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7432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连接 WdUI 控件与函数执行引擎，实现配置即交互。</a:t>
            </a:r>
            <a:endParaRPr lang="en-US" sz="1100" dirty="0"/>
          </a:p>
        </p:txBody>
      </p:sp>
      <p:sp>
        <p:nvSpPr>
          <p:cNvPr id="5" name="Text 3"/>
          <p:cNvSpPr/>
          <p:nvPr/>
        </p:nvSpPr>
        <p:spPr>
          <a:xfrm>
            <a:off x="457200" y="128016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支持的事件：</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1828800"/>
        </p:xfrm>
        <a:graphic>
          <a:graphicData uri="http://schemas.openxmlformats.org/drawingml/2006/table">
            <a:tbl>
              <a:tblPr/>
              <a:tblGrid>
                <a:gridCol w="2286000"/>
                <a:gridCol w="2286000"/>
                <a:gridCol w="2286000"/>
                <a:gridCol w="2286000"/>
              </a:tblGrid>
              <a:tr h="304800">
                <a:tc>
                  <a:txBody>
                    <a:bodyPr/>
                    <a:lstStyle/>
                    <a:p>
                      <a:pPr indent="0" marL="0">
                        <a:buNone/>
                      </a:pPr>
                      <a:r>
                        <a:rPr lang="en-US" sz="900" b="1" dirty="0">
                          <a:solidFill>
                            <a:srgbClr val="FFFFFF"/>
                          </a:solidFill>
                        </a:rPr>
                        <a:t>事件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控件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参数来源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结果回写</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304800">
                <a:tc>
                  <a:txBody>
                    <a:bodyPr/>
                    <a:lstStyle/>
                    <a:p>
                      <a:pPr indent="0" marL="0">
                        <a:buNone/>
                      </a:pPr>
                      <a:r>
                        <a:rPr lang="en-US" sz="900" dirty="0">
                          <a:solidFill>
                            <a:srgbClr val="000000"/>
                          </a:solidFill>
                        </a:rPr>
                        <a:t>Click</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Button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Bindings.Inputs 指定控件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Bindings.Output 指定控件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04800">
                <a:tc>
                  <a:txBody>
                    <a:bodyPr/>
                    <a:lstStyle/>
                    <a:p>
                      <a:pPr indent="0" marL="0">
                        <a:buNone/>
                      </a:pPr>
                      <a:r>
                        <a:rPr lang="en-US" sz="900" dirty="0">
                          <a:solidFill>
                            <a:srgbClr val="000000"/>
                          </a:solidFill>
                        </a:rPr>
                        <a:t>TextChanged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TextBox</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文本框文本</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同上</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04800">
                <a:tc>
                  <a:txBody>
                    <a:bodyPr/>
                    <a:lstStyle/>
                    <a:p>
                      <a:pPr indent="0" marL="0">
                        <a:buNone/>
                      </a:pPr>
                      <a:r>
                        <a:rPr lang="en-US" sz="900" dirty="0">
                          <a:solidFill>
                            <a:srgbClr val="000000"/>
                          </a:solidFill>
                        </a:rPr>
                        <a:t>SelectedIndexChanged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ComboBox</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选中项</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同上</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304800">
                <a:tc>
                  <a:txBody>
                    <a:bodyPr/>
                    <a:lstStyle/>
                    <a:p>
                      <a:pPr indent="0" marL="0">
                        <a:buNone/>
                      </a:pPr>
                      <a:r>
                        <a:rPr lang="en-US" sz="900" dirty="0">
                          <a:solidFill>
                            <a:srgbClr val="000000"/>
                          </a:solidFill>
                        </a:rPr>
                        <a:t>CheckedChanged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CheckBox</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选中状态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同上</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304800">
                <a:tc>
                  <a:txBody>
                    <a:bodyPr/>
                    <a:lstStyle/>
                    <a:p>
                      <a:pPr indent="0" marL="0">
                        <a:buNone/>
                      </a:pPr>
                      <a:r>
                        <a:rPr lang="en-US" sz="900" dirty="0">
                          <a:solidFill>
                            <a:srgbClr val="000000"/>
                          </a:solidFill>
                        </a:rPr>
                        <a:t>ValueChanged</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TrackBar/NumericUpDown</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当前值</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同上</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7" name="Text 4"/>
          <p:cNvSpPr/>
          <p:nvPr/>
        </p:nvSpPr>
        <p:spPr>
          <a:xfrm>
            <a:off x="457200" y="352044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绑定流程：</a:t>
            </a:r>
            <a:endParaRPr lang="en-US" sz="1000" dirty="0"/>
          </a:p>
        </p:txBody>
      </p:sp>
      <p:sp>
        <p:nvSpPr>
          <p:cNvPr id="8" name="Shape 5"/>
          <p:cNvSpPr/>
          <p:nvPr/>
        </p:nvSpPr>
        <p:spPr>
          <a:xfrm>
            <a:off x="457200" y="3749040"/>
            <a:ext cx="8229600" cy="822960"/>
          </a:xfrm>
          <a:prstGeom prst="rect">
            <a:avLst/>
          </a:prstGeom>
          <a:solidFill>
            <a:srgbClr val="1E293B"/>
          </a:solidFill>
          <a:ln/>
        </p:spPr>
      </p:sp>
      <p:sp>
        <p:nvSpPr>
          <p:cNvPr id="9" name="Text 6"/>
          <p:cNvSpPr/>
          <p:nvPr/>
        </p:nvSpPr>
        <p:spPr>
          <a:xfrm>
            <a:off x="548640" y="3822192"/>
            <a:ext cx="8046720" cy="67665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控件事件触发</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ExtractParameters() 从输入控件取值（支持 7 种控件类型）</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FunctionExecutionFramework.ExecuteAsync(funcName, parameters)</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WriteResult() 将结果写回输出控件（TextBox/Label/ProgressBar/TrackBar/NumericUpDown）</a:t>
            </a:r>
            <a:endParaRPr lang="en-US" sz="800" dirty="0"/>
          </a:p>
        </p:txBody>
      </p:sp>
      <p:sp>
        <p:nvSpPr>
          <p:cNvPr id="4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5.4 UI 事件桥接 — 配置示例</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182880"/>
          </a:xfrm>
          <a:prstGeom prst="rect">
            <a:avLst/>
          </a:prstGeom>
          <a:noFill/>
          <a:ln/>
        </p:spPr>
        <p:txBody>
          <a:bodyPr wrap="square" rtlCol="0" anchor="t"/>
          <a:lstStyle/>
          <a:p>
            <a:pPr algn="l" indent="0" marL="0">
              <a:lnSpc>
                <a:spcPct val="115000"/>
              </a:lnSpc>
              <a:buNone/>
            </a:pPr>
            <a:r>
              <a:rPr lang="en-US" sz="1000" b="1" dirty="0">
                <a:solidFill>
                  <a:srgbClr val="21295C"/>
                </a:solidFill>
                <a:latin typeface="Calibri" pitchFamily="34" charset="0"/>
                <a:ea typeface="Calibri" pitchFamily="34" charset="-122"/>
                <a:cs typeface="Calibri" pitchFamily="34" charset="-120"/>
              </a:rPr>
              <a:t>配置示例：</a:t>
            </a:r>
            <a:endParaRPr lang="en-US" sz="1000" dirty="0"/>
          </a:p>
        </p:txBody>
      </p:sp>
      <p:sp>
        <p:nvSpPr>
          <p:cNvPr id="5" name="Shape 3"/>
          <p:cNvSpPr/>
          <p:nvPr/>
        </p:nvSpPr>
        <p:spPr>
          <a:xfrm>
            <a:off x="457200" y="1188720"/>
            <a:ext cx="8229600" cy="1828800"/>
          </a:xfrm>
          <a:prstGeom prst="rect">
            <a:avLst/>
          </a:prstGeom>
          <a:solidFill>
            <a:srgbClr val="1E293B"/>
          </a:solidFill>
          <a:ln/>
        </p:spPr>
      </p:sp>
      <p:sp>
        <p:nvSpPr>
          <p:cNvPr id="6" name="Text 4"/>
          <p:cNvSpPr/>
          <p:nvPr/>
        </p:nvSpPr>
        <p:spPr>
          <a:xfrm>
            <a:off x="548640" y="1261872"/>
            <a:ext cx="8046720" cy="168249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"controls":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"name": "btnExecute",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"type": "Button",</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"text": "执行工作流",</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"events":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"click": "ExecuteWorkflow",</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"bindings":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"inputs": ["txtInput"],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"output": "txtResult"</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a:t>
            </a:r>
            <a:endParaRPr lang="en-US" sz="8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07</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WdUI</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UI 框架层</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6.1 概述</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548640"/>
          </a:xfrm>
          <a:prstGeom prst="rect">
            <a:avLst/>
          </a:prstGeom>
          <a:noFill/>
          <a:ln/>
        </p:spPr>
        <p:txBody>
          <a:bodyPr wrap="square" rtlCol="0" anchor="t"/>
          <a:lstStyle/>
          <a:p>
            <a:pPr algn="l" indent="0" marL="0">
              <a:lnSpc>
                <a:spcPct val="115000"/>
              </a:lnSpc>
              <a:buNone/>
            </a:pPr>
            <a:r>
              <a:rPr lang="en-US" sz="1100" dirty="0">
                <a:solidFill>
                  <a:srgbClr val="21295C"/>
                </a:solidFill>
                <a:latin typeface="Calibri" pitchFamily="34" charset="0"/>
                <a:ea typeface="Calibri" pitchFamily="34" charset="-122"/>
                <a:cs typeface="Calibri" pitchFamily="34" charset="-120"/>
              </a:rPr>
              <a:t>WdUI（Windows Desktop UI）是一个基于 .NET 10.0 和 Windows Forms 的配置驱动 UI 框架，核心能力是通过 JSON 配置文件动态生成窗体界面，实现 UI 与业务逻辑的完全分离。它位于架构最顶层，依赖 FunctionStorage 提供的桥接能力与后端交互。</a:t>
            </a:r>
            <a:endParaRPr lang="en-US" sz="1100" dirty="0"/>
          </a:p>
        </p:txBody>
      </p:sp>
      <p:sp>
        <p:nvSpPr>
          <p:cNvPr id="5" name="Text 3"/>
          <p:cNvSpPr/>
          <p:nvPr/>
        </p:nvSpPr>
        <p:spPr>
          <a:xfrm>
            <a:off x="457200" y="1554480"/>
            <a:ext cx="8229600" cy="274320"/>
          </a:xfrm>
          <a:prstGeom prst="rect">
            <a:avLst/>
          </a:prstGeom>
          <a:noFill/>
          <a:ln/>
        </p:spPr>
        <p:txBody>
          <a:bodyPr wrap="square" rtlCol="0" anchor="t"/>
          <a:lstStyle/>
          <a:p>
            <a:pPr algn="l" indent="0" marL="0">
              <a:lnSpc>
                <a:spcPct val="115000"/>
              </a:lnSpc>
              <a:buNone/>
            </a:pPr>
            <a:r>
              <a:rPr lang="en-US" sz="1200" b="1" dirty="0">
                <a:solidFill>
                  <a:srgbClr val="21295C"/>
                </a:solidFill>
                <a:latin typeface="Calibri" pitchFamily="34" charset="0"/>
                <a:ea typeface="Calibri" pitchFamily="34" charset="-122"/>
                <a:cs typeface="Calibri" pitchFamily="34" charset="-120"/>
              </a:rPr>
              <a:t>6.2 核心功能</a:t>
            </a:r>
            <a:endParaRPr lang="en-US" sz="1200" dirty="0"/>
          </a:p>
        </p:txBody>
      </p:sp>
      <p:sp>
        <p:nvSpPr>
          <p:cNvPr id="6" name="Shape 4"/>
          <p:cNvSpPr/>
          <p:nvPr/>
        </p:nvSpPr>
        <p:spPr>
          <a:xfrm>
            <a:off x="548640" y="1965960"/>
            <a:ext cx="91440" cy="91440"/>
          </a:xfrm>
          <a:prstGeom prst="ellipse">
            <a:avLst/>
          </a:prstGeom>
          <a:solidFill>
            <a:srgbClr val="00A896"/>
          </a:solidFill>
          <a:ln/>
        </p:spPr>
      </p:sp>
      <p:sp>
        <p:nvSpPr>
          <p:cNvPr id="7" name="Text 5"/>
          <p:cNvSpPr/>
          <p:nvPr/>
        </p:nvSpPr>
        <p:spPr>
          <a:xfrm>
            <a:off x="731520" y="1920240"/>
            <a:ext cx="7772400" cy="320040"/>
          </a:xfrm>
          <a:prstGeom prst="rect">
            <a:avLst/>
          </a:prstGeom>
          <a:noFill/>
          <a:ln/>
        </p:spPr>
        <p:txBody>
          <a:bodyPr wrap="square" rtlCol="0" anchor="ctr">
            <a:normAutofit/>
          </a:bodyPr>
          <a:lstStyle/>
          <a:p>
            <a:pPr indent="0" marL="0">
              <a:buNone/>
            </a:pPr>
            <a:r>
              <a:rPr lang="en-US" sz="1000" dirty="0">
                <a:solidFill>
                  <a:srgbClr val="21295C"/>
                </a:solidFill>
              </a:rPr>
              <a:t>JSON 驱动渲染：通过 JSON 定义窗体、视图、控件布局与事件，无需编译即可调整界面</a:t>
            </a:r>
            <a:endParaRPr lang="en-US" sz="1000" dirty="0"/>
          </a:p>
        </p:txBody>
      </p:sp>
      <p:sp>
        <p:nvSpPr>
          <p:cNvPr id="8" name="Shape 6"/>
          <p:cNvSpPr/>
          <p:nvPr/>
        </p:nvSpPr>
        <p:spPr>
          <a:xfrm>
            <a:off x="548640" y="2350008"/>
            <a:ext cx="91440" cy="91440"/>
          </a:xfrm>
          <a:prstGeom prst="ellipse">
            <a:avLst/>
          </a:prstGeom>
          <a:solidFill>
            <a:srgbClr val="00A896"/>
          </a:solidFill>
          <a:ln/>
        </p:spPr>
      </p:sp>
      <p:sp>
        <p:nvSpPr>
          <p:cNvPr id="9" name="Text 7"/>
          <p:cNvSpPr/>
          <p:nvPr/>
        </p:nvSpPr>
        <p:spPr>
          <a:xfrm>
            <a:off x="731520" y="2304288"/>
            <a:ext cx="7772400" cy="320040"/>
          </a:xfrm>
          <a:prstGeom prst="rect">
            <a:avLst/>
          </a:prstGeom>
          <a:noFill/>
          <a:ln/>
        </p:spPr>
        <p:txBody>
          <a:bodyPr wrap="square" rtlCol="0" anchor="ctr">
            <a:normAutofit/>
          </a:bodyPr>
          <a:lstStyle/>
          <a:p>
            <a:pPr indent="0" marL="0">
              <a:buNone/>
            </a:pPr>
            <a:r>
              <a:rPr lang="en-US" sz="1000" dirty="0">
                <a:solidFill>
                  <a:srgbClr val="21295C"/>
                </a:solidFill>
              </a:rPr>
              <a:t>15+ 内置控件：Button、TextBox、ListView、DataGridView、TabControl 等常用控件开箱即用</a:t>
            </a:r>
            <a:endParaRPr lang="en-US" sz="1000" dirty="0"/>
          </a:p>
        </p:txBody>
      </p:sp>
      <p:sp>
        <p:nvSpPr>
          <p:cNvPr id="10" name="Shape 8"/>
          <p:cNvSpPr/>
          <p:nvPr/>
        </p:nvSpPr>
        <p:spPr>
          <a:xfrm>
            <a:off x="548640" y="2734056"/>
            <a:ext cx="91440" cy="91440"/>
          </a:xfrm>
          <a:prstGeom prst="ellipse">
            <a:avLst/>
          </a:prstGeom>
          <a:solidFill>
            <a:srgbClr val="00A896"/>
          </a:solidFill>
          <a:ln/>
        </p:spPr>
      </p:sp>
      <p:sp>
        <p:nvSpPr>
          <p:cNvPr id="11" name="Text 9"/>
          <p:cNvSpPr/>
          <p:nvPr/>
        </p:nvSpPr>
        <p:spPr>
          <a:xfrm>
            <a:off x="731520" y="2688336"/>
            <a:ext cx="7772400" cy="320040"/>
          </a:xfrm>
          <a:prstGeom prst="rect">
            <a:avLst/>
          </a:prstGeom>
          <a:noFill/>
          <a:ln/>
        </p:spPr>
        <p:txBody>
          <a:bodyPr wrap="square" rtlCol="0" anchor="ctr">
            <a:normAutofit/>
          </a:bodyPr>
          <a:lstStyle/>
          <a:p>
            <a:pPr indent="0" marL="0">
              <a:buNone/>
            </a:pPr>
            <a:r>
              <a:rPr lang="en-US" sz="1000" dirty="0">
                <a:solidFill>
                  <a:srgbClr val="21295C"/>
                </a:solidFill>
              </a:rPr>
              <a:t>比例布局系统：基于 0.0~1.0 相对值的智能布局，自适应窗口大小变化</a:t>
            </a:r>
            <a:endParaRPr lang="en-US" sz="1000" dirty="0"/>
          </a:p>
        </p:txBody>
      </p:sp>
      <p:sp>
        <p:nvSpPr>
          <p:cNvPr id="12" name="Shape 10"/>
          <p:cNvSpPr/>
          <p:nvPr/>
        </p:nvSpPr>
        <p:spPr>
          <a:xfrm>
            <a:off x="548640" y="3118104"/>
            <a:ext cx="91440" cy="91440"/>
          </a:xfrm>
          <a:prstGeom prst="ellipse">
            <a:avLst/>
          </a:prstGeom>
          <a:solidFill>
            <a:srgbClr val="00A896"/>
          </a:solidFill>
          <a:ln/>
        </p:spPr>
      </p:sp>
      <p:sp>
        <p:nvSpPr>
          <p:cNvPr id="13" name="Text 11"/>
          <p:cNvSpPr/>
          <p:nvPr/>
        </p:nvSpPr>
        <p:spPr>
          <a:xfrm>
            <a:off x="731520" y="3072384"/>
            <a:ext cx="7772400" cy="320040"/>
          </a:xfrm>
          <a:prstGeom prst="rect">
            <a:avLst/>
          </a:prstGeom>
          <a:noFill/>
          <a:ln/>
        </p:spPr>
        <p:txBody>
          <a:bodyPr wrap="square" rtlCol="0" anchor="ctr">
            <a:normAutofit/>
          </a:bodyPr>
          <a:lstStyle/>
          <a:p>
            <a:pPr indent="0" marL="0">
              <a:buNone/>
            </a:pPr>
            <a:r>
              <a:rPr lang="en-US" sz="1000" dirty="0">
                <a:solidFill>
                  <a:srgbClr val="21295C"/>
                </a:solidFill>
              </a:rPr>
              <a:t>事件中介器：基于中介者模式的控件间通信，打破直接耦合</a:t>
            </a:r>
            <a:endParaRPr lang="en-US" sz="1000" dirty="0"/>
          </a:p>
        </p:txBody>
      </p:sp>
      <p:sp>
        <p:nvSpPr>
          <p:cNvPr id="14" name="Shape 12"/>
          <p:cNvSpPr/>
          <p:nvPr/>
        </p:nvSpPr>
        <p:spPr>
          <a:xfrm>
            <a:off x="548640" y="3502152"/>
            <a:ext cx="91440" cy="91440"/>
          </a:xfrm>
          <a:prstGeom prst="ellipse">
            <a:avLst/>
          </a:prstGeom>
          <a:solidFill>
            <a:srgbClr val="00A896"/>
          </a:solidFill>
          <a:ln/>
        </p:spPr>
      </p:sp>
      <p:sp>
        <p:nvSpPr>
          <p:cNvPr id="15" name="Text 13"/>
          <p:cNvSpPr/>
          <p:nvPr/>
        </p:nvSpPr>
        <p:spPr>
          <a:xfrm>
            <a:off x="731520" y="3456432"/>
            <a:ext cx="7772400" cy="320040"/>
          </a:xfrm>
          <a:prstGeom prst="rect">
            <a:avLst/>
          </a:prstGeom>
          <a:noFill/>
          <a:ln/>
        </p:spPr>
        <p:txBody>
          <a:bodyPr wrap="square" rtlCol="0" anchor="ctr">
            <a:normAutofit/>
          </a:bodyPr>
          <a:lstStyle/>
          <a:p>
            <a:pPr indent="0" marL="0">
              <a:buNone/>
            </a:pPr>
            <a:r>
              <a:rPr lang="en-US" sz="1000" dirty="0">
                <a:solidFill>
                  <a:srgbClr val="21295C"/>
                </a:solidFill>
              </a:rPr>
              <a:t>嵌套容器：ConfigContainer 支持 UI 容器层层嵌套，实现模块化界面组装</a:t>
            </a:r>
            <a:endParaRPr lang="en-US" sz="1000" dirty="0"/>
          </a:p>
        </p:txBody>
      </p:sp>
      <p:sp>
        <p:nvSpPr>
          <p:cNvPr id="16" name="Shape 14"/>
          <p:cNvSpPr/>
          <p:nvPr/>
        </p:nvSpPr>
        <p:spPr>
          <a:xfrm>
            <a:off x="548640" y="3886200"/>
            <a:ext cx="91440" cy="91440"/>
          </a:xfrm>
          <a:prstGeom prst="ellipse">
            <a:avLst/>
          </a:prstGeom>
          <a:solidFill>
            <a:srgbClr val="00A896"/>
          </a:solidFill>
          <a:ln/>
        </p:spPr>
      </p:sp>
      <p:sp>
        <p:nvSpPr>
          <p:cNvPr id="17" name="Text 15"/>
          <p:cNvSpPr/>
          <p:nvPr/>
        </p:nvSpPr>
        <p:spPr>
          <a:xfrm>
            <a:off x="731520" y="3840480"/>
            <a:ext cx="7772400" cy="320040"/>
          </a:xfrm>
          <a:prstGeom prst="rect">
            <a:avLst/>
          </a:prstGeom>
          <a:noFill/>
          <a:ln/>
        </p:spPr>
        <p:txBody>
          <a:bodyPr wrap="square" rtlCol="0" anchor="ctr">
            <a:normAutofit/>
          </a:bodyPr>
          <a:lstStyle/>
          <a:p>
            <a:pPr indent="0" marL="0">
              <a:buNone/>
            </a:pPr>
            <a:r>
              <a:rPr lang="en-US" sz="1000" dirty="0">
                <a:solidFill>
                  <a:srgbClr val="21295C"/>
                </a:solidFill>
              </a:rPr>
              <a:t>重叠检测与优化：自动检测控件重叠并生成修复方案</a:t>
            </a:r>
            <a:endParaRPr lang="en-US" sz="10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08</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执行链路全景与跨层协同</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完整示例与协同机制</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七、执行链路全景</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7.1 UI 事件链路（最常用）</a:t>
            </a:r>
            <a:endParaRPr lang="en-US" sz="1100" dirty="0"/>
          </a:p>
        </p:txBody>
      </p:sp>
      <p:sp>
        <p:nvSpPr>
          <p:cNvPr id="5" name="Shape 3"/>
          <p:cNvSpPr/>
          <p:nvPr/>
        </p:nvSpPr>
        <p:spPr>
          <a:xfrm>
            <a:off x="457200" y="1188720"/>
            <a:ext cx="8229600" cy="274320"/>
          </a:xfrm>
          <a:prstGeom prst="rect">
            <a:avLst/>
          </a:prstGeom>
          <a:solidFill>
            <a:srgbClr val="1E293B"/>
          </a:solidFill>
          <a:ln/>
        </p:spPr>
      </p:sp>
      <p:sp>
        <p:nvSpPr>
          <p:cNvPr id="6" name="Text 4"/>
          <p:cNvSpPr/>
          <p:nvPr/>
        </p:nvSpPr>
        <p:spPr>
          <a:xfrm>
            <a:off x="548640" y="1261872"/>
            <a:ext cx="8046720" cy="12801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用户点击 → UIConnector 提取参数 → FunctionExecution 查找并执行函数 → UIConnector 写回结果</a:t>
            </a:r>
            <a:endParaRPr lang="en-US" sz="800" dirty="0"/>
          </a:p>
        </p:txBody>
      </p:sp>
      <p:sp>
        <p:nvSpPr>
          <p:cNvPr id="7" name="Text 5"/>
          <p:cNvSpPr/>
          <p:nvPr/>
        </p:nvSpPr>
        <p:spPr>
          <a:xfrm>
            <a:off x="457200" y="160020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7.2 JSON 工作流链路（配置驱动）</a:t>
            </a:r>
            <a:endParaRPr lang="en-US" sz="1100" dirty="0"/>
          </a:p>
        </p:txBody>
      </p:sp>
      <p:sp>
        <p:nvSpPr>
          <p:cNvPr id="8" name="Shape 6"/>
          <p:cNvSpPr/>
          <p:nvPr/>
        </p:nvSpPr>
        <p:spPr>
          <a:xfrm>
            <a:off x="457200" y="1874520"/>
            <a:ext cx="8229600" cy="274320"/>
          </a:xfrm>
          <a:prstGeom prst="rect">
            <a:avLst/>
          </a:prstGeom>
          <a:solidFill>
            <a:srgbClr val="1E293B"/>
          </a:solidFill>
          <a:ln/>
        </p:spPr>
      </p:sp>
      <p:sp>
        <p:nvSpPr>
          <p:cNvPr id="9" name="Text 7"/>
          <p:cNvSpPr/>
          <p:nvPr/>
        </p:nvSpPr>
        <p:spPr>
          <a:xfrm>
            <a:off x="548640" y="1947672"/>
            <a:ext cx="8046720" cy="12801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外部调用 → 加载 JSON → 遍历步骤（变量替换 → 执行函数 → 存结果）→ outputMapping 返回</a:t>
            </a:r>
            <a:endParaRPr lang="en-US" sz="800" dirty="0"/>
          </a:p>
        </p:txBody>
      </p:sp>
      <p:sp>
        <p:nvSpPr>
          <p:cNvPr id="10" name="Text 8"/>
          <p:cNvSpPr/>
          <p:nvPr/>
        </p:nvSpPr>
        <p:spPr>
          <a:xfrm>
            <a:off x="457200" y="228600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7.3 完整示例：AI 代码审查</a:t>
            </a:r>
            <a:endParaRPr lang="en-US" sz="1100" dirty="0"/>
          </a:p>
        </p:txBody>
      </p:sp>
      <p:sp>
        <p:nvSpPr>
          <p:cNvPr id="11" name="Shape 9"/>
          <p:cNvSpPr/>
          <p:nvPr/>
        </p:nvSpPr>
        <p:spPr>
          <a:xfrm>
            <a:off x="457200" y="2560320"/>
            <a:ext cx="8229600" cy="1097280"/>
          </a:xfrm>
          <a:prstGeom prst="rect">
            <a:avLst/>
          </a:prstGeom>
          <a:solidFill>
            <a:srgbClr val="1E293B"/>
          </a:solidFill>
          <a:ln/>
        </p:spPr>
      </p:sp>
      <p:sp>
        <p:nvSpPr>
          <p:cNvPr id="12" name="Text 10"/>
          <p:cNvSpPr/>
          <p:nvPr/>
        </p:nvSpPr>
        <p:spPr>
          <a:xfrm>
            <a:off x="548640" y="2633472"/>
            <a:ext cx="8046720" cy="950976"/>
          </a:xfrm>
          <a:prstGeom prst="rect">
            <a:avLst/>
          </a:prstGeom>
          <a:noFill/>
          <a:ln/>
        </p:spPr>
        <p:txBody>
          <a:bodyPr wrap="square" rtlCol="0" anchor="t"/>
          <a:lstStyle/>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用户点击按钮 → UIConnector 提取代码</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ExecuteWorkflow("CodeReview", code)</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步骤1: ChatComplete(systemPrompt, userInput) → AI 审查</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步骤2: FormatReview(reviewResult) → 格式化报告</a:t>
            </a:r>
            <a:endParaRPr lang="en-US" sz="800" dirty="0"/>
          </a:p>
          <a:p>
            <a:pPr algn="l" indent="0" marL="0">
              <a:lnSpc>
                <a:spcPct val="100000"/>
              </a:lnSpc>
              <a:buNone/>
            </a:pPr>
            <a:r>
              <a:rPr lang="en-US" sz="800" dirty="0">
                <a:solidFill>
                  <a:srgbClr val="E8F4F8"/>
                </a:solidFill>
                <a:latin typeface="Courier New" pitchFamily="34" charset="0"/>
                <a:ea typeface="Courier New" pitchFamily="34" charset="-122"/>
                <a:cs typeface="Courier New" pitchFamily="34" charset="-120"/>
              </a:rPr>
              <a:t>  → outputMapping 返回文本 → UIConnector 显示在 txtResult</a:t>
            </a:r>
            <a:endParaRPr lang="en-US" sz="800" dirty="0"/>
          </a:p>
        </p:txBody>
      </p:sp>
      <p:sp>
        <p:nvSpPr>
          <p:cNvPr id="1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八、跨层协同机制</a:t>
            </a:r>
            <a:endParaRPr lang="en-US" sz="2600" dirty="0"/>
          </a:p>
        </p:txBody>
      </p:sp>
      <p:sp>
        <p:nvSpPr>
          <p:cNvPr id="3" name="Shape 1"/>
          <p:cNvSpPr/>
          <p:nvPr/>
        </p:nvSpPr>
        <p:spPr>
          <a:xfrm>
            <a:off x="457200" y="868680"/>
            <a:ext cx="1097280" cy="36576"/>
          </a:xfrm>
          <a:prstGeom prst="rect">
            <a:avLst/>
          </a:prstGeom>
          <a:solidFill>
            <a:srgbClr val="065A82"/>
          </a:solidFill>
          <a:ln/>
        </p:spPr>
      </p:sp>
      <p:sp>
        <p:nvSpPr>
          <p:cNvPr id="4" name="Text 2"/>
          <p:cNvSpPr/>
          <p:nvPr/>
        </p:nvSpPr>
        <p:spPr>
          <a:xfrm>
            <a:off x="457200" y="91440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8.1 WdUI 与 FunctionStorage 协同</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1645920"/>
        </p:xfrm>
        <a:graphic>
          <a:graphicData uri="http://schemas.openxmlformats.org/drawingml/2006/table">
            <a:tbl>
              <a:tblPr/>
              <a:tblGrid>
                <a:gridCol w="2286000"/>
                <a:gridCol w="5943600"/>
              </a:tblGrid>
              <a:tr h="274320">
                <a:tc>
                  <a:txBody>
                    <a:bodyPr/>
                    <a:lstStyle/>
                    <a:p>
                      <a:pPr indent="0" marL="0">
                        <a:buNone/>
                      </a:pPr>
                      <a:r>
                        <a:rPr lang="en-US" sz="900" b="1" dirty="0">
                          <a:solidFill>
                            <a:srgbClr val="FFFFFF"/>
                          </a:solidFill>
                        </a:rPr>
                        <a:t>协同场景</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实现方式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74320">
                <a:tc>
                  <a:txBody>
                    <a:bodyPr/>
                    <a:lstStyle/>
                    <a:p>
                      <a:pPr indent="0" marL="0">
                        <a:buNone/>
                      </a:pPr>
                      <a:r>
                        <a:rPr lang="en-US" sz="900" dirty="0">
                          <a:solidFill>
                            <a:srgbClr val="000000"/>
                          </a:solidFill>
                        </a:rPr>
                        <a:t>事件绑定</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UIConnector 通过控件名称匹配绑定事件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74320">
                <a:tc>
                  <a:txBody>
                    <a:bodyPr/>
                    <a:lstStyle/>
                    <a:p>
                      <a:pPr indent="0" marL="0">
                        <a:buNone/>
                      </a:pPr>
                      <a:r>
                        <a:rPr lang="en-US" sz="900" dirty="0">
                          <a:solidFill>
                            <a:srgbClr val="000000"/>
                          </a:solidFill>
                        </a:rPr>
                        <a:t>参数提取</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从 WdUI 控件自动提取值，支持 7 种类型</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000000"/>
                          </a:solidFill>
                        </a:rPr>
                        <a:t>结果回写</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执行结果自动写回 WdUI 控件</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74320">
                <a:tc>
                  <a:txBody>
                    <a:bodyPr/>
                    <a:lstStyle/>
                    <a:p>
                      <a:pPr indent="0" marL="0">
                        <a:buNone/>
                      </a:pPr>
                      <a:r>
                        <a:rPr lang="en-US" sz="900" dirty="0">
                          <a:solidFill>
                            <a:srgbClr val="000000"/>
                          </a:solidFill>
                        </a:rPr>
                        <a:t>配置驱动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同一份 JSON 同时驱动 UI 渲染和函数执行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000000"/>
                          </a:solidFill>
                        </a:rPr>
                        <a:t>工作流执行</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WdUI 通过 ExecuteWorkflow 函数执行 JSON 工作流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6" name="Text 3"/>
          <p:cNvSpPr/>
          <p:nvPr/>
        </p:nvSpPr>
        <p:spPr>
          <a:xfrm>
            <a:off x="457200" y="3017520"/>
            <a:ext cx="8229600" cy="228600"/>
          </a:xfrm>
          <a:prstGeom prst="rect">
            <a:avLst/>
          </a:prstGeom>
          <a:noFill/>
          <a:ln/>
        </p:spPr>
        <p:txBody>
          <a:bodyPr wrap="square" rtlCol="0" anchor="t"/>
          <a:lstStyle/>
          <a:p>
            <a:pPr algn="l" indent="0" marL="0">
              <a:lnSpc>
                <a:spcPct val="115000"/>
              </a:lnSpc>
              <a:buNone/>
            </a:pPr>
            <a:r>
              <a:rPr lang="en-US" sz="1100" b="1" dirty="0">
                <a:solidFill>
                  <a:srgbClr val="21295C"/>
                </a:solidFill>
                <a:latin typeface="Calibri" pitchFamily="34" charset="0"/>
                <a:ea typeface="Calibri" pitchFamily="34" charset="-122"/>
                <a:cs typeface="Calibri" pitchFamily="34" charset="-120"/>
              </a:rPr>
              <a:t>8.2 WorkFlowMethod 与 WdUI 协同</a:t>
            </a:r>
            <a:endParaRPr lang="en-US" sz="1100" dirty="0"/>
          </a:p>
        </p:txBody>
      </p:sp>
      <p:graphicFrame>
        <p:nvGraphicFramePr>
          <p:cNvPr id="101" name="Table 1"/>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1645920"/>
        </p:xfrm>
        <a:graphic>
          <a:graphicData uri="http://schemas.openxmlformats.org/drawingml/2006/table">
            <a:tbl>
              <a:tblPr/>
              <a:tblGrid>
                <a:gridCol w="2286000"/>
                <a:gridCol w="5943600"/>
              </a:tblGrid>
              <a:tr h="235131">
                <a:tc>
                  <a:txBody>
                    <a:bodyPr/>
                    <a:lstStyle/>
                    <a:p>
                      <a:pPr indent="0" marL="0">
                        <a:buNone/>
                      </a:pPr>
                      <a:r>
                        <a:rPr lang="en-US" sz="900" b="1" dirty="0">
                          <a:solidFill>
                            <a:srgbClr val="FFFFFF"/>
                          </a:solidFill>
                        </a:rPr>
                        <a:t>协同场景</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900" b="1" dirty="0">
                          <a:solidFill>
                            <a:srgbClr val="FFFFFF"/>
                          </a:solidFill>
                        </a:rPr>
                        <a:t>实现方式</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35131">
                <a:tc>
                  <a:txBody>
                    <a:bodyPr/>
                    <a:lstStyle/>
                    <a:p>
                      <a:pPr indent="0" marL="0">
                        <a:buNone/>
                      </a:pPr>
                      <a:r>
                        <a:rPr lang="en-US" sz="900" dirty="0">
                          <a:solidFill>
                            <a:srgbClr val="000000"/>
                          </a:solidFill>
                        </a:rPr>
                        <a:t>动态参数输入</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工作流节点通过 JSON 配置定义输入参数，WdUI 动态渲染为表单界面</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35131">
                <a:tc>
                  <a:txBody>
                    <a:bodyPr/>
                    <a:lstStyle/>
                    <a:p>
                      <a:pPr indent="0" marL="0">
                        <a:buNone/>
                      </a:pPr>
                      <a:r>
                        <a:rPr lang="en-US" sz="900" dirty="0">
                          <a:solidFill>
                            <a:srgbClr val="000000"/>
                          </a:solidFill>
                        </a:rPr>
                        <a:t>执行触发</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WdUI 按钮点击事件通过中介器调用 WorkFlowMethod 执行工作流</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35131">
                <a:tc>
                  <a:txBody>
                    <a:bodyPr/>
                    <a:lstStyle/>
                    <a:p>
                      <a:pPr indent="0" marL="0">
                        <a:buNone/>
                      </a:pPr>
                      <a:r>
                        <a:rPr lang="en-US" sz="900" dirty="0">
                          <a:solidFill>
                            <a:srgbClr val="000000"/>
                          </a:solidFill>
                        </a:rPr>
                        <a:t>结果回显</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工作流执行结果通过桥接机制写回 WdUI 控件，实时展示</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35131">
                <a:tc>
                  <a:txBody>
                    <a:bodyPr/>
                    <a:lstStyle/>
                    <a:p>
                      <a:pPr indent="0" marL="0">
                        <a:buNone/>
                      </a:pPr>
                      <a:r>
                        <a:rPr lang="en-US" sz="900" dirty="0">
                          <a:solidFill>
                            <a:srgbClr val="000000"/>
                          </a:solidFill>
                        </a:rPr>
                        <a:t>配置驱动</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同一份 JSON 配置既驱动工作流执行逻辑，又驱动 UI 渲染布局</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35131">
                <a:tc>
                  <a:txBody>
                    <a:bodyPr/>
                    <a:lstStyle/>
                    <a:p>
                      <a:pPr indent="0" marL="0">
                        <a:buNone/>
                      </a:pPr>
                      <a:r>
                        <a:rPr lang="en-US" sz="900" dirty="0">
                          <a:solidFill>
                            <a:srgbClr val="000000"/>
                          </a:solidFill>
                        </a:rPr>
                        <a:t>容器化集成</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900" dirty="0">
                          <a:solidFill>
                            <a:srgbClr val="000000"/>
                          </a:solidFill>
                        </a:rPr>
                        <a:t>WdUI 的 ConfigContainer 作为工作流 UI 载体，动态加载不同工作流的配置界面</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35131">
                <a:tc>
                  <a:txBody>
                    <a:bodyPr/>
                    <a:lstStyle/>
                    <a:p>
                      <a:pPr indent="0" marL="0">
                        <a:buNone/>
                      </a:pPr>
                      <a:r>
                        <a:rPr lang="en-US" sz="900" dirty="0">
                          <a:solidFill>
                            <a:srgbClr val="000000"/>
                          </a:solidFill>
                        </a:rPr>
                        <a:t>循环工作流可视化</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900" dirty="0">
                          <a:solidFill>
                            <a:srgbClr val="000000"/>
                          </a:solidFill>
                        </a:rPr>
                        <a:t>WdUI 实时展示 LoopWorkflow 的迭代进度、当前步骤、执行历史</a:t>
                      </a:r>
                      <a:endParaRPr lang="en-US" sz="9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bl>
          </a:graphicData>
        </a:graphic>
      </p:graphicFrame>
      <p:sp>
        <p:nvSpPr>
          <p:cNvPr id="10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09</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与主流工作流框架对比</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多维度竞争力分析</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九、与主流工作流框架对比</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926080"/>
        </p:xfrm>
        <a:graphic>
          <a:graphicData uri="http://schemas.openxmlformats.org/drawingml/2006/table">
            <a:tbl>
              <a:tblPr/>
              <a:tblGrid>
                <a:gridCol w="1371600"/>
                <a:gridCol w="1371600"/>
                <a:gridCol w="1371600"/>
                <a:gridCol w="1371600"/>
                <a:gridCol w="1371600"/>
                <a:gridCol w="2286000"/>
              </a:tblGrid>
              <a:tr h="325120">
                <a:tc>
                  <a:txBody>
                    <a:bodyPr/>
                    <a:lstStyle/>
                    <a:p>
                      <a:pPr indent="0" marL="0">
                        <a:buNone/>
                      </a:pPr>
                      <a:r>
                        <a:rPr lang="en-US" sz="800" b="1" dirty="0">
                          <a:solidFill>
                            <a:srgbClr val="FFFFFF"/>
                          </a:solidFill>
                        </a:rPr>
                        <a:t>维度</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Temporal</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Camunda</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Airflow</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Elsa</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WorkFlowMethod</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065A82"/>
                    </a:solidFill>
                  </a:tcPr>
                </a:tc>
              </a:tr>
              <a:tr h="325120">
                <a:tc>
                  <a:txBody>
                    <a:bodyPr/>
                    <a:lstStyle/>
                    <a:p>
                      <a:pPr indent="0" marL="0">
                        <a:buNone/>
                      </a:pPr>
                      <a:r>
                        <a:rPr lang="en-US" sz="800" dirty="0">
                          <a:solidFill>
                            <a:srgbClr val="000000"/>
                          </a:solidFill>
                        </a:rPr>
                        <a:t>表示模型</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代码定义</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BPMN 2.0</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Python DAG</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代码+JSON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b="1" dirty="0">
                          <a:solidFill>
                            <a:srgbClr val="000000"/>
                          </a:solidFill>
                        </a:rPr>
                        <a:t>链+图双模</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运行时动态更新</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部分</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部分</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b="1" dirty="0">
                          <a:solidFill>
                            <a:srgbClr val="000000"/>
                          </a:solidFill>
                        </a:rPr>
                        <a:t>✅ 原生支持</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LLM驱动循环</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b="1" dirty="0">
                          <a:solidFill>
                            <a:srgbClr val="000000"/>
                          </a:solidFill>
                        </a:rPr>
                        <a:t>✅ LoopWorkflow</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Symbol定位</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b="1" dirty="0">
                          <a:solidFill>
                            <a:srgbClr val="000000"/>
                          </a:solidFill>
                        </a:rPr>
                        <a:t>✅ 独有</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AI工作流</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b="1"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动态编排</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b="1"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C#/.NET应用</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b="1"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r h="325120">
                <a:tc>
                  <a:txBody>
                    <a:bodyPr/>
                    <a:lstStyle/>
                    <a:p>
                      <a:pPr indent="0" marL="0">
                        <a:buNone/>
                      </a:pPr>
                      <a:r>
                        <a:rPr lang="en-US" sz="800" dirty="0">
                          <a:solidFill>
                            <a:srgbClr val="000000"/>
                          </a:solidFill>
                        </a:rPr>
                        <a:t>快速原型开发</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b="1" dirty="0">
                          <a:solidFill>
                            <a:srgbClr val="000000"/>
                          </a:solidFill>
                        </a:rPr>
                        <a: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D1FAE5"/>
                    </a:solidFill>
                  </a:tcPr>
                </a:tc>
              </a:tr>
            </a:tbl>
          </a:graphicData>
        </a:graphic>
      </p:graphicFrame>
      <p:sp>
        <p:nvSpPr>
          <p:cNvPr id="5" name="Shape 2"/>
          <p:cNvSpPr/>
          <p:nvPr/>
        </p:nvSpPr>
        <p:spPr>
          <a:xfrm>
            <a:off x="457200" y="4114800"/>
            <a:ext cx="8229600" cy="640080"/>
          </a:xfrm>
          <a:prstGeom prst="rect">
            <a:avLst/>
          </a:prstGeom>
          <a:solidFill>
            <a:srgbClr val="21295C"/>
          </a:solidFill>
          <a:ln/>
        </p:spPr>
      </p:sp>
      <p:sp>
        <p:nvSpPr>
          <p:cNvPr id="6" name="Text 3"/>
          <p:cNvSpPr/>
          <p:nvPr/>
        </p:nvSpPr>
        <p:spPr>
          <a:xfrm>
            <a:off x="594360" y="4206240"/>
            <a:ext cx="7955280" cy="457200"/>
          </a:xfrm>
          <a:prstGeom prst="rect">
            <a:avLst/>
          </a:prstGeom>
          <a:noFill/>
          <a:ln/>
        </p:spPr>
        <p:txBody>
          <a:bodyPr wrap="square" rtlCol="0" anchor="ctr"/>
          <a:lstStyle/>
          <a:p>
            <a:pPr algn="l" indent="0" marL="0">
              <a:lnSpc>
                <a:spcPct val="115000"/>
              </a:lnSpc>
              <a:buNone/>
            </a:pPr>
            <a:r>
              <a:rPr lang="en-US" sz="1000" dirty="0">
                <a:solidFill>
                  <a:srgbClr val="FFFFFF"/>
                </a:solidFill>
              </a:rPr>
              <a:t>一句话总结：WorkFlowMethod 是一个在架构创新上极具特色的工作流框架，其链-图双模架构、运行时动态更新和 LLM 驱动的循环工作流能力在业界独树一帜，特别适合需要高度灵活性和 AI 编排能力的 C#/.NET 应用场景。</a:t>
            </a:r>
            <a:endParaRPr lang="en-US" sz="1000" dirty="0"/>
          </a:p>
        </p:txBody>
      </p:sp>
      <p:sp>
        <p:nvSpPr>
          <p:cNvPr id="5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371600"/>
            <a:ext cx="8229600" cy="731520"/>
          </a:xfrm>
          <a:prstGeom prst="rect">
            <a:avLst/>
          </a:prstGeom>
          <a:noFill/>
          <a:ln/>
        </p:spPr>
        <p:txBody>
          <a:bodyPr wrap="square" rtlCol="0" anchor="ctr">
            <a:normAutofit/>
          </a:bodyPr>
          <a:lstStyle/>
          <a:p>
            <a:pPr algn="ctr" indent="0" marL="0">
              <a:buNone/>
            </a:pPr>
            <a:r>
              <a:rPr lang="en-US" sz="4800" b="1" dirty="0">
                <a:solidFill>
                  <a:srgbClr val="00A896"/>
                </a:solidFill>
                <a:latin typeface="Georgia" pitchFamily="34" charset="0"/>
                <a:ea typeface="Georgia" pitchFamily="34" charset="-122"/>
                <a:cs typeface="Georgia" pitchFamily="34" charset="-120"/>
              </a:rPr>
              <a:t>10</a:t>
            </a:r>
            <a:endParaRPr lang="en-US" sz="4800" dirty="0"/>
          </a:p>
        </p:txBody>
      </p:sp>
      <p:sp>
        <p:nvSpPr>
          <p:cNvPr id="5" name="Text 3"/>
          <p:cNvSpPr/>
          <p:nvPr/>
        </p:nvSpPr>
        <p:spPr>
          <a:xfrm>
            <a:off x="457200" y="2194560"/>
            <a:ext cx="8229600" cy="640080"/>
          </a:xfrm>
          <a:prstGeom prst="rect">
            <a:avLst/>
          </a:prstGeom>
          <a:noFill/>
          <a:ln/>
        </p:spPr>
        <p:txBody>
          <a:bodyPr wrap="square" rtlCol="0" anchor="ctr">
            <a:normAutofit/>
          </a:bodyPr>
          <a:lstStyle/>
          <a:p>
            <a:pPr algn="ctr" indent="0" marL="0">
              <a:buNone/>
            </a:pPr>
            <a:r>
              <a:rPr lang="en-US" sz="3200" b="1" dirty="0">
                <a:solidFill>
                  <a:srgbClr val="FFFFFF"/>
                </a:solidFill>
                <a:latin typeface="Georgia" pitchFamily="34" charset="0"/>
                <a:ea typeface="Georgia" pitchFamily="34" charset="-122"/>
                <a:cs typeface="Georgia" pitchFamily="34" charset="-120"/>
              </a:rPr>
              <a:t>核心接口速查与总结</a:t>
            </a:r>
            <a:endParaRPr lang="en-US" sz="3200" dirty="0"/>
          </a:p>
        </p:txBody>
      </p:sp>
      <p:sp>
        <p:nvSpPr>
          <p:cNvPr id="6" name="Text 4"/>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1400" i="1" dirty="0">
                <a:solidFill>
                  <a:srgbClr val="E8F4F8"/>
                </a:solidFill>
              </a:rPr>
              <a:t>接口一览与体系总结</a:t>
            </a:r>
            <a:endParaRPr lang="en-US" sz="1400" dirty="0"/>
          </a:p>
        </p:txBody>
      </p:sp>
      <p:sp>
        <p:nvSpPr>
          <p:cNvPr id="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十、核心接口速查（WorkFlowMethod 层）</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474720"/>
        </p:xfrm>
        <a:graphic>
          <a:graphicData uri="http://schemas.openxmlformats.org/drawingml/2006/table">
            <a:tbl>
              <a:tblPr/>
              <a:tblGrid>
                <a:gridCol w="2743200"/>
                <a:gridCol w="5486400"/>
              </a:tblGrid>
              <a:tr h="289560">
                <a:tc>
                  <a:txBody>
                    <a:bodyPr/>
                    <a:lstStyle/>
                    <a:p>
                      <a:pPr indent="0" marL="0">
                        <a:buNone/>
                      </a:pPr>
                      <a:r>
                        <a:rPr lang="en-US" sz="800" b="1" dirty="0">
                          <a:solidFill>
                            <a:srgbClr val="FFFFFF"/>
                          </a:solidFill>
                        </a:rPr>
                        <a:t>接口/类</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一句话说明</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89560">
                <a:tc>
                  <a:txBody>
                    <a:bodyPr/>
                    <a:lstStyle/>
                    <a:p>
                      <a:pPr indent="0" marL="0">
                        <a:buNone/>
                      </a:pPr>
                      <a:r>
                        <a:rPr lang="en-US" sz="800" dirty="0">
                          <a:solidFill>
                            <a:srgbClr val="000000"/>
                          </a:solidFill>
                        </a:rPr>
                        <a:t>WorkflowUseage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工作流使用入口，提供构建、执行、桥接的统一入口</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89560">
                <a:tc>
                  <a:txBody>
                    <a:bodyPr/>
                    <a:lstStyle/>
                    <a:p>
                      <a:pPr indent="0" marL="0">
                        <a:buNone/>
                      </a:pPr>
                      <a:r>
                        <a:rPr lang="en-US" sz="800" dirty="0">
                          <a:solidFill>
                            <a:srgbClr val="000000"/>
                          </a:solidFill>
                        </a:rPr>
                        <a:t>WorkflowBuilder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工作流构建器，支持编程式和字符串构建</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89560">
                <a:tc>
                  <a:txBody>
                    <a:bodyPr/>
                    <a:lstStyle/>
                    <a:p>
                      <a:pPr indent="0" marL="0">
                        <a:buNone/>
                      </a:pPr>
                      <a:r>
                        <a:rPr lang="en-US" sz="800" dirty="0">
                          <a:solidFill>
                            <a:srgbClr val="000000"/>
                          </a:solidFill>
                        </a:rPr>
                        <a:t>PipelineExecutor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管线执行引擎，支持同步/异步、重试、超时</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89560">
                <a:tc>
                  <a:txBody>
                    <a:bodyPr/>
                    <a:lstStyle/>
                    <a:p>
                      <a:pPr indent="0" marL="0">
                        <a:buNone/>
                      </a:pPr>
                      <a:r>
                        <a:rPr lang="en-US" sz="800" dirty="0">
                          <a:solidFill>
                            <a:srgbClr val="000000"/>
                          </a:solidFill>
                        </a:rPr>
                        <a:t>GraphWorkflowUpdater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运行时动态更新器，执行插入/删除/复合指令</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89560">
                <a:tc>
                  <a:txBody>
                    <a:bodyPr/>
                    <a:lstStyle/>
                    <a:p>
                      <a:pPr indent="0" marL="0">
                        <a:buNone/>
                      </a:pPr>
                      <a:r>
                        <a:rPr lang="en-US" sz="800" dirty="0">
                          <a:solidFill>
                            <a:srgbClr val="000000"/>
                          </a:solidFill>
                        </a:rPr>
                        <a:t>InsertChainDirective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Symbol 定位插入子链指令</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89560">
                <a:tc>
                  <a:txBody>
                    <a:bodyPr/>
                    <a:lstStyle/>
                    <a:p>
                      <a:pPr indent="0" marL="0">
                        <a:buNone/>
                      </a:pPr>
                      <a:r>
                        <a:rPr lang="en-US" sz="800" dirty="0">
                          <a:solidFill>
                            <a:srgbClr val="000000"/>
                          </a:solidFill>
                        </a:rPr>
                        <a:t>DeleteNodeDirective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节点删除与重连指令</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89560">
                <a:tc>
                  <a:txBody>
                    <a:bodyPr/>
                    <a:lstStyle/>
                    <a:p>
                      <a:pPr indent="0" marL="0">
                        <a:buNone/>
                      </a:pPr>
                      <a:r>
                        <a:rPr lang="en-US" sz="800" dirty="0">
                          <a:solidFill>
                            <a:srgbClr val="000000"/>
                          </a:solidFill>
                        </a:rPr>
                        <a:t>CompositeDirective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复合更新指令（插入+删除组合）</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89560">
                <a:tc>
                  <a:txBody>
                    <a:bodyPr/>
                    <a:lstStyle/>
                    <a:p>
                      <a:pPr indent="0" marL="0">
                        <a:buNone/>
                      </a:pPr>
                      <a:r>
                        <a:rPr lang="en-US" sz="800" dirty="0">
                          <a:solidFill>
                            <a:srgbClr val="000000"/>
                          </a:solidFill>
                        </a:rPr>
                        <a:t>LoopWorkflow</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LLM 驱动的循环工作流</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89560">
                <a:tc>
                  <a:txBody>
                    <a:bodyPr/>
                    <a:lstStyle/>
                    <a:p>
                      <a:pPr indent="0" marL="0">
                        <a:buNone/>
                      </a:pPr>
                      <a:r>
                        <a:rPr lang="en-US" sz="800" dirty="0">
                          <a:solidFill>
                            <a:srgbClr val="000000"/>
                          </a:solidFill>
                        </a:rPr>
                        <a:t>SmartContext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智能上下文，维护执行历史和 LLM 摘要</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89560">
                <a:tc>
                  <a:txBody>
                    <a:bodyPr/>
                    <a:lstStyle/>
                    <a:p>
                      <a:pPr indent="0" marL="0">
                        <a:buNone/>
                      </a:pPr>
                      <a:r>
                        <a:rPr lang="en-US" sz="800" dirty="0">
                          <a:solidFill>
                            <a:srgbClr val="000000"/>
                          </a:solidFill>
                        </a:rPr>
                        <a:t>SelectionStrategy</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选择策略基类（RuleBased/LLMBased/Hybrid）</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89560">
                <a:tc>
                  <a:txBody>
                    <a:bodyPr/>
                    <a:lstStyle/>
                    <a:p>
                      <a:pPr indent="0" marL="0">
                        <a:buNone/>
                      </a:pPr>
                      <a:r>
                        <a:rPr lang="en-US" sz="800" dirty="0">
                          <a:solidFill>
                            <a:srgbClr val="000000"/>
                          </a:solidFill>
                        </a:rPr>
                        <a:t>TypedExecutionContext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强类型执行上下文，支持断点续传</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5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normAutofit/>
          </a:bodyPr>
          <a:lstStyle/>
          <a:p>
            <a:pPr indent="0" marL="0">
              <a:buNone/>
            </a:pPr>
            <a:r>
              <a:rPr lang="en-US" sz="2600" b="1" spc="150" kern="0" dirty="0">
                <a:solidFill>
                  <a:srgbClr val="21295C"/>
                </a:solidFill>
                <a:latin typeface="Georgia" pitchFamily="34" charset="0"/>
                <a:ea typeface="Georgia" pitchFamily="34" charset="-122"/>
                <a:cs typeface="Georgia" pitchFamily="34" charset="-120"/>
              </a:rPr>
              <a:t>十、核心接口速查（FunctionExecution / Storage / UI 层）</a:t>
            </a:r>
            <a:endParaRPr lang="en-US" sz="2600" dirty="0"/>
          </a:p>
        </p:txBody>
      </p:sp>
      <p:sp>
        <p:nvSpPr>
          <p:cNvPr id="3" name="Shape 1"/>
          <p:cNvSpPr/>
          <p:nvPr/>
        </p:nvSpPr>
        <p:spPr>
          <a:xfrm>
            <a:off x="457200" y="868680"/>
            <a:ext cx="1097280" cy="36576"/>
          </a:xfrm>
          <a:prstGeom prst="rect">
            <a:avLst/>
          </a:prstGeom>
          <a:solidFill>
            <a:srgbClr val="065A82"/>
          </a:solidFill>
          <a:ln/>
        </p:spPr>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840480"/>
        </p:xfrm>
        <a:graphic>
          <a:graphicData uri="http://schemas.openxmlformats.org/drawingml/2006/table">
            <a:tbl>
              <a:tblPr/>
              <a:tblGrid>
                <a:gridCol w="2743200"/>
                <a:gridCol w="1828800"/>
                <a:gridCol w="3657600"/>
              </a:tblGrid>
              <a:tr h="240030">
                <a:tc>
                  <a:txBody>
                    <a:bodyPr/>
                    <a:lstStyle/>
                    <a:p>
                      <a:pPr indent="0" marL="0">
                        <a:buNone/>
                      </a:pPr>
                      <a:r>
                        <a:rPr lang="en-US" sz="800" b="1" dirty="0">
                          <a:solidFill>
                            <a:srgbClr val="FFFFFF"/>
                          </a:solidFill>
                        </a:rPr>
                        <a:t>接口/类</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所属层级</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c>
                  <a:txBody>
                    <a:bodyPr/>
                    <a:lstStyle/>
                    <a:p>
                      <a:pPr indent="0" marL="0">
                        <a:buNone/>
                      </a:pPr>
                      <a:r>
                        <a:rPr lang="en-US" sz="800" b="1" dirty="0">
                          <a:solidFill>
                            <a:srgbClr val="FFFFFF"/>
                          </a:solidFill>
                        </a:rPr>
                        <a:t>一句话说明</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21295C"/>
                    </a:solidFill>
                  </a:tcPr>
                </a:tc>
              </a:tr>
              <a:tr h="240030">
                <a:tc>
                  <a:txBody>
                    <a:bodyPr/>
                    <a:lstStyle/>
                    <a:p>
                      <a:pPr indent="0" marL="0">
                        <a:buNone/>
                      </a:pPr>
                      <a:r>
                        <a:rPr lang="en-US" sz="800" dirty="0">
                          <a:solidFill>
                            <a:srgbClr val="000000"/>
                          </a:solidFill>
                        </a:rPr>
                        <a:t>IFunctionRegistry</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函数注册表接口</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IWorkflowRegistry</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工作流函数注册表接口</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FunctionDescriptor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函数元数据</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ExecutionResult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统一执行结果</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ExecutionContext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基础执行上下文</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WorkflowContext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工作流上下文（继承 ExecutionContext）</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WorkflowBridge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工作流函数与通用函数的双向桥接</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FunctionExecutionFramework</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函数执行框架入口</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FunctionUnitBase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强类型函数单元基类</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DefaultParameterProcessor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FunctionExecution</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参数类型转换处理器</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UIConnector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FunctionStorage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UI 事件桥接器</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WorkflowExecutionLayer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FunctionStorage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JSON 工作流执行层</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WorkflowLibrary</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FunctionStorage</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工作流库注册器</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r h="240030">
                <a:tc>
                  <a:txBody>
                    <a:bodyPr/>
                    <a:lstStyle/>
                    <a:p>
                      <a:pPr indent="0" marL="0">
                        <a:buNone/>
                      </a:pPr>
                      <a:r>
                        <a:rPr lang="en-US" sz="800" dirty="0">
                          <a:solidFill>
                            <a:srgbClr val="000000"/>
                          </a:solidFill>
                        </a:rPr>
                        <a:t>ConfigContainer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WdUI</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c>
                  <a:txBody>
                    <a:bodyPr/>
                    <a:lstStyle/>
                    <a:p>
                      <a:pPr indent="0" marL="0">
                        <a:buNone/>
                      </a:pPr>
                      <a:r>
                        <a:rPr lang="en-US" sz="800" dirty="0">
                          <a:solidFill>
                            <a:srgbClr val="000000"/>
                          </a:solidFill>
                        </a:rPr>
                        <a:t>UI 容器，支持嵌套和动态加载</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FFFFFF"/>
                    </a:solidFill>
                  </a:tcPr>
                </a:tc>
              </a:tr>
              <a:tr h="240030">
                <a:tc>
                  <a:txBody>
                    <a:bodyPr/>
                    <a:lstStyle/>
                    <a:p>
                      <a:pPr indent="0" marL="0">
                        <a:buNone/>
                      </a:pPr>
                      <a:r>
                        <a:rPr lang="en-US" sz="800" dirty="0">
                          <a:solidFill>
                            <a:srgbClr val="000000"/>
                          </a:solidFill>
                        </a:rPr>
                        <a:t>EventMediator</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WdUI</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c>
                  <a:txBody>
                    <a:bodyPr/>
                    <a:lstStyle/>
                    <a:p>
                      <a:pPr indent="0" marL="0">
                        <a:buNone/>
                      </a:pPr>
                      <a:r>
                        <a:rPr lang="en-US" sz="800" dirty="0">
                          <a:solidFill>
                            <a:srgbClr val="000000"/>
                          </a:solidFill>
                        </a:rPr>
                        <a:t>事件中介器，控件间通信</a:t>
                      </a:r>
                      <a:endParaRPr lang="en-US" sz="800" dirty="0"/>
                    </a:p>
                  </a:txBody>
                  <a:tcPr marL="91440" marR="91440" marT="45720" marB="45720">
                    <a:lnL w="6350" cap="flat" cmpd="sng" algn="ctr">
                      <a:solidFill>
                        <a:srgbClr val="6B7280"/>
                      </a:solidFill>
                      <a:prstDash val="solid"/>
                      <a:round/>
                      <a:headEnd type="none" w="med" len="med"/>
                      <a:tailEnd type="none" w="med" len="med"/>
                    </a:lnL>
                    <a:lnR w="6350" cap="flat" cmpd="sng" algn="ctr">
                      <a:solidFill>
                        <a:srgbClr val="6B7280"/>
                      </a:solidFill>
                      <a:prstDash val="solid"/>
                      <a:round/>
                      <a:headEnd type="none" w="med" len="med"/>
                      <a:tailEnd type="none" w="med" len="med"/>
                    </a:lnR>
                    <a:lnT w="6350" cap="flat" cmpd="sng" algn="ctr">
                      <a:solidFill>
                        <a:srgbClr val="6B7280"/>
                      </a:solidFill>
                      <a:prstDash val="solid"/>
                      <a:round/>
                      <a:headEnd type="none" w="med" len="med"/>
                      <a:tailEnd type="none" w="med" len="med"/>
                    </a:lnT>
                    <a:lnB w="6350" cap="flat" cmpd="sng" algn="ctr">
                      <a:solidFill>
                        <a:srgbClr val="6B7280"/>
                      </a:solidFill>
                      <a:prstDash val="solid"/>
                      <a:round/>
                      <a:headEnd type="none" w="med" len="med"/>
                      <a:tailEnd type="none" w="med" len="med"/>
                    </a:lnB>
                    <a:solidFill>
                      <a:srgbClr val="E8F4F8"/>
                    </a:solidFill>
                  </a:tcPr>
                </a:tc>
              </a:tr>
            </a:tbl>
          </a:graphicData>
        </a:graphic>
      </p:graphicFrame>
      <p:sp>
        <p:nvSpPr>
          <p:cNvPr id="5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365760"/>
            <a:ext cx="8229600" cy="548640"/>
          </a:xfrm>
          <a:prstGeom prst="rect">
            <a:avLst/>
          </a:prstGeom>
          <a:noFill/>
          <a:ln/>
        </p:spPr>
        <p:txBody>
          <a:bodyPr wrap="square" rtlCol="0" anchor="ctr">
            <a:normAutofit/>
          </a:bodyPr>
          <a:lstStyle/>
          <a:p>
            <a:pPr algn="ctr" indent="0" marL="0">
              <a:buNone/>
            </a:pPr>
            <a:r>
              <a:rPr lang="en-US" sz="2800" b="1" dirty="0">
                <a:solidFill>
                  <a:srgbClr val="FFFFFF"/>
                </a:solidFill>
                <a:latin typeface="Georgia" pitchFamily="34" charset="0"/>
                <a:ea typeface="Georgia" pitchFamily="34" charset="-122"/>
                <a:cs typeface="Georgia" pitchFamily="34" charset="-120"/>
              </a:rPr>
              <a:t>十一、总结</a:t>
            </a:r>
            <a:endParaRPr lang="en-US" sz="2800" dirty="0"/>
          </a:p>
        </p:txBody>
      </p:sp>
      <p:sp>
        <p:nvSpPr>
          <p:cNvPr id="5" name="Text 3"/>
          <p:cNvSpPr/>
          <p:nvPr/>
        </p:nvSpPr>
        <p:spPr>
          <a:xfrm>
            <a:off x="731520" y="1097280"/>
            <a:ext cx="7680960" cy="365760"/>
          </a:xfrm>
          <a:prstGeom prst="rect">
            <a:avLst/>
          </a:prstGeom>
          <a:noFill/>
          <a:ln/>
        </p:spPr>
        <p:txBody>
          <a:bodyPr wrap="square" rtlCol="0" anchor="t"/>
          <a:lstStyle/>
          <a:p>
            <a:pPr algn="l" indent="0" marL="0">
              <a:lnSpc>
                <a:spcPct val="115000"/>
              </a:lnSpc>
              <a:buNone/>
            </a:pPr>
            <a:r>
              <a:rPr lang="en-US" sz="1300" dirty="0">
                <a:solidFill>
                  <a:srgbClr val="E8F4F8"/>
                </a:solidFill>
                <a:latin typeface="Calibri" pitchFamily="34" charset="0"/>
                <a:ea typeface="Calibri" pitchFamily="34" charset="-122"/>
                <a:cs typeface="Calibri" pitchFamily="34" charset="-120"/>
              </a:rPr>
              <a:t>WorkFlow 体系通过四层架构实现了从 UI 渲染到工作流引擎的完整闭环：</a:t>
            </a:r>
            <a:endParaRPr lang="en-US" sz="1300" dirty="0"/>
          </a:p>
        </p:txBody>
      </p:sp>
      <p:sp>
        <p:nvSpPr>
          <p:cNvPr id="6" name="Shape 4"/>
          <p:cNvSpPr/>
          <p:nvPr/>
        </p:nvSpPr>
        <p:spPr>
          <a:xfrm>
            <a:off x="914400" y="1554480"/>
            <a:ext cx="7315200" cy="594360"/>
          </a:xfrm>
          <a:prstGeom prst="rect">
            <a:avLst/>
          </a:prstGeom>
          <a:solidFill>
            <a:srgbClr val="00A896"/>
          </a:solidFill>
          <a:ln w="6350">
            <a:solidFill>
              <a:srgbClr val="FFFFFF"/>
            </a:solidFill>
            <a:prstDash val="solid"/>
          </a:ln>
        </p:spPr>
      </p:sp>
      <p:sp>
        <p:nvSpPr>
          <p:cNvPr id="7" name="Text 5"/>
          <p:cNvSpPr/>
          <p:nvPr/>
        </p:nvSpPr>
        <p:spPr>
          <a:xfrm>
            <a:off x="1097280" y="1645920"/>
            <a:ext cx="2286000" cy="365760"/>
          </a:xfrm>
          <a:prstGeom prst="rect">
            <a:avLst/>
          </a:prstGeom>
          <a:noFill/>
          <a:ln/>
        </p:spPr>
        <p:txBody>
          <a:bodyPr wrap="square" rtlCol="0" anchor="ctr">
            <a:normAutofit/>
          </a:bodyPr>
          <a:lstStyle/>
          <a:p>
            <a:pPr indent="0" marL="0">
              <a:buNone/>
            </a:pPr>
            <a:r>
              <a:rPr lang="en-US" sz="1300" b="1" dirty="0">
                <a:solidFill>
                  <a:srgbClr val="FFFFFF"/>
                </a:solidFill>
              </a:rPr>
              <a:t>WdUI</a:t>
            </a:r>
            <a:endParaRPr lang="en-US" sz="1300" dirty="0"/>
          </a:p>
        </p:txBody>
      </p:sp>
      <p:sp>
        <p:nvSpPr>
          <p:cNvPr id="8" name="Text 6"/>
          <p:cNvSpPr/>
          <p:nvPr/>
        </p:nvSpPr>
        <p:spPr>
          <a:xfrm>
            <a:off x="3474720" y="1664208"/>
            <a:ext cx="5029200" cy="365760"/>
          </a:xfrm>
          <a:prstGeom prst="rect">
            <a:avLst/>
          </a:prstGeom>
          <a:noFill/>
          <a:ln/>
        </p:spPr>
        <p:txBody>
          <a:bodyPr wrap="square" rtlCol="0" anchor="ctr">
            <a:normAutofit/>
          </a:bodyPr>
          <a:lstStyle/>
          <a:p>
            <a:pPr indent="0" marL="0">
              <a:buNone/>
            </a:pPr>
            <a:r>
              <a:rPr lang="en-US" sz="1000" dirty="0">
                <a:solidFill>
                  <a:srgbClr val="FFFFFF"/>
                </a:solidFill>
              </a:rPr>
              <a:t>提供 JSON 驱动的动态 UI 渲染能力，让界面配置化、可热更新</a:t>
            </a:r>
            <a:endParaRPr lang="en-US" sz="1000" dirty="0"/>
          </a:p>
        </p:txBody>
      </p:sp>
      <p:sp>
        <p:nvSpPr>
          <p:cNvPr id="9" name="Shape 7"/>
          <p:cNvSpPr/>
          <p:nvPr/>
        </p:nvSpPr>
        <p:spPr>
          <a:xfrm>
            <a:off x="914400" y="2240280"/>
            <a:ext cx="7315200" cy="594360"/>
          </a:xfrm>
          <a:prstGeom prst="rect">
            <a:avLst/>
          </a:prstGeom>
          <a:solidFill>
            <a:srgbClr val="0891B2"/>
          </a:solidFill>
          <a:ln w="6350">
            <a:solidFill>
              <a:srgbClr val="FFFFFF"/>
            </a:solidFill>
            <a:prstDash val="solid"/>
          </a:ln>
        </p:spPr>
      </p:sp>
      <p:sp>
        <p:nvSpPr>
          <p:cNvPr id="10" name="Text 8"/>
          <p:cNvSpPr/>
          <p:nvPr/>
        </p:nvSpPr>
        <p:spPr>
          <a:xfrm>
            <a:off x="1097280" y="2331720"/>
            <a:ext cx="2286000" cy="365760"/>
          </a:xfrm>
          <a:prstGeom prst="rect">
            <a:avLst/>
          </a:prstGeom>
          <a:noFill/>
          <a:ln/>
        </p:spPr>
        <p:txBody>
          <a:bodyPr wrap="square" rtlCol="0" anchor="ctr">
            <a:normAutofit/>
          </a:bodyPr>
          <a:lstStyle/>
          <a:p>
            <a:pPr indent="0" marL="0">
              <a:buNone/>
            </a:pPr>
            <a:r>
              <a:rPr lang="en-US" sz="1300" b="1" dirty="0">
                <a:solidFill>
                  <a:srgbClr val="FFFFFF"/>
                </a:solidFill>
              </a:rPr>
              <a:t>FunctionStorage</a:t>
            </a:r>
            <a:endParaRPr lang="en-US" sz="1300" dirty="0"/>
          </a:p>
        </p:txBody>
      </p:sp>
      <p:sp>
        <p:nvSpPr>
          <p:cNvPr id="11" name="Text 9"/>
          <p:cNvSpPr/>
          <p:nvPr/>
        </p:nvSpPr>
        <p:spPr>
          <a:xfrm>
            <a:off x="3474720" y="2350008"/>
            <a:ext cx="5029200" cy="365760"/>
          </a:xfrm>
          <a:prstGeom prst="rect">
            <a:avLst/>
          </a:prstGeom>
          <a:noFill/>
          <a:ln/>
        </p:spPr>
        <p:txBody>
          <a:bodyPr wrap="square" rtlCol="0" anchor="ctr">
            <a:normAutofit/>
          </a:bodyPr>
          <a:lstStyle/>
          <a:p>
            <a:pPr indent="0" marL="0">
              <a:buNone/>
            </a:pPr>
            <a:r>
              <a:rPr lang="en-US" sz="1000" dirty="0">
                <a:solidFill>
                  <a:srgbClr val="FFFFFF"/>
                </a:solidFill>
              </a:rPr>
              <a:t>作为桥接层，连接 UI 事件与函数执行，管理 JSON 工作流</a:t>
            </a:r>
            <a:endParaRPr lang="en-US" sz="1000" dirty="0"/>
          </a:p>
        </p:txBody>
      </p:sp>
      <p:sp>
        <p:nvSpPr>
          <p:cNvPr id="12" name="Shape 10"/>
          <p:cNvSpPr/>
          <p:nvPr/>
        </p:nvSpPr>
        <p:spPr>
          <a:xfrm>
            <a:off x="914400" y="2926080"/>
            <a:ext cx="7315200" cy="594360"/>
          </a:xfrm>
          <a:prstGeom prst="rect">
            <a:avLst/>
          </a:prstGeom>
          <a:solidFill>
            <a:srgbClr val="1C7293"/>
          </a:solidFill>
          <a:ln w="6350">
            <a:solidFill>
              <a:srgbClr val="FFFFFF"/>
            </a:solidFill>
            <a:prstDash val="solid"/>
          </a:ln>
        </p:spPr>
      </p:sp>
      <p:sp>
        <p:nvSpPr>
          <p:cNvPr id="13" name="Text 11"/>
          <p:cNvSpPr/>
          <p:nvPr/>
        </p:nvSpPr>
        <p:spPr>
          <a:xfrm>
            <a:off x="1097280" y="3017520"/>
            <a:ext cx="2286000" cy="365760"/>
          </a:xfrm>
          <a:prstGeom prst="rect">
            <a:avLst/>
          </a:prstGeom>
          <a:noFill/>
          <a:ln/>
        </p:spPr>
        <p:txBody>
          <a:bodyPr wrap="square" rtlCol="0" anchor="ctr">
            <a:normAutofit/>
          </a:bodyPr>
          <a:lstStyle/>
          <a:p>
            <a:pPr indent="0" marL="0">
              <a:buNone/>
            </a:pPr>
            <a:r>
              <a:rPr lang="en-US" sz="1300" b="1" dirty="0">
                <a:solidFill>
                  <a:srgbClr val="FFFFFF"/>
                </a:solidFill>
              </a:rPr>
              <a:t>FunctionExecution</a:t>
            </a:r>
            <a:endParaRPr lang="en-US" sz="1300" dirty="0"/>
          </a:p>
        </p:txBody>
      </p:sp>
      <p:sp>
        <p:nvSpPr>
          <p:cNvPr id="14" name="Text 12"/>
          <p:cNvSpPr/>
          <p:nvPr/>
        </p:nvSpPr>
        <p:spPr>
          <a:xfrm>
            <a:off x="3474720" y="3035808"/>
            <a:ext cx="5029200" cy="365760"/>
          </a:xfrm>
          <a:prstGeom prst="rect">
            <a:avLst/>
          </a:prstGeom>
          <a:noFill/>
          <a:ln/>
        </p:spPr>
        <p:txBody>
          <a:bodyPr wrap="square" rtlCol="0" anchor="ctr">
            <a:normAutofit/>
          </a:bodyPr>
          <a:lstStyle/>
          <a:p>
            <a:pPr indent="0" marL="0">
              <a:buNone/>
            </a:pPr>
            <a:r>
              <a:rPr lang="en-US" sz="1000" dirty="0">
                <a:solidFill>
                  <a:srgbClr val="FFFFFF"/>
                </a:solidFill>
              </a:rPr>
              <a:t>提供底层函数注册与调用能力，是业务函数执行的基石</a:t>
            </a:r>
            <a:endParaRPr lang="en-US" sz="1000" dirty="0"/>
          </a:p>
        </p:txBody>
      </p:sp>
      <p:sp>
        <p:nvSpPr>
          <p:cNvPr id="15" name="Shape 13"/>
          <p:cNvSpPr/>
          <p:nvPr/>
        </p:nvSpPr>
        <p:spPr>
          <a:xfrm>
            <a:off x="914400" y="3611880"/>
            <a:ext cx="7315200" cy="594360"/>
          </a:xfrm>
          <a:prstGeom prst="rect">
            <a:avLst/>
          </a:prstGeom>
          <a:solidFill>
            <a:srgbClr val="065A82"/>
          </a:solidFill>
          <a:ln w="6350">
            <a:solidFill>
              <a:srgbClr val="FFFFFF"/>
            </a:solidFill>
            <a:prstDash val="solid"/>
          </a:ln>
        </p:spPr>
      </p:sp>
      <p:sp>
        <p:nvSpPr>
          <p:cNvPr id="16" name="Text 14"/>
          <p:cNvSpPr/>
          <p:nvPr/>
        </p:nvSpPr>
        <p:spPr>
          <a:xfrm>
            <a:off x="1097280" y="3703320"/>
            <a:ext cx="2286000" cy="365760"/>
          </a:xfrm>
          <a:prstGeom prst="rect">
            <a:avLst/>
          </a:prstGeom>
          <a:noFill/>
          <a:ln/>
        </p:spPr>
        <p:txBody>
          <a:bodyPr wrap="square" rtlCol="0" anchor="ctr">
            <a:normAutofit/>
          </a:bodyPr>
          <a:lstStyle/>
          <a:p>
            <a:pPr indent="0" marL="0">
              <a:buNone/>
            </a:pPr>
            <a:r>
              <a:rPr lang="en-US" sz="1300" b="1" dirty="0">
                <a:solidFill>
                  <a:srgbClr val="FFFFFF"/>
                </a:solidFill>
              </a:rPr>
              <a:t>WorkFlowMethod</a:t>
            </a:r>
            <a:endParaRPr lang="en-US" sz="1300" dirty="0"/>
          </a:p>
        </p:txBody>
      </p:sp>
      <p:sp>
        <p:nvSpPr>
          <p:cNvPr id="17" name="Text 15"/>
          <p:cNvSpPr/>
          <p:nvPr/>
        </p:nvSpPr>
        <p:spPr>
          <a:xfrm>
            <a:off x="3474720" y="3721608"/>
            <a:ext cx="5029200" cy="365760"/>
          </a:xfrm>
          <a:prstGeom prst="rect">
            <a:avLst/>
          </a:prstGeom>
          <a:noFill/>
          <a:ln/>
        </p:spPr>
        <p:txBody>
          <a:bodyPr wrap="square" rtlCol="0" anchor="ctr">
            <a:normAutofit/>
          </a:bodyPr>
          <a:lstStyle/>
          <a:p>
            <a:pPr indent="0" marL="0">
              <a:buNone/>
            </a:pPr>
            <a:r>
              <a:rPr lang="en-US" sz="1000" dirty="0">
                <a:solidFill>
                  <a:srgbClr val="FFFFFF"/>
                </a:solidFill>
              </a:rPr>
              <a:t>作为核心引擎，负责工作流编排、管线执行、运行时动态更新和 LLM 驱动的循环决策</a:t>
            </a:r>
            <a:endParaRPr lang="en-US" sz="1000" dirty="0"/>
          </a:p>
        </p:txBody>
      </p:sp>
      <p:sp>
        <p:nvSpPr>
          <p:cNvPr id="18" name="Text 16"/>
          <p:cNvSpPr/>
          <p:nvPr/>
        </p:nvSpPr>
        <p:spPr>
          <a:xfrm>
            <a:off x="731520" y="4389120"/>
            <a:ext cx="7680960" cy="457200"/>
          </a:xfrm>
          <a:prstGeom prst="rect">
            <a:avLst/>
          </a:prstGeom>
          <a:noFill/>
          <a:ln/>
        </p:spPr>
        <p:txBody>
          <a:bodyPr wrap="square" rtlCol="0" anchor="t"/>
          <a:lstStyle/>
          <a:p>
            <a:pPr algn="l" indent="0" marL="0">
              <a:lnSpc>
                <a:spcPct val="115000"/>
              </a:lnSpc>
              <a:buNone/>
            </a:pPr>
            <a:r>
              <a:rPr lang="en-US" sz="1100" dirty="0">
                <a:solidFill>
                  <a:srgbClr val="E8F4F8"/>
                </a:solidFill>
                <a:latin typeface="Calibri" pitchFamily="34" charset="0"/>
                <a:ea typeface="Calibri" pitchFamily="34" charset="-122"/>
                <a:cs typeface="Calibri" pitchFamily="34" charset="-120"/>
              </a:rPr>
              <a:t>各层通过 UIConnector、IFunctionRegistry、IWorkflowRegistry、WorkflowBridge 等机制紧密协作，实现配置即工作流、界面即交互的开发体验。</a:t>
            </a:r>
            <a:endParaRPr lang="en-US" sz="1100" dirty="0"/>
          </a:p>
        </p:txBody>
      </p:sp>
      <p:sp>
        <p:nvSpPr>
          <p:cNvPr id="1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A896"/>
          </a:solidFill>
          <a:ln/>
        </p:spPr>
      </p:sp>
      <p:sp>
        <p:nvSpPr>
          <p:cNvPr id="3" name="Shape 1"/>
          <p:cNvSpPr/>
          <p:nvPr/>
        </p:nvSpPr>
        <p:spPr>
          <a:xfrm>
            <a:off x="0" y="5033772"/>
            <a:ext cx="9144000" cy="109728"/>
          </a:xfrm>
          <a:prstGeom prst="rect">
            <a:avLst/>
          </a:prstGeom>
          <a:solidFill>
            <a:srgbClr val="00A896"/>
          </a:solidFill>
          <a:ln/>
        </p:spPr>
      </p:sp>
      <p:sp>
        <p:nvSpPr>
          <p:cNvPr id="4" name="Text 2"/>
          <p:cNvSpPr/>
          <p:nvPr/>
        </p:nvSpPr>
        <p:spPr>
          <a:xfrm>
            <a:off x="457200" y="1828800"/>
            <a:ext cx="8229600" cy="914400"/>
          </a:xfrm>
          <a:prstGeom prst="rect">
            <a:avLst/>
          </a:prstGeom>
          <a:noFill/>
          <a:ln/>
        </p:spPr>
        <p:txBody>
          <a:bodyPr wrap="square" rtlCol="0" anchor="ctr">
            <a:normAutofit/>
          </a:bodyPr>
          <a:lstStyle/>
          <a:p>
            <a:pPr algn="ctr" indent="0" marL="0">
              <a:buNone/>
            </a:pPr>
            <a:r>
              <a:rPr lang="en-US" sz="4400" b="1" spc="250" kern="0" dirty="0">
                <a:solidFill>
                  <a:srgbClr val="FFFFFF"/>
                </a:solidFill>
                <a:latin typeface="Georgia" pitchFamily="34" charset="0"/>
                <a:ea typeface="Georgia" pitchFamily="34" charset="-122"/>
                <a:cs typeface="Georgia" pitchFamily="34" charset="-120"/>
              </a:rPr>
              <a:t>感谢聆听</a:t>
            </a:r>
            <a:endParaRPr lang="en-US" sz="4400" dirty="0"/>
          </a:p>
        </p:txBody>
      </p:sp>
      <p:sp>
        <p:nvSpPr>
          <p:cNvPr id="5" name="Text 3"/>
          <p:cNvSpPr/>
          <p:nvPr/>
        </p:nvSpPr>
        <p:spPr>
          <a:xfrm>
            <a:off x="457200" y="2926080"/>
            <a:ext cx="8229600" cy="457200"/>
          </a:xfrm>
          <a:prstGeom prst="rect">
            <a:avLst/>
          </a:prstGeom>
          <a:noFill/>
          <a:ln/>
        </p:spPr>
        <p:txBody>
          <a:bodyPr wrap="square" rtlCol="0" anchor="ctr">
            <a:normAutofit/>
          </a:bodyPr>
          <a:lstStyle/>
          <a:p>
            <a:pPr algn="ctr" indent="0" marL="0">
              <a:buNone/>
            </a:pPr>
            <a:r>
              <a:rPr lang="en-US" sz="2000" i="1" dirty="0">
                <a:solidFill>
                  <a:srgbClr val="E8F4F8"/>
                </a:solidFill>
              </a:rPr>
              <a:t>Questions &amp; Discussion</a:t>
            </a:r>
            <a:endParaRPr lang="en-US" sz="2000" dirty="0"/>
          </a:p>
        </p:txBody>
      </p:sp>
      <p:sp>
        <p:nvSpPr>
          <p:cNvPr id="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2026-05-17T07:57:41Z</dcterms:created>
  <dcterms:modified xsi:type="dcterms:W3CDTF">2026-05-17T07:57:41Z</dcterms:modified>
</cp:coreProperties>
</file>